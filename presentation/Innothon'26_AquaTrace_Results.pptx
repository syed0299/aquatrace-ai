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7" r:id="rId6"/>
    <p:sldId id="260" r:id="rId7"/>
    <p:sldId id="273" r:id="rId8"/>
    <p:sldId id="262" r:id="rId9"/>
    <p:sldId id="269" r:id="rId10"/>
    <p:sldId id="274" r:id="rId65"/>
    <p:sldId id="278" r:id="rId69"/>
    <p:sldId id="275" r:id="rId66"/>
    <p:sldId id="276" r:id="rId67"/>
    <p:sldId id="277" r:id="rId68"/>
    <p:sldId id="264" r:id="rId11"/>
    <p:sldId id="266" r:id="rId12"/>
  </p:sldIdLst>
  <p:sldSz cx="18288000" cy="10287000"/>
  <p:notesSz cx="6858000" cy="9144000"/>
  <p:embeddedFontLst>
    <p:embeddedFont>
      <p:font typeface="Barlow Condensed Bold" panose="020B0604020202020204" charset="0"/>
      <p:regular r:id="rId14"/>
      <p:bold r:id="rId15"/>
      <p:italic r:id="rId16"/>
      <p:boldItalic r:id="rId17"/>
    </p:embeddedFont>
    <p:embeddedFont>
      <p:font typeface="Barlow Condensed Semi-Bold" panose="020B0604020202020204" charset="0"/>
      <p:regular r:id="rId18"/>
      <p:bold r:id="rId19"/>
      <p:italic r:id="rId20"/>
      <p:boldItalic r:id="rId21"/>
    </p:embeddedFont>
    <p:embeddedFont>
      <p:font typeface="Canva Sans Medium" panose="020B0604020202020204" charset="0"/>
      <p:regular r:id="rId22"/>
      <p:bold r:id="rId23"/>
      <p:italic r:id="rId24"/>
      <p:boldItalic r:id="rId25"/>
    </p:embeddedFont>
    <p:embeddedFont>
      <p:font typeface="League Spartan" panose="020B0604020202020204" charset="0"/>
      <p:regular r:id="rId26"/>
      <p:bold r:id="rId27"/>
      <p:italic r:id="rId28"/>
      <p:boldItalic r:id="rId29"/>
    </p:embeddedFont>
    <p:embeddedFont>
      <p:font typeface="Montaser Arabic" panose="020B0604020202020204" charset="0"/>
      <p:regular r:id="rId30"/>
      <p:bold r:id="rId31"/>
      <p:italic r:id="rId32"/>
      <p:boldItalic r:id="rId33"/>
    </p:embeddedFont>
    <p:embeddedFont>
      <p:font typeface="Montaser Arabic Bold" panose="020B0604020202020204" charset="0"/>
      <p:regular r:id="rId34"/>
      <p:bold r:id="rId35"/>
      <p:italic r:id="rId36"/>
      <p:boldItalic r:id="rId37"/>
    </p:embeddedFont>
    <p:embeddedFont>
      <p:font typeface="Montserrat Bold" panose="020B0604020202020204" charset="0"/>
      <p:regular r:id="rId38"/>
      <p:bold r:id="rId39"/>
    </p:embeddedFont>
    <p:embeddedFont>
      <p:font typeface="Montserrat Semi-Bold" panose="020B0604020202020204"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Bold" panose="02000000000000000000" charset="0"/>
      <p:regular r:id="rId48"/>
      <p:bold r:id="rId49"/>
      <p:italic r:id="rId50"/>
      <p:boldItalic r:id="rId51"/>
    </p:embeddedFont>
    <p:embeddedFont>
      <p:font typeface="Roboto Condensed" panose="02000000000000000000" pitchFamily="2" charset="0"/>
      <p:regular r:id="rId52"/>
      <p:bold r:id="rId53"/>
      <p:italic r:id="rId54"/>
      <p:boldItalic r:id="rId55"/>
    </p:embeddedFont>
    <p:embeddedFont>
      <p:font typeface="Roboto Condensed Bold" panose="02000000000000000000"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BAEA"/>
    <a:srgbClr val="8064A2"/>
    <a:srgbClr val="9781B3"/>
    <a:srgbClr val="262626"/>
    <a:srgbClr val="FFFFFF"/>
    <a:srgbClr val="D4D4D6"/>
    <a:srgbClr val="CFD0D7"/>
    <a:srgbClr val="D5D6D7"/>
    <a:srgbClr val="D6D6D7"/>
    <a:srgbClr val="D1D2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56E1D3-1A07-442E-8F37-448CF4FBB71F}" v="49" dt="2026-09-14T15:27:03.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45" autoAdjust="0"/>
  </p:normalViewPr>
  <p:slideViewPr>
    <p:cSldViewPr>
      <p:cViewPr varScale="1">
        <p:scale>
          <a:sx n="41" d="100"/>
          <a:sy n="41" d="100"/>
        </p:scale>
        <p:origin x="84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0" d="100"/>
          <a:sy n="50" d="100"/>
        </p:scale>
        <p:origin x="2708" y="4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font" Target="fonts/font17.fntdata"/><Relationship Id="rId31" Type="http://schemas.openxmlformats.org/officeDocument/2006/relationships/font" Target="fonts/font18.fntdata"/><Relationship Id="rId32" Type="http://schemas.openxmlformats.org/officeDocument/2006/relationships/font" Target="fonts/font19.fntdata"/><Relationship Id="rId33" Type="http://schemas.openxmlformats.org/officeDocument/2006/relationships/font" Target="fonts/font20.fntdata"/><Relationship Id="rId34" Type="http://schemas.openxmlformats.org/officeDocument/2006/relationships/font" Target="fonts/font21.fntdata"/><Relationship Id="rId35" Type="http://schemas.openxmlformats.org/officeDocument/2006/relationships/font" Target="fonts/font22.fntdata"/><Relationship Id="rId36" Type="http://schemas.openxmlformats.org/officeDocument/2006/relationships/font" Target="fonts/font23.fntdata"/><Relationship Id="rId37" Type="http://schemas.openxmlformats.org/officeDocument/2006/relationships/font" Target="fonts/font24.fntdata"/><Relationship Id="rId38" Type="http://schemas.openxmlformats.org/officeDocument/2006/relationships/font" Target="fonts/font25.fntdata"/><Relationship Id="rId39" Type="http://schemas.openxmlformats.org/officeDocument/2006/relationships/font" Target="fonts/font26.fntdata"/><Relationship Id="rId40" Type="http://schemas.openxmlformats.org/officeDocument/2006/relationships/font" Target="fonts/font27.fntdata"/><Relationship Id="rId41" Type="http://schemas.openxmlformats.org/officeDocument/2006/relationships/font" Target="fonts/font28.fntdata"/><Relationship Id="rId42" Type="http://schemas.openxmlformats.org/officeDocument/2006/relationships/font" Target="fonts/font29.fntdata"/><Relationship Id="rId43" Type="http://schemas.openxmlformats.org/officeDocument/2006/relationships/font" Target="fonts/font30.fntdata"/><Relationship Id="rId44" Type="http://schemas.openxmlformats.org/officeDocument/2006/relationships/font" Target="fonts/font31.fntdata"/><Relationship Id="rId45" Type="http://schemas.openxmlformats.org/officeDocument/2006/relationships/font" Target="fonts/font32.fntdata"/><Relationship Id="rId46" Type="http://schemas.openxmlformats.org/officeDocument/2006/relationships/font" Target="fonts/font33.fntdata"/><Relationship Id="rId47" Type="http://schemas.openxmlformats.org/officeDocument/2006/relationships/font" Target="fonts/font34.fntdata"/><Relationship Id="rId48" Type="http://schemas.openxmlformats.org/officeDocument/2006/relationships/font" Target="fonts/font35.fntdata"/><Relationship Id="rId49" Type="http://schemas.openxmlformats.org/officeDocument/2006/relationships/font" Target="fonts/font36.fntdata"/><Relationship Id="rId50" Type="http://schemas.openxmlformats.org/officeDocument/2006/relationships/font" Target="fonts/font37.fntdata"/><Relationship Id="rId51" Type="http://schemas.openxmlformats.org/officeDocument/2006/relationships/font" Target="fonts/font38.fntdata"/><Relationship Id="rId52" Type="http://schemas.openxmlformats.org/officeDocument/2006/relationships/font" Target="fonts/font39.fntdata"/><Relationship Id="rId53" Type="http://schemas.openxmlformats.org/officeDocument/2006/relationships/font" Target="fonts/font40.fntdata"/><Relationship Id="rId54" Type="http://schemas.openxmlformats.org/officeDocument/2006/relationships/font" Target="fonts/font41.fntdata"/><Relationship Id="rId55" Type="http://schemas.openxmlformats.org/officeDocument/2006/relationships/font" Target="fonts/font42.fntdata"/><Relationship Id="rId56" Type="http://schemas.openxmlformats.org/officeDocument/2006/relationships/font" Target="fonts/font43.fntdata"/><Relationship Id="rId57" Type="http://schemas.openxmlformats.org/officeDocument/2006/relationships/font" Target="fonts/font44.fntdata"/><Relationship Id="rId58" Type="http://schemas.openxmlformats.org/officeDocument/2006/relationships/font" Target="fonts/font45.fntdata"/><Relationship Id="rId59" Type="http://schemas.openxmlformats.org/officeDocument/2006/relationships/font" Target="fonts/font46.fntdata"/><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5/10/relationships/revisionInfo" Target="revisionInfo.xml"/><Relationship Id="rId65" Type="http://schemas.openxmlformats.org/officeDocument/2006/relationships/slide" Target="slides/slide10.xml"/><Relationship Id="rId66" Type="http://schemas.openxmlformats.org/officeDocument/2006/relationships/slide" Target="slides/slide12.xml"/><Relationship Id="rId67" Type="http://schemas.openxmlformats.org/officeDocument/2006/relationships/slide" Target="slides/slide13.xml"/><Relationship Id="rId68" Type="http://schemas.openxmlformats.org/officeDocument/2006/relationships/slide" Target="slides/slide14.xml"/><Relationship Id="rId69"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col"/>
        <c:grouping val="clustered"/>
        <c:ser>
          <c:idx val="0"/>
          <c:order val="0"/>
          <c:tx>
            <c:strRef>
              <c:f>Sheet1!$B$1</c:f>
              <c:strCache>
                <c:ptCount val="1"/>
                <c:pt idx="0">
                  <c:v>First model</c:v>
                </c:pt>
              </c:strCache>
            </c:strRef>
          </c:tx>
          <c:spPr>
            <a:solidFill>
              <a:srgbClr val="9CA3AF"/>
            </a:solidFill>
            <a:ln>
              <a:noFill/>
            </a:ln>
          </c:spPr>
          <c:cat>
            <c:strRef>
              <c:f>Sheet1!$A$2:$A$5</c:f>
              <c:strCache>
                <c:ptCount val="4"/>
                <c:pt idx="0">
                  <c:v>Accuracy</c:v>
                </c:pt>
                <c:pt idx="1">
                  <c:v>Floating F1</c:v>
                </c:pt>
                <c:pt idx="2">
                  <c:v>Debris F1</c:v>
                </c:pt>
                <c:pt idx="3">
                  <c:v>Macro F1</c:v>
                </c:pt>
              </c:strCache>
            </c:strRef>
          </c:cat>
          <c:val>
            <c:numRef>
              <c:f>Sheet1!$B$2:$B$5</c:f>
              <c:numCache>
                <c:formatCode>General</c:formatCode>
                <c:ptCount val="4"/>
                <c:pt idx="0">
                  <c:v>79.5</c:v>
                </c:pt>
                <c:pt idx="1">
                  <c:v>89.1</c:v>
                </c:pt>
                <c:pt idx="2">
                  <c:v>62.0</c:v>
                </c:pt>
                <c:pt idx="3">
                  <c:v>57.6</c:v>
                </c:pt>
              </c:numCache>
            </c:numRef>
          </c:val>
        </c:ser>
        <c:ser>
          <c:idx val="1"/>
          <c:order val="1"/>
          <c:tx>
            <c:strRef>
              <c:f>Sheet1!$C$1</c:f>
              <c:strCache>
                <c:ptCount val="1"/>
                <c:pt idx="0">
                  <c:v>Final model</c:v>
                </c:pt>
              </c:strCache>
            </c:strRef>
          </c:tx>
          <c:spPr>
            <a:solidFill>
              <a:srgbClr val="00C2E4"/>
            </a:solidFill>
            <a:ln>
              <a:noFill/>
            </a:ln>
          </c:spPr>
          <c:cat>
            <c:strRef>
              <c:f>Sheet1!$A$2:$A$5</c:f>
              <c:strCache>
                <c:ptCount val="4"/>
                <c:pt idx="0">
                  <c:v>Accuracy</c:v>
                </c:pt>
                <c:pt idx="1">
                  <c:v>Floating F1</c:v>
                </c:pt>
                <c:pt idx="2">
                  <c:v>Debris F1</c:v>
                </c:pt>
                <c:pt idx="3">
                  <c:v>Macro F1</c:v>
                </c:pt>
              </c:strCache>
            </c:strRef>
          </c:cat>
          <c:val>
            <c:numRef>
              <c:f>Sheet1!$C$2:$C$5</c:f>
              <c:numCache>
                <c:formatCode>General</c:formatCode>
                <c:ptCount val="4"/>
                <c:pt idx="0">
                  <c:v>94.1</c:v>
                </c:pt>
                <c:pt idx="1">
                  <c:v>93.2</c:v>
                </c:pt>
                <c:pt idx="2">
                  <c:v>78.1</c:v>
                </c:pt>
                <c:pt idx="3">
                  <c:v>77.6</c:v>
                </c:pt>
              </c:numCache>
            </c:numRef>
          </c:val>
        </c:ser>
        <c:dLbls>
          <c:numFmt formatCode="0.0" sourceLinked="0"/>
          <c:txPr>
            <a:bodyPr/>
            <a:lstStyle/>
            <a:p>
              <a:pPr>
                <a:defRPr sz="1500" b="1">
                  <a:solidFill>
                    <a:srgbClr val="FFFFFF"/>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500">
                <a:solidFill>
                  <a:srgbClr val="FFFFFF"/>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6B7280"/>
              </a:solidFill>
            </a:ln>
          </c:spPr>
        </c:majorGridlines>
        <c:majorTickMark val="out"/>
        <c:minorTickMark val="none"/>
        <c:tickLblPos val="nextTo"/>
        <c:spPr>
          <a:ln>
            <a:noFill/>
          </a:ln>
        </c:spPr>
        <c:txPr>
          <a:bodyPr/>
          <a:lstStyle/>
          <a:p>
            <a:pPr>
              <a:defRPr sz="1300">
                <a:solidFill>
                  <a:srgbClr val="DDE3EE"/>
                </a:solidFill>
              </a:defRPr>
            </a:pPr>
          </a:p>
        </c:txPr>
        <c:crossAx val="-2068027336"/>
        <c:crosses val="autoZero"/>
      </c:valAx>
      <c:spPr>
        <a:noFill/>
        <a:ln>
          <a:noFill/>
        </a:ln>
      </c:spPr>
    </c:plotArea>
    <c:legend>
      <c:legendPos val="t"/>
      <c:overlay val="0"/>
      <c:txPr>
        <a:bodyPr/>
        <a:lstStyle/>
        <a:p>
          <a:pPr>
            <a:defRPr sz="1500">
              <a:solidFill>
                <a:srgbClr val="FFFFFF"/>
              </a:solidFill>
            </a:defRPr>
          </a:pPr>
        </a:p>
      </c:txPr>
    </c:legend>
    <c:dispBlanksAs val="gap"/>
  </c:chart>
  <c:spPr>
    <a:noFill/>
    <a:ln>
      <a:noFill/>
    </a:ln>
  </c:spPr>
  <c:txPr>
    <a:bodyPr/>
    <a:lstStyle/>
    <a:p>
      <a:pPr>
        <a:defRPr sz="1500">
          <a:solidFill>
            <a:srgbClr val="FFFFFF"/>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col"/>
        <c:grouping val="clustered"/>
        <c:ser>
          <c:idx val="0"/>
          <c:order val="0"/>
          <c:tx>
            <c:strRef>
              <c:f>Sheet1!$B$1</c:f>
              <c:strCache>
                <c:ptCount val="1"/>
                <c:pt idx="0">
                  <c:v>+24 h</c:v>
                </c:pt>
              </c:strCache>
            </c:strRef>
          </c:tx>
          <c:spPr>
            <a:solidFill>
              <a:srgbClr val="9CA3AF"/>
            </a:solidFill>
            <a:ln>
              <a:noFill/>
            </a:ln>
          </c:spPr>
          <c:cat>
            <c:strRef>
              <c:f>Sheet1!$A$2:$A$4</c:f>
              <c:strCache>
                <c:ptCount val="3"/>
                <c:pt idx="0">
                  <c:v>Snapshot (stays put)</c:v>
                </c:pt>
                <c:pt idx="1">
                  <c:v>Currents only</c:v>
                </c:pt>
                <c:pt idx="2">
                  <c:v>AquaTrace: currents + wind</c:v>
                </c:pt>
              </c:strCache>
            </c:strRef>
          </c:cat>
          <c:val>
            <c:numRef>
              <c:f>Sheet1!$B$2:$B$4</c:f>
              <c:numCache>
                <c:formatCode>General</c:formatCode>
                <c:ptCount val="3"/>
                <c:pt idx="0">
                  <c:v>37.1</c:v>
                </c:pt>
                <c:pt idx="1">
                  <c:v>19.4</c:v>
                </c:pt>
                <c:pt idx="2">
                  <c:v>16.6</c:v>
                </c:pt>
              </c:numCache>
            </c:numRef>
          </c:val>
        </c:ser>
        <c:ser>
          <c:idx val="1"/>
          <c:order val="1"/>
          <c:tx>
            <c:strRef>
              <c:f>Sheet1!$C$1</c:f>
              <c:strCache>
                <c:ptCount val="1"/>
                <c:pt idx="0">
                  <c:v>+48 h</c:v>
                </c:pt>
              </c:strCache>
            </c:strRef>
          </c:tx>
          <c:spPr>
            <a:solidFill>
              <a:srgbClr val="00C2E4"/>
            </a:solidFill>
            <a:ln>
              <a:noFill/>
            </a:ln>
          </c:spPr>
          <c:cat>
            <c:strRef>
              <c:f>Sheet1!$A$2:$A$4</c:f>
              <c:strCache>
                <c:ptCount val="3"/>
                <c:pt idx="0">
                  <c:v>Snapshot (stays put)</c:v>
                </c:pt>
                <c:pt idx="1">
                  <c:v>Currents only</c:v>
                </c:pt>
                <c:pt idx="2">
                  <c:v>AquaTrace: currents + wind</c:v>
                </c:pt>
              </c:strCache>
            </c:strRef>
          </c:cat>
          <c:val>
            <c:numRef>
              <c:f>Sheet1!$C$2:$C$4</c:f>
              <c:numCache>
                <c:formatCode>General</c:formatCode>
                <c:ptCount val="3"/>
                <c:pt idx="0">
                  <c:v>73.8</c:v>
                </c:pt>
                <c:pt idx="1">
                  <c:v>37.0</c:v>
                </c:pt>
                <c:pt idx="2">
                  <c:v>30.4</c:v>
                </c:pt>
              </c:numCache>
            </c:numRef>
          </c:val>
        </c:ser>
        <c:dLbls>
          <c:numFmt formatCode="0.0" sourceLinked="0"/>
          <c:txPr>
            <a:bodyPr/>
            <a:lstStyle/>
            <a:p>
              <a:pPr>
                <a:defRPr sz="1500" b="1">
                  <a:solidFill>
                    <a:srgbClr val="FFFFFF"/>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500">
                <a:solidFill>
                  <a:srgbClr val="FFFFFF"/>
                </a:solidFill>
              </a:defRPr>
            </a:pPr>
          </a:p>
        </c:txPr>
        <c:crossAx val="-2113994440"/>
        <c:crosses val="autoZero"/>
        <c:auto val="1"/>
        <c:lblAlgn val="ctr"/>
        <c:lblOffset val="100"/>
        <c:noMultiLvlLbl val="0"/>
      </c:catAx>
      <c:valAx>
        <c:axId val="-2113994440"/>
        <c:scaling>
          <c:max val="95.0"/>
          <c:min val="0.0"/>
        </c:scaling>
        <c:delete val="0"/>
        <c:axPos val="l"/>
        <c:majorGridlines>
          <c:spPr>
            <a:ln w="9525">
              <a:solidFill>
                <a:srgbClr val="6B7280"/>
              </a:solidFill>
            </a:ln>
          </c:spPr>
        </c:majorGridlines>
        <c:majorTickMark val="out"/>
        <c:minorTickMark val="none"/>
        <c:tickLblPos val="nextTo"/>
        <c:spPr>
          <a:ln>
            <a:noFill/>
          </a:ln>
        </c:spPr>
        <c:txPr>
          <a:bodyPr/>
          <a:lstStyle/>
          <a:p>
            <a:pPr>
              <a:defRPr sz="1300">
                <a:solidFill>
                  <a:srgbClr val="DDE3EE"/>
                </a:solidFill>
              </a:defRPr>
            </a:pPr>
          </a:p>
        </c:txPr>
        <c:crossAx val="-2068027336"/>
        <c:crosses val="autoZero"/>
      </c:valAx>
      <c:spPr>
        <a:noFill/>
        <a:ln>
          <a:noFill/>
        </a:ln>
      </c:spPr>
    </c:plotArea>
    <c:legend>
      <c:legendPos val="t"/>
      <c:overlay val="0"/>
      <c:txPr>
        <a:bodyPr/>
        <a:lstStyle/>
        <a:p>
          <a:pPr>
            <a:defRPr sz="1500">
              <a:solidFill>
                <a:srgbClr val="FFFFFF"/>
              </a:solidFill>
            </a:defRPr>
          </a:pPr>
        </a:p>
      </c:txPr>
    </c:legend>
    <c:dispBlanksAs val="gap"/>
  </c:chart>
  <c:spPr>
    <a:noFill/>
    <a:ln>
      <a:noFill/>
    </a:ln>
  </c:spPr>
  <c:txPr>
    <a:bodyPr/>
    <a:lstStyle/>
    <a:p>
      <a:pPr>
        <a:defRPr sz="1500">
          <a:solidFill>
            <a:srgbClr val="FFFFFF"/>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62EF2-9D01-F344-9CA6-5641393F900F}"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2DC5FF-5EA7-E847-829B-148696D80AF8}" type="slidenum">
              <a:rPr lang="en-US" smtClean="0"/>
              <a:t>‹#›</a:t>
            </a:fld>
            <a:endParaRPr lang="en-US"/>
          </a:p>
        </p:txBody>
      </p:sp>
    </p:spTree>
    <p:extLst>
      <p:ext uri="{BB962C8B-B14F-4D97-AF65-F5344CB8AC3E}">
        <p14:creationId xmlns:p14="http://schemas.microsoft.com/office/powerpoint/2010/main" val="3423440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2DC5FF-5EA7-E847-829B-148696D80AF8}" type="slidenum">
              <a:rPr lang="en-US" smtClean="0"/>
              <a:t>2</a:t>
            </a:fld>
            <a:endParaRPr lang="en-US"/>
          </a:p>
        </p:txBody>
      </p:sp>
    </p:spTree>
    <p:extLst>
      <p:ext uri="{BB962C8B-B14F-4D97-AF65-F5344CB8AC3E}">
        <p14:creationId xmlns:p14="http://schemas.microsoft.com/office/powerpoint/2010/main" val="2029187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2DC5FF-5EA7-E847-829B-148696D80AF8}" type="slidenum">
              <a:rPr lang="en-US" smtClean="0"/>
              <a:t>3</a:t>
            </a:fld>
            <a:endParaRPr lang="en-US"/>
          </a:p>
        </p:txBody>
      </p:sp>
    </p:spTree>
    <p:extLst>
      <p:ext uri="{BB962C8B-B14F-4D97-AF65-F5344CB8AC3E}">
        <p14:creationId xmlns:p14="http://schemas.microsoft.com/office/powerpoint/2010/main" val="2875339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2DC5FF-5EA7-E847-829B-148696D80AF8}" type="slidenum">
              <a:rPr lang="en-US" smtClean="0"/>
              <a:t>8</a:t>
            </a:fld>
            <a:endParaRPr lang="en-US"/>
          </a:p>
        </p:txBody>
      </p:sp>
    </p:spTree>
    <p:extLst>
      <p:ext uri="{BB962C8B-B14F-4D97-AF65-F5344CB8AC3E}">
        <p14:creationId xmlns:p14="http://schemas.microsoft.com/office/powerpoint/2010/main" val="1242475972"/>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is tested on MARIDA, the public benchmark for marine debris in Sentinel-2 imagery, on pixels it never saw. 94.1% overall accuracy, F1 0.93 for floating material and 0.78 for debris itself. Most pixels are water, so we report F1, not just accuracy. Two things made the difference: texture features, and two expert models. Extra Trees decides whether a pixel is floating material; gradient boosting is better at telling water types, waves and wakes apart, so it names everything else. Every choice was made on the validation split before the test split was scored. MARIDA scenes are not from India; local ground truth is Phase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just build a forecast, we measured it. We tuned the model on January 2025 buoys and then tested it on February, which it never saw: 87 cases where we started the model at a real NOAA buoy's position and compared the forecast with where the buoy actually went. Median error: 17 km after one day, 30 km after two. Assuming debris stays where the satellite saw it is off by 74 km, so we are 59% better. Adding wind to currents cut the error from 37 to 30 km, which proves the fusion idea on our USP slide. And we checked our uncertainty cone: the real buoy ended up inside the 48-hour cone 86% of the time. Before our fix it was only 5%. So when the map says search here, it means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jury said live debris tracking is impossible, and a live video of every bottle is. That is not what we claim. NASA's PACE passes over the Bay once a day and its near-real-time data is online about 3 hours later. When the sky is clear we detect likely floating-debris patches. Then the drift model carries each one forward, so the map shows where it most likely is now, even under clouds (this pass was 95% cloudy), and where it will be in 48 hours. Oil-spill forecasting and sargassum outlooks use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features move us from a map to a decision. First, source tracking: we run the same physics backwards. This patch traces back to the Hooghly, the Ganga's mouth, which tells authorities where to act upstream. Second, the cleanup route: the boat is sent to where each patch will be when it arrives, because debris keeps moving. Here the patches move up to 18 km before the boat gets there. Along the bottom is what makes AquaTrace new.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jury asked how a satellite can see plastic. The honest answer: it can't see a bottle. Sentinel-2 pixels are 20 metres, PACE pixels about a kilometre. What it can see is a patch or line of floating material changing the light. Water absorbs near-infrared light, so the sea looks dark in infrared; anything floating on it reflects infrared back. The shape of that reflection is a fingerprint: algae jumps at the red edge because of chlorophyll, debris is flat and bright. Left: the real 20 m pixels of one of our hotspots off Visakhapatnam; the clear map in our app is only a background map, and the dots are our forecast particles. Middle: our hotspot follows the debris fingerprint and our Hooghly patch follows the vegetation one. Right: the proof that the AI reads these fingerprints correctly, on a scene it never saw: it found all 20 debris pixels that experts marked, with no false alarms. That is why we always say potential debris, with a confidence, and why ground truth from boats and drones is Phase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image" Target="../media/image24.png"/><Relationship Id="rId22" Type="http://schemas.openxmlformats.org/officeDocument/2006/relationships/image" Target="../media/image25.png"/><Relationship Id="rId23" Type="http://schemas.openxmlformats.org/officeDocument/2006/relationships/image" Target="../media/image26.png"/><Relationship Id="rId24" Type="http://schemas.openxmlformats.org/officeDocument/2006/relationships/image" Target="../media/image27.png"/><Relationship Id="rId25" Type="http://schemas.openxmlformats.org/officeDocument/2006/relationships/image" Target="../media/image28.png"/><Relationship Id="rId26" Type="http://schemas.openxmlformats.org/officeDocument/2006/relationships/image" Target="../media/image29.png"/><Relationship Id="rId27" Type="http://schemas.openxmlformats.org/officeDocument/2006/relationships/image" Target="../media/image30.png"/><Relationship Id="rId28"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 Id="rId13" Type="http://schemas.openxmlformats.org/officeDocument/2006/relationships/image" Target="../media/image40.png"/><Relationship Id="rId14" Type="http://schemas.openxmlformats.org/officeDocument/2006/relationships/image" Target="../media/image41.png"/><Relationship Id="rId15" Type="http://schemas.openxmlformats.org/officeDocument/2006/relationships/image" Target="../media/image42.png"/><Relationship Id="rId16" Type="http://schemas.openxmlformats.org/officeDocument/2006/relationships/image" Target="../media/image43.png"/><Relationship Id="rId17" Type="http://schemas.openxmlformats.org/officeDocument/2006/relationships/image" Target="../media/image44.png"/><Relationship Id="rId18" Type="http://schemas.openxmlformats.org/officeDocument/2006/relationships/image" Target="../media/image45.png"/><Relationship Id="rId19" Type="http://schemas.openxmlformats.org/officeDocument/2006/relationships/image" Target="../media/image46.png"/><Relationship Id="rId20" Type="http://schemas.openxmlformats.org/officeDocument/2006/relationships/image" Target="../media/image47.png"/><Relationship Id="rId21" Type="http://schemas.openxmlformats.org/officeDocument/2006/relationships/image" Target="../media/image48.png"/><Relationship Id="rId22" Type="http://schemas.openxmlformats.org/officeDocument/2006/relationships/image" Target="../media/image49.png"/><Relationship Id="rId23" Type="http://schemas.openxmlformats.org/officeDocument/2006/relationships/image" Target="../media/image50.png"/><Relationship Id="rId24" Type="http://schemas.openxmlformats.org/officeDocument/2006/relationships/image" Target="../media/image51.png"/><Relationship Id="rId25" Type="http://schemas.openxmlformats.org/officeDocument/2006/relationships/image" Target="../media/image5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 Id="rId15" Type="http://schemas.openxmlformats.org/officeDocument/2006/relationships/image" Target="../media/image63.png"/><Relationship Id="rId16" Type="http://schemas.openxmlformats.org/officeDocument/2006/relationships/image" Target="../media/image64.png"/><Relationship Id="rId17" Type="http://schemas.openxmlformats.org/officeDocument/2006/relationships/image" Target="../media/image65.png"/><Relationship Id="rId18" Type="http://schemas.openxmlformats.org/officeDocument/2006/relationships/image" Target="../media/image66.png"/><Relationship Id="rId19" Type="http://schemas.openxmlformats.org/officeDocument/2006/relationships/image" Target="../media/image67.png"/><Relationship Id="rId20" Type="http://schemas.openxmlformats.org/officeDocument/2006/relationships/image" Target="../media/image68.png"/><Relationship Id="rId21" Type="http://schemas.openxmlformats.org/officeDocument/2006/relationships/image" Target="../media/image69.png"/><Relationship Id="rId22" Type="http://schemas.openxmlformats.org/officeDocument/2006/relationships/image" Target="../media/image70.png"/><Relationship Id="rId23" Type="http://schemas.openxmlformats.org/officeDocument/2006/relationships/image" Target="../media/image71.png"/><Relationship Id="rId24" Type="http://schemas.openxmlformats.org/officeDocument/2006/relationships/image" Target="../media/image7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4" Type="http://schemas.openxmlformats.org/officeDocument/2006/relationships/image" Target="../media/image82.png"/><Relationship Id="rId15" Type="http://schemas.openxmlformats.org/officeDocument/2006/relationships/image" Target="../media/image83.png"/><Relationship Id="rId16" Type="http://schemas.openxmlformats.org/officeDocument/2006/relationships/image" Target="../media/image84.png"/><Relationship Id="rId17" Type="http://schemas.openxmlformats.org/officeDocument/2006/relationships/image" Target="../media/image85.png"/><Relationship Id="rId18" Type="http://schemas.openxmlformats.org/officeDocument/2006/relationships/image" Target="../media/image86.png"/><Relationship Id="rId19" Type="http://schemas.openxmlformats.org/officeDocument/2006/relationships/image" Target="../media/image87.png"/><Relationship Id="rId20" Type="http://schemas.openxmlformats.org/officeDocument/2006/relationships/image" Target="../media/image88.png"/><Relationship Id="rId21" Type="http://schemas.openxmlformats.org/officeDocument/2006/relationships/image" Target="../media/image89.png"/><Relationship Id="rId22" Type="http://schemas.openxmlformats.org/officeDocument/2006/relationships/image" Target="../media/image90.png"/><Relationship Id="rId23" Type="http://schemas.openxmlformats.org/officeDocument/2006/relationships/image" Target="../media/image91.png"/><Relationship Id="rId24" Type="http://schemas.openxmlformats.org/officeDocument/2006/relationships/image" Target="../media/image9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 Id="rId12" Type="http://schemas.openxmlformats.org/officeDocument/2006/relationships/image" Target="../media/image100.png"/><Relationship Id="rId13" Type="http://schemas.openxmlformats.org/officeDocument/2006/relationships/image" Target="../media/image101.png"/><Relationship Id="rId14" Type="http://schemas.openxmlformats.org/officeDocument/2006/relationships/image" Target="../media/image102.png"/><Relationship Id="rId15" Type="http://schemas.openxmlformats.org/officeDocument/2006/relationships/image" Target="../media/image103.png"/><Relationship Id="rId16" Type="http://schemas.openxmlformats.org/officeDocument/2006/relationships/image" Target="../media/image104.png"/><Relationship Id="rId17" Type="http://schemas.openxmlformats.org/officeDocument/2006/relationships/image" Target="../media/image105.png"/><Relationship Id="rId18" Type="http://schemas.openxmlformats.org/officeDocument/2006/relationships/image" Target="../media/image106.png"/><Relationship Id="rId19" Type="http://schemas.openxmlformats.org/officeDocument/2006/relationships/image" Target="../media/image107.png"/><Relationship Id="rId20" Type="http://schemas.openxmlformats.org/officeDocument/2006/relationships/image" Target="../media/image108.png"/><Relationship Id="rId21" Type="http://schemas.openxmlformats.org/officeDocument/2006/relationships/image" Target="../media/image109.png"/><Relationship Id="rId22" Type="http://schemas.openxmlformats.org/officeDocument/2006/relationships/image" Target="../media/image110.png"/><Relationship Id="rId23" Type="http://schemas.openxmlformats.org/officeDocument/2006/relationships/image" Target="../media/image111.png"/><Relationship Id="rId24" Type="http://schemas.openxmlformats.org/officeDocument/2006/relationships/image" Target="../media/image112.png"/><Relationship Id="rId25" Type="http://schemas.openxmlformats.org/officeDocument/2006/relationships/image" Target="../media/image113.png"/><Relationship Id="rId26" Type="http://schemas.openxmlformats.org/officeDocument/2006/relationships/image" Target="../media/image114.png"/><Relationship Id="rId27" Type="http://schemas.openxmlformats.org/officeDocument/2006/relationships/image" Target="../media/image115.png"/><Relationship Id="rId28" Type="http://schemas.openxmlformats.org/officeDocument/2006/relationships/image" Target="../media/image116.png"/><Relationship Id="rId29" Type="http://schemas.openxmlformats.org/officeDocument/2006/relationships/image" Target="../media/image117.png"/><Relationship Id="rId30" Type="http://schemas.openxmlformats.org/officeDocument/2006/relationships/image" Target="../media/image1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27.png"/><Relationship Id="rId15" Type="http://schemas.openxmlformats.org/officeDocument/2006/relationships/image" Target="../media/image128.png"/><Relationship Id="rId16" Type="http://schemas.openxmlformats.org/officeDocument/2006/relationships/image" Target="../media/image129.png"/><Relationship Id="rId17" Type="http://schemas.openxmlformats.org/officeDocument/2006/relationships/image" Target="../media/image1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 Id="rId10" Type="http://schemas.openxmlformats.org/officeDocument/2006/relationships/image" Target="../media/image136.png"/><Relationship Id="rId11" Type="http://schemas.openxmlformats.org/officeDocument/2006/relationships/image" Target="../media/image137.png"/><Relationship Id="rId12" Type="http://schemas.openxmlformats.org/officeDocument/2006/relationships/image" Target="../media/image138.png"/><Relationship Id="rId13" Type="http://schemas.openxmlformats.org/officeDocument/2006/relationships/image" Target="../media/image139.png"/><Relationship Id="rId14" Type="http://schemas.openxmlformats.org/officeDocument/2006/relationships/image" Target="../media/image140.png"/><Relationship Id="rId15" Type="http://schemas.openxmlformats.org/officeDocument/2006/relationships/image" Target="../media/image141.png"/><Relationship Id="rId16" Type="http://schemas.openxmlformats.org/officeDocument/2006/relationships/image" Target="../media/image142.png"/><Relationship Id="rId17" Type="http://schemas.openxmlformats.org/officeDocument/2006/relationships/image" Target="../media/image143.png"/><Relationship Id="rId18" Type="http://schemas.openxmlformats.org/officeDocument/2006/relationships/image" Target="../media/image144.png"/><Relationship Id="rId19" Type="http://schemas.openxmlformats.org/officeDocument/2006/relationships/image" Target="../media/image145.png"/><Relationship Id="rId20" Type="http://schemas.openxmlformats.org/officeDocument/2006/relationships/image" Target="../media/image146.png"/><Relationship Id="rId21" Type="http://schemas.openxmlformats.org/officeDocument/2006/relationships/image" Target="../media/image147.png"/><Relationship Id="rId22" Type="http://schemas.openxmlformats.org/officeDocument/2006/relationships/image" Target="../media/image148.png"/><Relationship Id="rId23" Type="http://schemas.openxmlformats.org/officeDocument/2006/relationships/image" Target="../media/image149.png"/><Relationship Id="rId24" Type="http://schemas.openxmlformats.org/officeDocument/2006/relationships/image" Target="../media/image150.png"/><Relationship Id="rId25" Type="http://schemas.openxmlformats.org/officeDocument/2006/relationships/image" Target="../media/image151.png"/><Relationship Id="rId26" Type="http://schemas.openxmlformats.org/officeDocument/2006/relationships/image" Target="../media/image152.png"/><Relationship Id="rId27" Type="http://schemas.openxmlformats.org/officeDocument/2006/relationships/image" Target="../media/image153.png"/><Relationship Id="rId28" Type="http://schemas.openxmlformats.org/officeDocument/2006/relationships/image" Target="../media/image154.png"/><Relationship Id="rId29" Type="http://schemas.openxmlformats.org/officeDocument/2006/relationships/image" Target="../media/image155.png"/><Relationship Id="rId30" Type="http://schemas.openxmlformats.org/officeDocument/2006/relationships/image" Target="../media/image156.png"/><Relationship Id="rId31" Type="http://schemas.openxmlformats.org/officeDocument/2006/relationships/image" Target="../media/image157.png"/><Relationship Id="rId32" Type="http://schemas.openxmlformats.org/officeDocument/2006/relationships/image" Target="../media/image1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chart" Target="../charts/chart1.xml"/><Relationship Id="rId1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62.png"/><Relationship Id="rId6" Type="http://schemas.openxmlformats.org/officeDocument/2006/relationships/image" Target="../media/image163.png"/><Relationship Id="rId7" Type="http://schemas.openxmlformats.org/officeDocument/2006/relationships/image" Target="../media/image164.png"/><Relationship Id="rId8"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chart" Target="../charts/chart2.xml"/><Relationship Id="rId1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image" Target="../media/image159.jpg"/><Relationship Id="rId1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image" Target="../media/image160.jpg"/><Relationship Id="rId12" Type="http://schemas.openxmlformats.org/officeDocument/2006/relationships/image" Target="../media/image161.jpg"/><Relationship Id="rId1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A black and blue rectangle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dirty="0"/>
            </a:p>
          </p:txBody>
        </p:sp>
      </p:grpSp>
      <p:sp>
        <p:nvSpPr>
          <p:cNvPr id="4" name="Freeform 4"/>
          <p:cNvSpPr/>
          <p:nvPr/>
        </p:nvSpPr>
        <p:spPr>
          <a:xfrm>
            <a:off x="3706785" y="1047202"/>
            <a:ext cx="13084230" cy="7335346"/>
          </a:xfrm>
          <a:custGeom>
            <a:avLst/>
            <a:gdLst/>
            <a:ahLst/>
            <a:cxnLst/>
            <a:rect l="l" t="t" r="r" b="b"/>
            <a:pathLst>
              <a:path w="13084230" h="7335346">
                <a:moveTo>
                  <a:pt x="0" y="0"/>
                </a:moveTo>
                <a:lnTo>
                  <a:pt x="13084230" y="0"/>
                </a:lnTo>
                <a:lnTo>
                  <a:pt x="13084230" y="7335346"/>
                </a:lnTo>
                <a:lnTo>
                  <a:pt x="0" y="7335346"/>
                </a:lnTo>
                <a:lnTo>
                  <a:pt x="0" y="0"/>
                </a:lnTo>
                <a:close/>
              </a:path>
            </a:pathLst>
          </a:custGeom>
          <a:blipFill>
            <a:blip r:embed="rId3"/>
            <a:stretch>
              <a:fillRect/>
            </a:stretch>
          </a:blipFill>
        </p:spPr>
        <p:txBody>
          <a:bodyPr/>
          <a:lstStyle/>
          <a:p>
            <a:endParaRPr lang="en-IN" dirty="0"/>
          </a:p>
        </p:txBody>
      </p:sp>
      <p:sp>
        <p:nvSpPr>
          <p:cNvPr id="5" name="Freeform 5"/>
          <p:cNvSpPr/>
          <p:nvPr/>
        </p:nvSpPr>
        <p:spPr>
          <a:xfrm>
            <a:off x="457200" y="1358217"/>
            <a:ext cx="3937343" cy="3937343"/>
          </a:xfrm>
          <a:custGeom>
            <a:avLst/>
            <a:gdLst/>
            <a:ahLst/>
            <a:cxnLst/>
            <a:rect l="l" t="t" r="r" b="b"/>
            <a:pathLst>
              <a:path w="3937343" h="3937343">
                <a:moveTo>
                  <a:pt x="0" y="0"/>
                </a:moveTo>
                <a:lnTo>
                  <a:pt x="3937343" y="0"/>
                </a:lnTo>
                <a:lnTo>
                  <a:pt x="3937343" y="3937344"/>
                </a:lnTo>
                <a:lnTo>
                  <a:pt x="0" y="3937344"/>
                </a:lnTo>
                <a:lnTo>
                  <a:pt x="0" y="0"/>
                </a:lnTo>
                <a:close/>
              </a:path>
            </a:pathLst>
          </a:custGeom>
          <a:blipFill>
            <a:blip r:embed="rId4"/>
            <a:stretch>
              <a:fillRect/>
            </a:stretch>
          </a:blipFill>
        </p:spPr>
        <p:txBody>
          <a:bodyPr/>
          <a:lstStyle/>
          <a:p>
            <a:endParaRPr lang="en-IN" dirty="0"/>
          </a:p>
        </p:txBody>
      </p:sp>
      <p:sp>
        <p:nvSpPr>
          <p:cNvPr id="6" name="Freeform 6"/>
          <p:cNvSpPr/>
          <p:nvPr/>
        </p:nvSpPr>
        <p:spPr>
          <a:xfrm>
            <a:off x="8130246" y="4870091"/>
            <a:ext cx="4046807" cy="2268741"/>
          </a:xfrm>
          <a:custGeom>
            <a:avLst/>
            <a:gdLst/>
            <a:ahLst/>
            <a:cxnLst/>
            <a:rect l="l" t="t" r="r" b="b"/>
            <a:pathLst>
              <a:path w="4046807" h="2268741">
                <a:moveTo>
                  <a:pt x="0" y="0"/>
                </a:moveTo>
                <a:lnTo>
                  <a:pt x="4046808" y="0"/>
                </a:lnTo>
                <a:lnTo>
                  <a:pt x="4046808" y="2268741"/>
                </a:lnTo>
                <a:lnTo>
                  <a:pt x="0" y="2268741"/>
                </a:lnTo>
                <a:lnTo>
                  <a:pt x="0" y="0"/>
                </a:lnTo>
                <a:close/>
              </a:path>
            </a:pathLst>
          </a:custGeom>
          <a:blipFill>
            <a:blip r:embed="rId5"/>
            <a:stretch>
              <a:fillRect/>
            </a:stretch>
          </a:blipFill>
        </p:spPr>
        <p:txBody>
          <a:bodyPr/>
          <a:lstStyle/>
          <a:p>
            <a:endParaRPr lang="en-IN" dirty="0"/>
          </a:p>
        </p:txBody>
      </p:sp>
      <p:sp>
        <p:nvSpPr>
          <p:cNvPr id="7" name="AutoShape 7"/>
          <p:cNvSpPr/>
          <p:nvPr/>
        </p:nvSpPr>
        <p:spPr>
          <a:xfrm>
            <a:off x="11986626" y="5999699"/>
            <a:ext cx="2511535" cy="9525"/>
          </a:xfrm>
          <a:prstGeom prst="line">
            <a:avLst/>
          </a:prstGeom>
          <a:ln w="38100" cap="flat">
            <a:solidFill>
              <a:srgbClr val="5A3995"/>
            </a:solidFill>
            <a:prstDash val="solid"/>
            <a:headEnd type="none" w="sm" len="sm"/>
            <a:tailEnd type="none" w="sm" len="sm"/>
          </a:ln>
        </p:spPr>
        <p:txBody>
          <a:bodyPr/>
          <a:lstStyle/>
          <a:p>
            <a:endParaRPr lang="en-IN" dirty="0"/>
          </a:p>
        </p:txBody>
      </p:sp>
      <p:sp>
        <p:nvSpPr>
          <p:cNvPr id="8" name="AutoShape 8"/>
          <p:cNvSpPr/>
          <p:nvPr/>
        </p:nvSpPr>
        <p:spPr>
          <a:xfrm>
            <a:off x="5939569" y="6028274"/>
            <a:ext cx="2511535" cy="9525"/>
          </a:xfrm>
          <a:prstGeom prst="line">
            <a:avLst/>
          </a:prstGeom>
          <a:ln w="38100" cap="flat">
            <a:solidFill>
              <a:srgbClr val="5A3995"/>
            </a:solidFill>
            <a:prstDash val="solid"/>
            <a:headEnd type="none" w="sm" len="sm"/>
            <a:tailEnd type="none" w="sm" len="sm"/>
          </a:ln>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123"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dirty="0"/>
            </a:p>
          </p:txBody>
        </p:sp>
      </p:grpSp>
      <p:grpSp>
        <p:nvGrpSpPr>
          <p:cNvPr id="6" name="Group 6"/>
          <p:cNvGrpSpPr/>
          <p:nvPr/>
        </p:nvGrpSpPr>
        <p:grpSpPr>
          <a:xfrm>
            <a:off x="7079361"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5"/>
              <a:stretch>
                <a:fillRect t="-34478" b="-34478"/>
              </a:stretch>
            </a:blipFill>
          </p:spPr>
          <p:txBody>
            <a:bodyPr/>
            <a:lstStyle/>
            <a:p>
              <a:endParaRPr lang="en-IN" dirty="0"/>
            </a:p>
          </p:txBody>
        </p:sp>
      </p:grpSp>
      <p:sp>
        <p:nvSpPr>
          <p:cNvPr id="8" name="TextBox 8"/>
          <p:cNvSpPr txBox="1"/>
          <p:nvPr/>
        </p:nvSpPr>
        <p:spPr>
          <a:xfrm>
            <a:off x="5166681" y="1325813"/>
            <a:ext cx="8389620" cy="828675"/>
          </a:xfrm>
          <a:prstGeom prst="rect">
            <a:avLst/>
          </a:prstGeom>
        </p:spPr>
        <p:txBody>
          <a:bodyPr lIns="0" tIns="0" rIns="0" bIns="0" rtlCol="0" anchor="t">
            <a:spAutoFit/>
          </a:bodyPr>
          <a:lstStyle/>
          <a:p>
            <a:pPr algn="l">
              <a:lnSpc>
                <a:spcPts val="7500"/>
              </a:lnSpc>
            </a:pPr>
            <a:endParaRPr lang="en-US" sz="3000" b="1" u="sng" dirty="0">
              <a:solidFill>
                <a:srgbClr val="000000"/>
              </a:solidFill>
              <a:latin typeface="Montserrat Bold"/>
              <a:ea typeface="Montserrat Bold"/>
              <a:cs typeface="Montserrat Bold"/>
              <a:sym typeface="Montserrat Bold"/>
            </a:endParaRPr>
          </a:p>
        </p:txBody>
      </p:sp>
      <p:sp>
        <p:nvSpPr>
          <p:cNvPr id="9" name="TextBox 9"/>
          <p:cNvSpPr txBox="1"/>
          <p:nvPr/>
        </p:nvSpPr>
        <p:spPr>
          <a:xfrm>
            <a:off x="2745019" y="1715662"/>
            <a:ext cx="12282316" cy="2565835"/>
          </a:xfrm>
          <a:prstGeom prst="rect">
            <a:avLst/>
          </a:prstGeom>
        </p:spPr>
        <p:txBody>
          <a:bodyPr lIns="0" tIns="0" rIns="0" bIns="0" rtlCol="0" anchor="t">
            <a:spAutoFit/>
          </a:bodyPr>
          <a:lstStyle/>
          <a:p>
            <a:pPr algn="ctr">
              <a:lnSpc>
                <a:spcPts val="12000"/>
              </a:lnSpc>
            </a:pPr>
            <a:r>
              <a:rPr lang="en-US" sz="4800" b="1" dirty="0">
                <a:solidFill>
                  <a:srgbClr val="000000"/>
                </a:solidFill>
                <a:latin typeface="Montserrat Bold"/>
                <a:ea typeface="Montserrat Bold"/>
                <a:cs typeface="Montserrat Bold"/>
                <a:sym typeface="Montserrat Bold"/>
              </a:rPr>
              <a:t>TEAM DETAILS</a:t>
            </a:r>
          </a:p>
        </p:txBody>
      </p:sp>
      <p:sp>
        <p:nvSpPr>
          <p:cNvPr id="10" name="TextBox 10"/>
          <p:cNvSpPr txBox="1"/>
          <p:nvPr/>
        </p:nvSpPr>
        <p:spPr>
          <a:xfrm>
            <a:off x="4024446" y="3576076"/>
            <a:ext cx="10472947" cy="4920834"/>
          </a:xfrm>
          <a:prstGeom prst="rect">
            <a:avLst/>
          </a:prstGeom>
        </p:spPr>
        <p:txBody>
          <a:bodyPr lIns="0" tIns="0" rIns="0" bIns="0" rtlCol="0" anchor="t">
            <a:spAutoFit/>
          </a:bodyPr>
          <a:lstStyle/>
          <a:p>
            <a:pPr marL="879159" lvl="2" indent="-293053">
              <a:lnSpc>
                <a:spcPts val="6480"/>
              </a:lnSpc>
              <a:buFont typeface="Arial"/>
              <a:buChar char="⚬"/>
            </a:pPr>
            <a:r>
              <a:rPr lang="en-US" sz="3600" b="1" dirty="0">
                <a:solidFill>
                  <a:srgbClr val="434343"/>
                </a:solidFill>
                <a:latin typeface="Aptos"/>
                <a:ea typeface="Aptos"/>
                <a:cs typeface="Aptos"/>
                <a:sym typeface="Aptos"/>
              </a:rPr>
              <a:t>Team Leader : Akshitha B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1: Tharun </a:t>
            </a:r>
            <a:r>
              <a:rPr lang="en-US" sz="3600" b="1" dirty="0" err="1">
                <a:solidFill>
                  <a:srgbClr val="434343"/>
                </a:solidFill>
                <a:latin typeface="Aptos"/>
                <a:ea typeface="Aptos"/>
                <a:cs typeface="Aptos"/>
                <a:sym typeface="Aptos"/>
              </a:rPr>
              <a:t>Vignessh</a:t>
            </a:r>
            <a:r>
              <a:rPr lang="en-US" sz="3600" b="1" dirty="0">
                <a:solidFill>
                  <a:srgbClr val="434343"/>
                </a:solidFill>
                <a:latin typeface="Aptos"/>
                <a:ea typeface="Aptos"/>
                <a:cs typeface="Aptos"/>
                <a:sym typeface="Aptos"/>
              </a:rPr>
              <a:t> S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2: Mohammed Faiz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3: Tanishka M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4:  </a:t>
            </a:r>
            <a:r>
              <a:rPr lang="en-US" sz="3600" b="1" dirty="0" err="1">
                <a:solidFill>
                  <a:srgbClr val="434343"/>
                </a:solidFill>
                <a:latin typeface="Aptos"/>
                <a:ea typeface="Aptos"/>
                <a:cs typeface="Aptos"/>
                <a:sym typeface="Aptos"/>
              </a:rPr>
              <a:t>Dhanaishwariya</a:t>
            </a:r>
            <a:r>
              <a:rPr lang="en-US" sz="3600" b="1" dirty="0">
                <a:solidFill>
                  <a:srgbClr val="434343"/>
                </a:solidFill>
                <a:latin typeface="Aptos"/>
                <a:ea typeface="Aptos"/>
                <a:cs typeface="Aptos"/>
                <a:sym typeface="Aptos"/>
              </a:rPr>
              <a:t> R- 2nd year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a:p>
          </p:txBody>
        </p:sp>
      </p:grpSp>
      <p:grpSp>
        <p:nvGrpSpPr>
          <p:cNvPr id="6" name="Group 6"/>
          <p:cNvGrpSpPr/>
          <p:nvPr/>
        </p:nvGrpSpPr>
        <p:grpSpPr>
          <a:xfrm>
            <a:off x="7080675" y="295275"/>
            <a:ext cx="4053078" cy="1450315"/>
            <a:chOff x="0" y="0"/>
            <a:chExt cx="5404104" cy="1933753"/>
          </a:xfrm>
        </p:grpSpPr>
        <p:sp>
          <p:nvSpPr>
            <p:cNvPr id="7" name="Freeform 7"/>
            <p:cNvSpPr/>
            <p:nvPr/>
          </p:nvSpPr>
          <p:spPr>
            <a:xfrm>
              <a:off x="0" y="0"/>
              <a:ext cx="5404104" cy="1933753"/>
            </a:xfrm>
            <a:custGeom>
              <a:avLst/>
              <a:gdLst/>
              <a:ahLst/>
              <a:cxnLst/>
              <a:rect l="l" t="t" r="r" b="b"/>
              <a:pathLst>
                <a:path w="5404104" h="1933753">
                  <a:moveTo>
                    <a:pt x="0" y="0"/>
                  </a:moveTo>
                  <a:lnTo>
                    <a:pt x="5404104" y="0"/>
                  </a:lnTo>
                  <a:lnTo>
                    <a:pt x="5404104" y="1933753"/>
                  </a:lnTo>
                  <a:lnTo>
                    <a:pt x="0" y="1933753"/>
                  </a:lnTo>
                  <a:lnTo>
                    <a:pt x="0" y="0"/>
                  </a:lnTo>
                  <a:close/>
                </a:path>
              </a:pathLst>
            </a:custGeom>
            <a:blipFill>
              <a:blip r:embed="rId5"/>
              <a:stretch>
                <a:fillRect t="-18457" b="-18457"/>
              </a:stretch>
            </a:blipFill>
          </p:spPr>
          <p:txBody>
            <a:bodyPr/>
            <a:lstStyle/>
            <a:p>
              <a:endParaRPr lang="en-IN"/>
            </a:p>
          </p:txBody>
        </p:sp>
      </p:grpSp>
      <p:sp>
        <p:nvSpPr>
          <p:cNvPr id="13" name="TextBox 4">
            <a:extLst>
              <a:ext uri="{FF2B5EF4-FFF2-40B4-BE49-F238E27FC236}">
                <a16:creationId xmlns:a16="http://schemas.microsoft.com/office/drawing/2014/main" id="{B618846B-3A19-8D0F-983F-CBE661F41BD0}"/>
              </a:ext>
            </a:extLst>
          </p:cNvPr>
          <p:cNvSpPr txBox="1"/>
          <p:nvPr/>
        </p:nvSpPr>
        <p:spPr>
          <a:xfrm>
            <a:off x="1172407" y="1577040"/>
            <a:ext cx="16403445" cy="736484"/>
          </a:xfrm>
          <a:prstGeom prst="rect">
            <a:avLst/>
          </a:prstGeom>
        </p:spPr>
        <p:txBody>
          <a:bodyPr wrap="square" lIns="0" tIns="0" rIns="0" bIns="0" rtlCol="0" anchor="t">
            <a:spAutoFit/>
          </a:bodyPr>
          <a:lstStyle/>
          <a:p>
            <a:pPr algn="ctr">
              <a:lnSpc>
                <a:spcPts val="5517"/>
              </a:lnSpc>
            </a:pPr>
            <a:r>
              <a:rPr lang="en-US" sz="6130" b="1" dirty="0">
                <a:latin typeface="Roboto Bold"/>
                <a:ea typeface="Roboto Bold"/>
                <a:cs typeface="Roboto Bold"/>
                <a:sym typeface="Roboto Bold"/>
              </a:rPr>
              <a:t>MARINE DEBRIS IS A MOVING-TARGET PROBLEM</a:t>
            </a:r>
          </a:p>
        </p:txBody>
      </p:sp>
      <p:sp>
        <p:nvSpPr>
          <p:cNvPr id="14" name="TextBox 5">
            <a:extLst>
              <a:ext uri="{FF2B5EF4-FFF2-40B4-BE49-F238E27FC236}">
                <a16:creationId xmlns:a16="http://schemas.microsoft.com/office/drawing/2014/main" id="{BF580420-1BC2-58A5-8629-9D22478A8F2B}"/>
              </a:ext>
            </a:extLst>
          </p:cNvPr>
          <p:cNvSpPr txBox="1"/>
          <p:nvPr/>
        </p:nvSpPr>
        <p:spPr>
          <a:xfrm>
            <a:off x="1799914" y="2166510"/>
            <a:ext cx="13924800" cy="371897"/>
          </a:xfrm>
          <a:prstGeom prst="rect">
            <a:avLst/>
          </a:prstGeom>
        </p:spPr>
        <p:txBody>
          <a:bodyPr wrap="square" lIns="0" tIns="0" rIns="0" bIns="0" rtlCol="0" anchor="t">
            <a:spAutoFit/>
          </a:bodyPr>
          <a:lstStyle/>
          <a:p>
            <a:pPr algn="ctr">
              <a:lnSpc>
                <a:spcPts val="2877"/>
              </a:lnSpc>
            </a:pPr>
            <a:r>
              <a:rPr lang="en-US" sz="2800" dirty="0">
                <a:solidFill>
                  <a:srgbClr val="8064A2"/>
                </a:solidFill>
                <a:latin typeface="Roboto"/>
                <a:ea typeface="Roboto"/>
                <a:cs typeface="Roboto"/>
                <a:sym typeface="Roboto"/>
              </a:rPr>
              <a:t>Today’s observation is only a snapshot. The real question is where the risk moves next</a:t>
            </a:r>
            <a:r>
              <a:rPr lang="en-US" sz="2397" dirty="0">
                <a:solidFill>
                  <a:srgbClr val="8064A2"/>
                </a:solidFill>
                <a:latin typeface="Roboto"/>
                <a:ea typeface="Roboto"/>
                <a:cs typeface="Roboto"/>
                <a:sym typeface="Roboto"/>
              </a:rPr>
              <a:t>.</a:t>
            </a:r>
          </a:p>
        </p:txBody>
      </p:sp>
      <p:sp>
        <p:nvSpPr>
          <p:cNvPr id="15" name="Freeform 6">
            <a:extLst>
              <a:ext uri="{FF2B5EF4-FFF2-40B4-BE49-F238E27FC236}">
                <a16:creationId xmlns:a16="http://schemas.microsoft.com/office/drawing/2014/main" id="{2B6181FB-5A04-1F74-2DAB-B7E4D11904EC}"/>
              </a:ext>
            </a:extLst>
          </p:cNvPr>
          <p:cNvSpPr/>
          <p:nvPr/>
        </p:nvSpPr>
        <p:spPr>
          <a:xfrm>
            <a:off x="56839" y="2593349"/>
            <a:ext cx="18288000" cy="501289"/>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6"/>
            <a:stretch>
              <a:fillRect/>
            </a:stretch>
          </a:blipFill>
        </p:spPr>
      </p:sp>
      <p:sp>
        <p:nvSpPr>
          <p:cNvPr id="16" name="Freeform 7">
            <a:extLst>
              <a:ext uri="{FF2B5EF4-FFF2-40B4-BE49-F238E27FC236}">
                <a16:creationId xmlns:a16="http://schemas.microsoft.com/office/drawing/2014/main" id="{58862153-518B-D0D1-9F53-B9C90296E22A}"/>
              </a:ext>
            </a:extLst>
          </p:cNvPr>
          <p:cNvSpPr/>
          <p:nvPr/>
        </p:nvSpPr>
        <p:spPr>
          <a:xfrm>
            <a:off x="267140" y="3780609"/>
            <a:ext cx="228600" cy="5153025"/>
          </a:xfrm>
          <a:custGeom>
            <a:avLst/>
            <a:gdLst/>
            <a:ahLst/>
            <a:cxnLst/>
            <a:rect l="l" t="t" r="r" b="b"/>
            <a:pathLst>
              <a:path w="228600" h="5153025">
                <a:moveTo>
                  <a:pt x="0" y="0"/>
                </a:moveTo>
                <a:lnTo>
                  <a:pt x="228600" y="0"/>
                </a:lnTo>
                <a:lnTo>
                  <a:pt x="228600" y="5153025"/>
                </a:lnTo>
                <a:lnTo>
                  <a:pt x="0" y="5153025"/>
                </a:lnTo>
                <a:lnTo>
                  <a:pt x="0" y="0"/>
                </a:lnTo>
                <a:close/>
              </a:path>
            </a:pathLst>
          </a:custGeom>
          <a:blipFill>
            <a:blip r:embed="rId7"/>
            <a:stretch>
              <a:fillRect/>
            </a:stretch>
          </a:blipFill>
        </p:spPr>
      </p:sp>
      <p:sp>
        <p:nvSpPr>
          <p:cNvPr id="17" name="TextBox 8">
            <a:extLst>
              <a:ext uri="{FF2B5EF4-FFF2-40B4-BE49-F238E27FC236}">
                <a16:creationId xmlns:a16="http://schemas.microsoft.com/office/drawing/2014/main" id="{703DFCB1-0993-7050-01BB-9D47FF531F1B}"/>
              </a:ext>
            </a:extLst>
          </p:cNvPr>
          <p:cNvSpPr txBox="1"/>
          <p:nvPr/>
        </p:nvSpPr>
        <p:spPr>
          <a:xfrm>
            <a:off x="788358" y="2873384"/>
            <a:ext cx="1497641" cy="295722"/>
          </a:xfrm>
          <a:prstGeom prst="rect">
            <a:avLst/>
          </a:prstGeom>
        </p:spPr>
        <p:txBody>
          <a:bodyPr wrap="square" lIns="0" tIns="0" rIns="0" bIns="0" rtlCol="0" anchor="t">
            <a:spAutoFit/>
          </a:bodyPr>
          <a:lstStyle/>
          <a:p>
            <a:pPr algn="ctr">
              <a:lnSpc>
                <a:spcPts val="2349"/>
              </a:lnSpc>
            </a:pPr>
            <a:r>
              <a:rPr lang="en-US" sz="2200" b="1" dirty="0">
                <a:solidFill>
                  <a:srgbClr val="997CD1"/>
                </a:solidFill>
                <a:latin typeface="Roboto Bold"/>
                <a:ea typeface="Roboto Bold"/>
                <a:cs typeface="Roboto Bold"/>
                <a:sym typeface="Roboto Bold"/>
              </a:rPr>
              <a:t>01 | GOAL</a:t>
            </a:r>
          </a:p>
        </p:txBody>
      </p:sp>
      <p:sp>
        <p:nvSpPr>
          <p:cNvPr id="18" name="TextBox 9">
            <a:extLst>
              <a:ext uri="{FF2B5EF4-FFF2-40B4-BE49-F238E27FC236}">
                <a16:creationId xmlns:a16="http://schemas.microsoft.com/office/drawing/2014/main" id="{6F82DCA0-3DC0-FB27-EA24-173041220A29}"/>
              </a:ext>
            </a:extLst>
          </p:cNvPr>
          <p:cNvSpPr txBox="1"/>
          <p:nvPr/>
        </p:nvSpPr>
        <p:spPr>
          <a:xfrm>
            <a:off x="770071" y="3258501"/>
            <a:ext cx="3858768" cy="687750"/>
          </a:xfrm>
          <a:prstGeom prst="rect">
            <a:avLst/>
          </a:prstGeom>
        </p:spPr>
        <p:txBody>
          <a:bodyPr lIns="0" tIns="0" rIns="0" bIns="0" rtlCol="0" anchor="t">
            <a:spAutoFit/>
          </a:bodyPr>
          <a:lstStyle/>
          <a:p>
            <a:pPr>
              <a:lnSpc>
                <a:spcPts val="2643"/>
              </a:lnSpc>
            </a:pPr>
            <a:r>
              <a:rPr lang="en-US" sz="2403" b="1" dirty="0">
                <a:solidFill>
                  <a:schemeClr val="tx1">
                    <a:lumMod val="95000"/>
                    <a:lumOff val="5000"/>
                  </a:schemeClr>
                </a:solidFill>
                <a:latin typeface="Roboto Bold"/>
                <a:ea typeface="Roboto Bold"/>
                <a:cs typeface="Roboto Bold"/>
                <a:sym typeface="Roboto Bold"/>
              </a:rPr>
              <a:t>Enable proactive</a:t>
            </a:r>
          </a:p>
          <a:p>
            <a:pPr>
              <a:lnSpc>
                <a:spcPts val="2643"/>
              </a:lnSpc>
            </a:pPr>
            <a:r>
              <a:rPr lang="en-US" sz="2403" b="1" dirty="0">
                <a:solidFill>
                  <a:schemeClr val="tx1">
                    <a:lumMod val="95000"/>
                    <a:lumOff val="5000"/>
                  </a:schemeClr>
                </a:solidFill>
                <a:latin typeface="Roboto Bold"/>
                <a:ea typeface="Roboto Bold"/>
                <a:cs typeface="Roboto Bold"/>
                <a:sym typeface="Roboto Bold"/>
              </a:rPr>
              <a:t>marine-debris management</a:t>
            </a:r>
          </a:p>
        </p:txBody>
      </p:sp>
      <p:sp>
        <p:nvSpPr>
          <p:cNvPr id="19" name="TextBox 10">
            <a:extLst>
              <a:ext uri="{FF2B5EF4-FFF2-40B4-BE49-F238E27FC236}">
                <a16:creationId xmlns:a16="http://schemas.microsoft.com/office/drawing/2014/main" id="{64AD777A-2BB5-5073-1E12-08A4D167BA6A}"/>
              </a:ext>
            </a:extLst>
          </p:cNvPr>
          <p:cNvSpPr txBox="1"/>
          <p:nvPr/>
        </p:nvSpPr>
        <p:spPr>
          <a:xfrm>
            <a:off x="770071" y="4198312"/>
            <a:ext cx="4169664" cy="838200"/>
          </a:xfrm>
          <a:prstGeom prst="rect">
            <a:avLst/>
          </a:prstGeom>
        </p:spPr>
        <p:txBody>
          <a:bodyPr lIns="0" tIns="0" rIns="0" bIns="0" rtlCol="0" anchor="t">
            <a:spAutoFit/>
          </a:bodyPr>
          <a:lstStyle/>
          <a:p>
            <a:pPr>
              <a:lnSpc>
                <a:spcPts val="2242"/>
              </a:lnSpc>
            </a:pPr>
            <a:r>
              <a:rPr lang="en-US" sz="2000" dirty="0">
                <a:latin typeface="Roboto"/>
                <a:ea typeface="Roboto"/>
                <a:cs typeface="Roboto"/>
                <a:sym typeface="Roboto"/>
              </a:rPr>
              <a:t>Identify potential floating marine-debris hotspots and understand where they are likely to move next.</a:t>
            </a:r>
          </a:p>
        </p:txBody>
      </p:sp>
      <p:sp>
        <p:nvSpPr>
          <p:cNvPr id="20" name="Freeform 11">
            <a:extLst>
              <a:ext uri="{FF2B5EF4-FFF2-40B4-BE49-F238E27FC236}">
                <a16:creationId xmlns:a16="http://schemas.microsoft.com/office/drawing/2014/main" id="{EDC4557E-27BC-4F82-D8B7-6F2D71763294}"/>
              </a:ext>
            </a:extLst>
          </p:cNvPr>
          <p:cNvSpPr/>
          <p:nvPr/>
        </p:nvSpPr>
        <p:spPr>
          <a:xfrm>
            <a:off x="485464"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sp>
      <p:sp>
        <p:nvSpPr>
          <p:cNvPr id="21" name="Freeform 12">
            <a:extLst>
              <a:ext uri="{FF2B5EF4-FFF2-40B4-BE49-F238E27FC236}">
                <a16:creationId xmlns:a16="http://schemas.microsoft.com/office/drawing/2014/main" id="{98B94913-0FC2-2173-B200-71DFC62D762F}"/>
              </a:ext>
            </a:extLst>
          </p:cNvPr>
          <p:cNvSpPr/>
          <p:nvPr/>
        </p:nvSpPr>
        <p:spPr>
          <a:xfrm>
            <a:off x="1580839" y="5803274"/>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9"/>
            <a:stretch>
              <a:fillRect/>
            </a:stretch>
          </a:blipFill>
        </p:spPr>
      </p:sp>
      <p:sp>
        <p:nvSpPr>
          <p:cNvPr id="22" name="Freeform 13">
            <a:extLst>
              <a:ext uri="{FF2B5EF4-FFF2-40B4-BE49-F238E27FC236}">
                <a16:creationId xmlns:a16="http://schemas.microsoft.com/office/drawing/2014/main" id="{7B453655-2E54-560A-5768-AC93036EA295}"/>
              </a:ext>
            </a:extLst>
          </p:cNvPr>
          <p:cNvSpPr/>
          <p:nvPr/>
        </p:nvSpPr>
        <p:spPr>
          <a:xfrm>
            <a:off x="1790389" y="5593724"/>
            <a:ext cx="1104900" cy="1076325"/>
          </a:xfrm>
          <a:custGeom>
            <a:avLst/>
            <a:gdLst/>
            <a:ahLst/>
            <a:cxnLst/>
            <a:rect l="l" t="t" r="r" b="b"/>
            <a:pathLst>
              <a:path w="1104900" h="1076325">
                <a:moveTo>
                  <a:pt x="0" y="0"/>
                </a:moveTo>
                <a:lnTo>
                  <a:pt x="1104900" y="0"/>
                </a:lnTo>
                <a:lnTo>
                  <a:pt x="1104900" y="1076325"/>
                </a:lnTo>
                <a:lnTo>
                  <a:pt x="0" y="1076325"/>
                </a:lnTo>
                <a:lnTo>
                  <a:pt x="0" y="0"/>
                </a:lnTo>
                <a:close/>
              </a:path>
            </a:pathLst>
          </a:custGeom>
          <a:blipFill>
            <a:blip r:embed="rId10"/>
            <a:stretch>
              <a:fillRect/>
            </a:stretch>
          </a:blipFill>
        </p:spPr>
      </p:sp>
      <p:sp>
        <p:nvSpPr>
          <p:cNvPr id="23" name="Freeform 14">
            <a:extLst>
              <a:ext uri="{FF2B5EF4-FFF2-40B4-BE49-F238E27FC236}">
                <a16:creationId xmlns:a16="http://schemas.microsoft.com/office/drawing/2014/main" id="{A41944AB-6CA9-D08A-E0E3-A611B73BEED3}"/>
              </a:ext>
            </a:extLst>
          </p:cNvPr>
          <p:cNvSpPr/>
          <p:nvPr/>
        </p:nvSpPr>
        <p:spPr>
          <a:xfrm>
            <a:off x="2666689" y="5803274"/>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11"/>
            <a:stretch>
              <a:fillRect/>
            </a:stretch>
          </a:blipFill>
        </p:spPr>
      </p:sp>
      <p:sp>
        <p:nvSpPr>
          <p:cNvPr id="24" name="Freeform 15">
            <a:extLst>
              <a:ext uri="{FF2B5EF4-FFF2-40B4-BE49-F238E27FC236}">
                <a16:creationId xmlns:a16="http://schemas.microsoft.com/office/drawing/2014/main" id="{793A3341-4960-63BE-0330-99FA38EC7489}"/>
              </a:ext>
            </a:extLst>
          </p:cNvPr>
          <p:cNvSpPr/>
          <p:nvPr/>
        </p:nvSpPr>
        <p:spPr>
          <a:xfrm>
            <a:off x="3104839"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2"/>
            <a:stretch>
              <a:fillRect/>
            </a:stretch>
          </a:blipFill>
        </p:spPr>
      </p:sp>
      <p:sp>
        <p:nvSpPr>
          <p:cNvPr id="25" name="Freeform 16">
            <a:extLst>
              <a:ext uri="{FF2B5EF4-FFF2-40B4-BE49-F238E27FC236}">
                <a16:creationId xmlns:a16="http://schemas.microsoft.com/office/drawing/2014/main" id="{43E1B17C-493D-E8BA-850C-45CD2996596B}"/>
              </a:ext>
            </a:extLst>
          </p:cNvPr>
          <p:cNvSpPr/>
          <p:nvPr/>
        </p:nvSpPr>
        <p:spPr>
          <a:xfrm>
            <a:off x="4190689" y="5803274"/>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13"/>
            <a:stretch>
              <a:fillRect/>
            </a:stretch>
          </a:blipFill>
        </p:spPr>
      </p:sp>
      <p:sp>
        <p:nvSpPr>
          <p:cNvPr id="26" name="Freeform 17">
            <a:extLst>
              <a:ext uri="{FF2B5EF4-FFF2-40B4-BE49-F238E27FC236}">
                <a16:creationId xmlns:a16="http://schemas.microsoft.com/office/drawing/2014/main" id="{AB33AF48-45E9-33EC-C35F-900561D29811}"/>
              </a:ext>
            </a:extLst>
          </p:cNvPr>
          <p:cNvSpPr/>
          <p:nvPr/>
        </p:nvSpPr>
        <p:spPr>
          <a:xfrm>
            <a:off x="4409764"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4"/>
            <a:stretch>
              <a:fillRect/>
            </a:stretch>
          </a:blipFill>
        </p:spPr>
      </p:sp>
      <p:sp>
        <p:nvSpPr>
          <p:cNvPr id="27" name="Freeform 18">
            <a:extLst>
              <a:ext uri="{FF2B5EF4-FFF2-40B4-BE49-F238E27FC236}">
                <a16:creationId xmlns:a16="http://schemas.microsoft.com/office/drawing/2014/main" id="{A93F0EB4-611A-FF49-A5BF-DC83FFB28200}"/>
              </a:ext>
            </a:extLst>
          </p:cNvPr>
          <p:cNvSpPr/>
          <p:nvPr/>
        </p:nvSpPr>
        <p:spPr>
          <a:xfrm>
            <a:off x="5671410" y="3016070"/>
            <a:ext cx="438150" cy="5791200"/>
          </a:xfrm>
          <a:custGeom>
            <a:avLst/>
            <a:gdLst/>
            <a:ahLst/>
            <a:cxnLst/>
            <a:rect l="l" t="t" r="r" b="b"/>
            <a:pathLst>
              <a:path w="438150" h="5791200">
                <a:moveTo>
                  <a:pt x="0" y="0"/>
                </a:moveTo>
                <a:lnTo>
                  <a:pt x="438150" y="0"/>
                </a:lnTo>
                <a:lnTo>
                  <a:pt x="438150" y="5791200"/>
                </a:lnTo>
                <a:lnTo>
                  <a:pt x="0" y="5791200"/>
                </a:lnTo>
                <a:lnTo>
                  <a:pt x="0" y="0"/>
                </a:lnTo>
                <a:close/>
              </a:path>
            </a:pathLst>
          </a:custGeom>
          <a:blipFill>
            <a:blip r:embed="rId15"/>
            <a:stretch>
              <a:fillRect/>
            </a:stretch>
          </a:blipFill>
        </p:spPr>
      </p:sp>
      <p:sp>
        <p:nvSpPr>
          <p:cNvPr id="28" name="TextBox 19">
            <a:extLst>
              <a:ext uri="{FF2B5EF4-FFF2-40B4-BE49-F238E27FC236}">
                <a16:creationId xmlns:a16="http://schemas.microsoft.com/office/drawing/2014/main" id="{700B9DE3-64D2-3D82-247B-6825C0338458}"/>
              </a:ext>
            </a:extLst>
          </p:cNvPr>
          <p:cNvSpPr txBox="1"/>
          <p:nvPr/>
        </p:nvSpPr>
        <p:spPr>
          <a:xfrm>
            <a:off x="6293046" y="2882909"/>
            <a:ext cx="2850953" cy="286104"/>
          </a:xfrm>
          <a:prstGeom prst="rect">
            <a:avLst/>
          </a:prstGeom>
        </p:spPr>
        <p:txBody>
          <a:bodyPr wrap="square" lIns="0" tIns="0" rIns="0" bIns="0" rtlCol="0" anchor="t">
            <a:spAutoFit/>
          </a:bodyPr>
          <a:lstStyle/>
          <a:p>
            <a:pPr algn="ctr">
              <a:lnSpc>
                <a:spcPts val="2242"/>
              </a:lnSpc>
            </a:pPr>
            <a:r>
              <a:rPr lang="en-US" sz="2200" b="1" dirty="0">
                <a:solidFill>
                  <a:srgbClr val="997CD1"/>
                </a:solidFill>
                <a:latin typeface="Roboto Bold"/>
                <a:ea typeface="Roboto Bold"/>
                <a:cs typeface="Roboto Bold"/>
                <a:sym typeface="Roboto Bold"/>
              </a:rPr>
              <a:t>02 | EXACT PROBLEM</a:t>
            </a:r>
          </a:p>
        </p:txBody>
      </p:sp>
      <p:sp>
        <p:nvSpPr>
          <p:cNvPr id="29" name="TextBox 20">
            <a:extLst>
              <a:ext uri="{FF2B5EF4-FFF2-40B4-BE49-F238E27FC236}">
                <a16:creationId xmlns:a16="http://schemas.microsoft.com/office/drawing/2014/main" id="{BAC0256C-C69B-4085-CB23-4E7E87BD33B0}"/>
              </a:ext>
            </a:extLst>
          </p:cNvPr>
          <p:cNvSpPr txBox="1"/>
          <p:nvPr/>
        </p:nvSpPr>
        <p:spPr>
          <a:xfrm>
            <a:off x="6293047" y="3262681"/>
            <a:ext cx="4005072" cy="737786"/>
          </a:xfrm>
          <a:prstGeom prst="rect">
            <a:avLst/>
          </a:prstGeom>
        </p:spPr>
        <p:txBody>
          <a:bodyPr lIns="0" tIns="0" rIns="0" bIns="0" rtlCol="0" anchor="t">
            <a:spAutoFit/>
          </a:bodyPr>
          <a:lstStyle/>
          <a:p>
            <a:pPr algn="l">
              <a:lnSpc>
                <a:spcPts val="2852"/>
              </a:lnSpc>
            </a:pPr>
            <a:r>
              <a:rPr lang="en-US" sz="2593" b="1" dirty="0">
                <a:latin typeface="Roboto Bold"/>
                <a:ea typeface="Roboto Bold"/>
                <a:cs typeface="Roboto Bold"/>
                <a:sym typeface="Roboto Bold"/>
              </a:rPr>
              <a:t>Floating debris does not stay where we observe it.</a:t>
            </a:r>
          </a:p>
        </p:txBody>
      </p:sp>
      <p:sp>
        <p:nvSpPr>
          <p:cNvPr id="30" name="Freeform 21">
            <a:extLst>
              <a:ext uri="{FF2B5EF4-FFF2-40B4-BE49-F238E27FC236}">
                <a16:creationId xmlns:a16="http://schemas.microsoft.com/office/drawing/2014/main" id="{11BAE039-791B-6224-9015-266EA59E8E63}"/>
              </a:ext>
            </a:extLst>
          </p:cNvPr>
          <p:cNvSpPr/>
          <p:nvPr/>
        </p:nvSpPr>
        <p:spPr>
          <a:xfrm>
            <a:off x="6362389" y="4088774"/>
            <a:ext cx="666750" cy="866775"/>
          </a:xfrm>
          <a:custGeom>
            <a:avLst/>
            <a:gdLst/>
            <a:ahLst/>
            <a:cxnLst/>
            <a:rect l="l" t="t" r="r" b="b"/>
            <a:pathLst>
              <a:path w="666750" h="866775">
                <a:moveTo>
                  <a:pt x="0" y="0"/>
                </a:moveTo>
                <a:lnTo>
                  <a:pt x="666750" y="0"/>
                </a:lnTo>
                <a:lnTo>
                  <a:pt x="666750" y="866775"/>
                </a:lnTo>
                <a:lnTo>
                  <a:pt x="0" y="866775"/>
                </a:lnTo>
                <a:lnTo>
                  <a:pt x="0" y="0"/>
                </a:lnTo>
                <a:close/>
              </a:path>
            </a:pathLst>
          </a:custGeom>
          <a:blipFill>
            <a:blip r:embed="rId16"/>
            <a:stretch>
              <a:fillRect/>
            </a:stretch>
          </a:blipFill>
        </p:spPr>
      </p:sp>
      <p:sp>
        <p:nvSpPr>
          <p:cNvPr id="31" name="TextBox 22">
            <a:extLst>
              <a:ext uri="{FF2B5EF4-FFF2-40B4-BE49-F238E27FC236}">
                <a16:creationId xmlns:a16="http://schemas.microsoft.com/office/drawing/2014/main" id="{57A183D2-1E49-B936-61A6-7BE1DCBD6235}"/>
              </a:ext>
            </a:extLst>
          </p:cNvPr>
          <p:cNvSpPr txBox="1"/>
          <p:nvPr/>
        </p:nvSpPr>
        <p:spPr>
          <a:xfrm>
            <a:off x="7161216" y="4126997"/>
            <a:ext cx="2633472" cy="692497"/>
          </a:xfrm>
          <a:prstGeom prst="rect">
            <a:avLst/>
          </a:prstGeom>
        </p:spPr>
        <p:txBody>
          <a:bodyPr lIns="0" tIns="0" rIns="0" bIns="0" rtlCol="0" anchor="t">
            <a:spAutoFit/>
          </a:bodyPr>
          <a:lstStyle/>
          <a:p>
            <a:pPr algn="l">
              <a:lnSpc>
                <a:spcPts val="1822"/>
              </a:lnSpc>
            </a:pPr>
            <a:r>
              <a:rPr lang="en-US" dirty="0">
                <a:latin typeface="Roboto"/>
                <a:ea typeface="Roboto"/>
                <a:cs typeface="Roboto"/>
                <a:sym typeface="Roboto"/>
              </a:rPr>
              <a:t>Ocean areas are too vast for continuous manual monitoring</a:t>
            </a:r>
          </a:p>
        </p:txBody>
      </p:sp>
      <p:sp>
        <p:nvSpPr>
          <p:cNvPr id="32" name="Freeform 23">
            <a:extLst>
              <a:ext uri="{FF2B5EF4-FFF2-40B4-BE49-F238E27FC236}">
                <a16:creationId xmlns:a16="http://schemas.microsoft.com/office/drawing/2014/main" id="{BF84999F-3593-9671-3FAA-F96EB2564695}"/>
              </a:ext>
            </a:extLst>
          </p:cNvPr>
          <p:cNvSpPr/>
          <p:nvPr/>
        </p:nvSpPr>
        <p:spPr>
          <a:xfrm>
            <a:off x="6362389" y="5050799"/>
            <a:ext cx="666750" cy="647700"/>
          </a:xfrm>
          <a:custGeom>
            <a:avLst/>
            <a:gdLst/>
            <a:ahLst/>
            <a:cxnLst/>
            <a:rect l="l" t="t" r="r" b="b"/>
            <a:pathLst>
              <a:path w="666750" h="647700">
                <a:moveTo>
                  <a:pt x="0" y="0"/>
                </a:moveTo>
                <a:lnTo>
                  <a:pt x="666750" y="0"/>
                </a:lnTo>
                <a:lnTo>
                  <a:pt x="666750" y="647700"/>
                </a:lnTo>
                <a:lnTo>
                  <a:pt x="0" y="647700"/>
                </a:lnTo>
                <a:lnTo>
                  <a:pt x="0" y="0"/>
                </a:lnTo>
                <a:close/>
              </a:path>
            </a:pathLst>
          </a:custGeom>
          <a:blipFill>
            <a:blip r:embed="rId17"/>
            <a:stretch>
              <a:fillRect/>
            </a:stretch>
          </a:blipFill>
        </p:spPr>
      </p:sp>
      <p:sp>
        <p:nvSpPr>
          <p:cNvPr id="33" name="TextBox 24">
            <a:extLst>
              <a:ext uri="{FF2B5EF4-FFF2-40B4-BE49-F238E27FC236}">
                <a16:creationId xmlns:a16="http://schemas.microsoft.com/office/drawing/2014/main" id="{FC72FC60-6303-932E-4E64-2AD03A6E5BA0}"/>
              </a:ext>
            </a:extLst>
          </p:cNvPr>
          <p:cNvSpPr txBox="1"/>
          <p:nvPr/>
        </p:nvSpPr>
        <p:spPr>
          <a:xfrm>
            <a:off x="7142141" y="4912009"/>
            <a:ext cx="2816352" cy="692497"/>
          </a:xfrm>
          <a:prstGeom prst="rect">
            <a:avLst/>
          </a:prstGeom>
        </p:spPr>
        <p:txBody>
          <a:bodyPr lIns="0" tIns="0" rIns="0" bIns="0" rtlCol="0" anchor="t">
            <a:spAutoFit/>
          </a:bodyPr>
          <a:lstStyle/>
          <a:p>
            <a:pPr algn="l">
              <a:lnSpc>
                <a:spcPts val="1783"/>
              </a:lnSpc>
            </a:pPr>
            <a:r>
              <a:rPr lang="en-US" dirty="0">
                <a:latin typeface="Roboto"/>
                <a:ea typeface="Roboto"/>
                <a:cs typeface="Roboto"/>
                <a:sym typeface="Roboto"/>
              </a:rPr>
              <a:t>Satellite observations are snapshots, not future predictions</a:t>
            </a:r>
          </a:p>
        </p:txBody>
      </p:sp>
      <p:sp>
        <p:nvSpPr>
          <p:cNvPr id="34" name="Freeform 25">
            <a:extLst>
              <a:ext uri="{FF2B5EF4-FFF2-40B4-BE49-F238E27FC236}">
                <a16:creationId xmlns:a16="http://schemas.microsoft.com/office/drawing/2014/main" id="{021E4BC3-7202-B637-6913-5C011165D1E5}"/>
              </a:ext>
            </a:extLst>
          </p:cNvPr>
          <p:cNvSpPr/>
          <p:nvPr/>
        </p:nvSpPr>
        <p:spPr>
          <a:xfrm>
            <a:off x="6384028" y="5934409"/>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18"/>
            <a:stretch>
              <a:fillRect/>
            </a:stretch>
          </a:blipFill>
        </p:spPr>
      </p:sp>
      <p:sp>
        <p:nvSpPr>
          <p:cNvPr id="35" name="TextBox 26">
            <a:extLst>
              <a:ext uri="{FF2B5EF4-FFF2-40B4-BE49-F238E27FC236}">
                <a16:creationId xmlns:a16="http://schemas.microsoft.com/office/drawing/2014/main" id="{D73B17CE-14D4-77A4-AD66-77A2A49F586F}"/>
              </a:ext>
            </a:extLst>
          </p:cNvPr>
          <p:cNvSpPr txBox="1"/>
          <p:nvPr/>
        </p:nvSpPr>
        <p:spPr>
          <a:xfrm>
            <a:off x="7125270" y="5748556"/>
            <a:ext cx="2603515" cy="974626"/>
          </a:xfrm>
          <a:prstGeom prst="rect">
            <a:avLst/>
          </a:prstGeom>
        </p:spPr>
        <p:txBody>
          <a:bodyPr wrap="square" lIns="0" tIns="0" rIns="0" bIns="0" rtlCol="0" anchor="t">
            <a:spAutoFit/>
          </a:bodyPr>
          <a:lstStyle/>
          <a:p>
            <a:pPr algn="l">
              <a:lnSpc>
                <a:spcPts val="1901"/>
              </a:lnSpc>
            </a:pPr>
            <a:r>
              <a:rPr lang="en-US" dirty="0">
                <a:latin typeface="Roboto"/>
                <a:ea typeface="Roboto"/>
                <a:cs typeface="Roboto"/>
                <a:sym typeface="Roboto"/>
              </a:rPr>
              <a:t>Surface currents and wind continuously transport floating material</a:t>
            </a:r>
          </a:p>
        </p:txBody>
      </p:sp>
      <p:sp>
        <p:nvSpPr>
          <p:cNvPr id="36" name="Freeform 27">
            <a:extLst>
              <a:ext uri="{FF2B5EF4-FFF2-40B4-BE49-F238E27FC236}">
                <a16:creationId xmlns:a16="http://schemas.microsoft.com/office/drawing/2014/main" id="{34BD0F65-F17A-D98E-546A-2F9D5B0A9F83}"/>
              </a:ext>
            </a:extLst>
          </p:cNvPr>
          <p:cNvSpPr/>
          <p:nvPr/>
        </p:nvSpPr>
        <p:spPr>
          <a:xfrm>
            <a:off x="6362389" y="6733210"/>
            <a:ext cx="666750" cy="857250"/>
          </a:xfrm>
          <a:custGeom>
            <a:avLst/>
            <a:gdLst/>
            <a:ahLst/>
            <a:cxnLst/>
            <a:rect l="l" t="t" r="r" b="b"/>
            <a:pathLst>
              <a:path w="666750" h="857250">
                <a:moveTo>
                  <a:pt x="0" y="0"/>
                </a:moveTo>
                <a:lnTo>
                  <a:pt x="666750" y="0"/>
                </a:lnTo>
                <a:lnTo>
                  <a:pt x="666750" y="857250"/>
                </a:lnTo>
                <a:lnTo>
                  <a:pt x="0" y="857250"/>
                </a:lnTo>
                <a:lnTo>
                  <a:pt x="0" y="0"/>
                </a:lnTo>
                <a:close/>
              </a:path>
            </a:pathLst>
          </a:custGeom>
          <a:blipFill>
            <a:blip r:embed="rId19"/>
            <a:stretch>
              <a:fillRect/>
            </a:stretch>
          </a:blipFill>
        </p:spPr>
      </p:sp>
      <p:sp>
        <p:nvSpPr>
          <p:cNvPr id="37" name="TextBox 28">
            <a:extLst>
              <a:ext uri="{FF2B5EF4-FFF2-40B4-BE49-F238E27FC236}">
                <a16:creationId xmlns:a16="http://schemas.microsoft.com/office/drawing/2014/main" id="{F3FA6DD3-85E6-6F97-B429-F00DFF3B30B1}"/>
              </a:ext>
            </a:extLst>
          </p:cNvPr>
          <p:cNvSpPr txBox="1"/>
          <p:nvPr/>
        </p:nvSpPr>
        <p:spPr>
          <a:xfrm>
            <a:off x="7142141" y="6807241"/>
            <a:ext cx="2926080" cy="730969"/>
          </a:xfrm>
          <a:prstGeom prst="rect">
            <a:avLst/>
          </a:prstGeom>
        </p:spPr>
        <p:txBody>
          <a:bodyPr lIns="0" tIns="0" rIns="0" bIns="0" rtlCol="0" anchor="t">
            <a:spAutoFit/>
          </a:bodyPr>
          <a:lstStyle/>
          <a:p>
            <a:pPr algn="l">
              <a:lnSpc>
                <a:spcPts val="1940"/>
              </a:lnSpc>
            </a:pPr>
            <a:r>
              <a:rPr lang="en-US" dirty="0">
                <a:latin typeface="Roboto"/>
                <a:ea typeface="Roboto"/>
                <a:cs typeface="Roboto"/>
                <a:sym typeface="Roboto"/>
              </a:rPr>
              <a:t>Cleanup resources are limited — priority zones must be identified</a:t>
            </a:r>
          </a:p>
        </p:txBody>
      </p:sp>
      <p:sp>
        <p:nvSpPr>
          <p:cNvPr id="38" name="Freeform 29">
            <a:extLst>
              <a:ext uri="{FF2B5EF4-FFF2-40B4-BE49-F238E27FC236}">
                <a16:creationId xmlns:a16="http://schemas.microsoft.com/office/drawing/2014/main" id="{C4611CAB-32CC-2E94-BCB0-8774AB1974CD}"/>
              </a:ext>
            </a:extLst>
          </p:cNvPr>
          <p:cNvSpPr/>
          <p:nvPr/>
        </p:nvSpPr>
        <p:spPr>
          <a:xfrm>
            <a:off x="6174085" y="7572743"/>
            <a:ext cx="4143375" cy="1285875"/>
          </a:xfrm>
          <a:custGeom>
            <a:avLst/>
            <a:gdLst/>
            <a:ahLst/>
            <a:cxnLst/>
            <a:rect l="l" t="t" r="r" b="b"/>
            <a:pathLst>
              <a:path w="4143375" h="1285875">
                <a:moveTo>
                  <a:pt x="0" y="0"/>
                </a:moveTo>
                <a:lnTo>
                  <a:pt x="4143375" y="0"/>
                </a:lnTo>
                <a:lnTo>
                  <a:pt x="4143375" y="1285875"/>
                </a:lnTo>
                <a:lnTo>
                  <a:pt x="0" y="1285875"/>
                </a:lnTo>
                <a:lnTo>
                  <a:pt x="0" y="0"/>
                </a:lnTo>
                <a:close/>
              </a:path>
            </a:pathLst>
          </a:custGeom>
          <a:blipFill>
            <a:blip r:embed="rId20"/>
            <a:stretch>
              <a:fillRect/>
            </a:stretch>
          </a:blipFill>
        </p:spPr>
      </p:sp>
      <p:sp>
        <p:nvSpPr>
          <p:cNvPr id="39" name="TextBox 30">
            <a:extLst>
              <a:ext uri="{FF2B5EF4-FFF2-40B4-BE49-F238E27FC236}">
                <a16:creationId xmlns:a16="http://schemas.microsoft.com/office/drawing/2014/main" id="{E5340EB8-1E86-8CDB-8591-3A5CEE497AFD}"/>
              </a:ext>
            </a:extLst>
          </p:cNvPr>
          <p:cNvSpPr txBox="1"/>
          <p:nvPr/>
        </p:nvSpPr>
        <p:spPr>
          <a:xfrm>
            <a:off x="6799371" y="7800010"/>
            <a:ext cx="3182112" cy="815459"/>
          </a:xfrm>
          <a:prstGeom prst="rect">
            <a:avLst/>
          </a:prstGeom>
        </p:spPr>
        <p:txBody>
          <a:bodyPr lIns="0" tIns="0" rIns="0" bIns="0" rtlCol="0" anchor="t">
            <a:spAutoFit/>
          </a:bodyPr>
          <a:lstStyle/>
          <a:p>
            <a:pPr algn="l">
              <a:lnSpc>
                <a:spcPts val="2155"/>
              </a:lnSpc>
            </a:pPr>
            <a:r>
              <a:rPr lang="en-US" sz="1959" b="1" dirty="0">
                <a:solidFill>
                  <a:srgbClr val="FFFFFF"/>
                </a:solidFill>
                <a:latin typeface="Roboto Bold"/>
                <a:ea typeface="Roboto Bold"/>
                <a:cs typeface="Roboto Bold"/>
                <a:sym typeface="Roboto Bold"/>
              </a:rPr>
              <a:t>How can we detect potential hotspots early and forecast their likely movement?</a:t>
            </a:r>
          </a:p>
        </p:txBody>
      </p:sp>
      <p:sp>
        <p:nvSpPr>
          <p:cNvPr id="40" name="Freeform 31">
            <a:extLst>
              <a:ext uri="{FF2B5EF4-FFF2-40B4-BE49-F238E27FC236}">
                <a16:creationId xmlns:a16="http://schemas.microsoft.com/office/drawing/2014/main" id="{FE2460D5-A4BC-8FE0-5E84-3955BD420034}"/>
              </a:ext>
            </a:extLst>
          </p:cNvPr>
          <p:cNvSpPr/>
          <p:nvPr/>
        </p:nvSpPr>
        <p:spPr>
          <a:xfrm>
            <a:off x="5650145" y="5619137"/>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21"/>
            <a:stretch>
              <a:fillRect/>
            </a:stretch>
          </a:blipFill>
        </p:spPr>
      </p:sp>
      <p:sp>
        <p:nvSpPr>
          <p:cNvPr id="41" name="Freeform 32">
            <a:extLst>
              <a:ext uri="{FF2B5EF4-FFF2-40B4-BE49-F238E27FC236}">
                <a16:creationId xmlns:a16="http://schemas.microsoft.com/office/drawing/2014/main" id="{08F3E5AD-C163-AE5A-69D6-511216D528DB}"/>
              </a:ext>
            </a:extLst>
          </p:cNvPr>
          <p:cNvSpPr/>
          <p:nvPr/>
        </p:nvSpPr>
        <p:spPr>
          <a:xfrm>
            <a:off x="10484499" y="3542605"/>
            <a:ext cx="219075" cy="5143500"/>
          </a:xfrm>
          <a:custGeom>
            <a:avLst/>
            <a:gdLst/>
            <a:ahLst/>
            <a:cxnLst/>
            <a:rect l="l" t="t" r="r" b="b"/>
            <a:pathLst>
              <a:path w="219075" h="5143500">
                <a:moveTo>
                  <a:pt x="0" y="0"/>
                </a:moveTo>
                <a:lnTo>
                  <a:pt x="219075" y="0"/>
                </a:lnTo>
                <a:lnTo>
                  <a:pt x="219075" y="5143500"/>
                </a:lnTo>
                <a:lnTo>
                  <a:pt x="0" y="5143500"/>
                </a:lnTo>
                <a:lnTo>
                  <a:pt x="0" y="0"/>
                </a:lnTo>
                <a:close/>
              </a:path>
            </a:pathLst>
          </a:custGeom>
          <a:blipFill>
            <a:blip r:embed="rId22"/>
            <a:stretch>
              <a:fillRect/>
            </a:stretch>
          </a:blipFill>
        </p:spPr>
      </p:sp>
      <p:sp>
        <p:nvSpPr>
          <p:cNvPr id="42" name="TextBox 33">
            <a:extLst>
              <a:ext uri="{FF2B5EF4-FFF2-40B4-BE49-F238E27FC236}">
                <a16:creationId xmlns:a16="http://schemas.microsoft.com/office/drawing/2014/main" id="{4C123718-114E-FCD7-9919-CBA9D52A4A2C}"/>
              </a:ext>
            </a:extLst>
          </p:cNvPr>
          <p:cNvSpPr txBox="1"/>
          <p:nvPr/>
        </p:nvSpPr>
        <p:spPr>
          <a:xfrm>
            <a:off x="11029638" y="2878146"/>
            <a:ext cx="4161803" cy="295722"/>
          </a:xfrm>
          <a:prstGeom prst="rect">
            <a:avLst/>
          </a:prstGeom>
        </p:spPr>
        <p:txBody>
          <a:bodyPr wrap="square" lIns="0" tIns="0" rIns="0" bIns="0" rtlCol="0" anchor="t">
            <a:spAutoFit/>
          </a:bodyPr>
          <a:lstStyle/>
          <a:p>
            <a:pPr algn="ctr">
              <a:lnSpc>
                <a:spcPts val="2269"/>
              </a:lnSpc>
            </a:pPr>
            <a:r>
              <a:rPr lang="en-US" sz="2200" b="1" dirty="0">
                <a:solidFill>
                  <a:srgbClr val="997CD1"/>
                </a:solidFill>
                <a:latin typeface="Roboto Bold"/>
                <a:ea typeface="Roboto Bold"/>
                <a:cs typeface="Roboto Bold"/>
                <a:sym typeface="Roboto Bold"/>
              </a:rPr>
              <a:t>03 | REAL-WORLD VALIDATION</a:t>
            </a:r>
          </a:p>
        </p:txBody>
      </p:sp>
      <p:sp>
        <p:nvSpPr>
          <p:cNvPr id="43" name="Freeform 34">
            <a:extLst>
              <a:ext uri="{FF2B5EF4-FFF2-40B4-BE49-F238E27FC236}">
                <a16:creationId xmlns:a16="http://schemas.microsoft.com/office/drawing/2014/main" id="{4B85BC7F-24B5-2695-723D-83D9DC2D5409}"/>
              </a:ext>
            </a:extLst>
          </p:cNvPr>
          <p:cNvSpPr/>
          <p:nvPr/>
        </p:nvSpPr>
        <p:spPr>
          <a:xfrm>
            <a:off x="10934389" y="3231524"/>
            <a:ext cx="2409825" cy="2790825"/>
          </a:xfrm>
          <a:custGeom>
            <a:avLst/>
            <a:gdLst/>
            <a:ahLst/>
            <a:cxnLst/>
            <a:rect l="l" t="t" r="r" b="b"/>
            <a:pathLst>
              <a:path w="2409825" h="2790825">
                <a:moveTo>
                  <a:pt x="0" y="0"/>
                </a:moveTo>
                <a:lnTo>
                  <a:pt x="2409825" y="0"/>
                </a:lnTo>
                <a:lnTo>
                  <a:pt x="2409825" y="2790825"/>
                </a:lnTo>
                <a:lnTo>
                  <a:pt x="0" y="2790825"/>
                </a:lnTo>
                <a:lnTo>
                  <a:pt x="0" y="0"/>
                </a:lnTo>
                <a:close/>
              </a:path>
            </a:pathLst>
          </a:custGeom>
          <a:blipFill>
            <a:blip r:embed="rId23"/>
            <a:stretch>
              <a:fillRect/>
            </a:stretch>
          </a:blipFill>
        </p:spPr>
      </p:sp>
      <p:sp>
        <p:nvSpPr>
          <p:cNvPr id="44" name="TextBox 35">
            <a:extLst>
              <a:ext uri="{FF2B5EF4-FFF2-40B4-BE49-F238E27FC236}">
                <a16:creationId xmlns:a16="http://schemas.microsoft.com/office/drawing/2014/main" id="{048D3380-EEBF-9A81-0682-EF145149A0C5}"/>
              </a:ext>
            </a:extLst>
          </p:cNvPr>
          <p:cNvSpPr txBox="1"/>
          <p:nvPr/>
        </p:nvSpPr>
        <p:spPr>
          <a:xfrm>
            <a:off x="11130579" y="6022349"/>
            <a:ext cx="1869186" cy="221214"/>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Ocean circulation</a:t>
            </a:r>
          </a:p>
        </p:txBody>
      </p:sp>
      <p:sp>
        <p:nvSpPr>
          <p:cNvPr id="45" name="Freeform 36">
            <a:extLst>
              <a:ext uri="{FF2B5EF4-FFF2-40B4-BE49-F238E27FC236}">
                <a16:creationId xmlns:a16="http://schemas.microsoft.com/office/drawing/2014/main" id="{11017370-6329-36C4-66A4-78F2080A4514}"/>
              </a:ext>
            </a:extLst>
          </p:cNvPr>
          <p:cNvSpPr/>
          <p:nvPr/>
        </p:nvSpPr>
        <p:spPr>
          <a:xfrm>
            <a:off x="13115614" y="3231524"/>
            <a:ext cx="2400300" cy="2790825"/>
          </a:xfrm>
          <a:custGeom>
            <a:avLst/>
            <a:gdLst/>
            <a:ahLst/>
            <a:cxnLst/>
            <a:rect l="l" t="t" r="r" b="b"/>
            <a:pathLst>
              <a:path w="2400300" h="2790825">
                <a:moveTo>
                  <a:pt x="0" y="0"/>
                </a:moveTo>
                <a:lnTo>
                  <a:pt x="2400300" y="0"/>
                </a:lnTo>
                <a:lnTo>
                  <a:pt x="2400300" y="2790825"/>
                </a:lnTo>
                <a:lnTo>
                  <a:pt x="0" y="2790825"/>
                </a:lnTo>
                <a:lnTo>
                  <a:pt x="0" y="0"/>
                </a:lnTo>
                <a:close/>
              </a:path>
            </a:pathLst>
          </a:custGeom>
          <a:blipFill>
            <a:blip r:embed="rId24"/>
            <a:stretch>
              <a:fillRect/>
            </a:stretch>
          </a:blipFill>
        </p:spPr>
      </p:sp>
      <p:sp>
        <p:nvSpPr>
          <p:cNvPr id="46" name="TextBox 37">
            <a:extLst>
              <a:ext uri="{FF2B5EF4-FFF2-40B4-BE49-F238E27FC236}">
                <a16:creationId xmlns:a16="http://schemas.microsoft.com/office/drawing/2014/main" id="{3CEF18EB-36ED-B177-C3D1-F839F780092E}"/>
              </a:ext>
            </a:extLst>
          </p:cNvPr>
          <p:cNvSpPr txBox="1"/>
          <p:nvPr/>
        </p:nvSpPr>
        <p:spPr>
          <a:xfrm>
            <a:off x="13034152" y="6022920"/>
            <a:ext cx="2690562" cy="220445"/>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Land → River → Ocean</a:t>
            </a:r>
          </a:p>
        </p:txBody>
      </p:sp>
      <p:sp>
        <p:nvSpPr>
          <p:cNvPr id="47" name="Freeform 38">
            <a:extLst>
              <a:ext uri="{FF2B5EF4-FFF2-40B4-BE49-F238E27FC236}">
                <a16:creationId xmlns:a16="http://schemas.microsoft.com/office/drawing/2014/main" id="{6D4DD95F-BC61-6554-42A5-34F8618ACE17}"/>
              </a:ext>
            </a:extLst>
          </p:cNvPr>
          <p:cNvSpPr/>
          <p:nvPr/>
        </p:nvSpPr>
        <p:spPr>
          <a:xfrm>
            <a:off x="15506389" y="3231524"/>
            <a:ext cx="2409825" cy="2790825"/>
          </a:xfrm>
          <a:custGeom>
            <a:avLst/>
            <a:gdLst/>
            <a:ahLst/>
            <a:cxnLst/>
            <a:rect l="l" t="t" r="r" b="b"/>
            <a:pathLst>
              <a:path w="2409825" h="2790825">
                <a:moveTo>
                  <a:pt x="0" y="0"/>
                </a:moveTo>
                <a:lnTo>
                  <a:pt x="2409825" y="0"/>
                </a:lnTo>
                <a:lnTo>
                  <a:pt x="2409825" y="2790825"/>
                </a:lnTo>
                <a:lnTo>
                  <a:pt x="0" y="2790825"/>
                </a:lnTo>
                <a:lnTo>
                  <a:pt x="0" y="0"/>
                </a:lnTo>
                <a:close/>
              </a:path>
            </a:pathLst>
          </a:custGeom>
          <a:blipFill>
            <a:blip r:embed="rId25"/>
            <a:stretch>
              <a:fillRect/>
            </a:stretch>
          </a:blipFill>
        </p:spPr>
      </p:sp>
      <p:sp>
        <p:nvSpPr>
          <p:cNvPr id="48" name="TextBox 39">
            <a:extLst>
              <a:ext uri="{FF2B5EF4-FFF2-40B4-BE49-F238E27FC236}">
                <a16:creationId xmlns:a16="http://schemas.microsoft.com/office/drawing/2014/main" id="{082D0080-BE1B-9AB5-866D-E3C841CC6930}"/>
              </a:ext>
            </a:extLst>
          </p:cNvPr>
          <p:cNvSpPr txBox="1"/>
          <p:nvPr/>
        </p:nvSpPr>
        <p:spPr>
          <a:xfrm>
            <a:off x="15325999" y="6003399"/>
            <a:ext cx="3180325" cy="220445"/>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Transport → Accumulation</a:t>
            </a:r>
          </a:p>
        </p:txBody>
      </p:sp>
      <p:sp>
        <p:nvSpPr>
          <p:cNvPr id="49" name="Freeform 40">
            <a:extLst>
              <a:ext uri="{FF2B5EF4-FFF2-40B4-BE49-F238E27FC236}">
                <a16:creationId xmlns:a16="http://schemas.microsoft.com/office/drawing/2014/main" id="{EB095E4F-9CF9-FAC0-D7F0-A072C2FA60B0}"/>
              </a:ext>
            </a:extLst>
          </p:cNvPr>
          <p:cNvSpPr/>
          <p:nvPr/>
        </p:nvSpPr>
        <p:spPr>
          <a:xfrm>
            <a:off x="10461734" y="5619137"/>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26"/>
            <a:stretch>
              <a:fillRect/>
            </a:stretch>
          </a:blipFill>
        </p:spPr>
      </p:sp>
      <p:sp>
        <p:nvSpPr>
          <p:cNvPr id="50" name="Freeform 41">
            <a:extLst>
              <a:ext uri="{FF2B5EF4-FFF2-40B4-BE49-F238E27FC236}">
                <a16:creationId xmlns:a16="http://schemas.microsoft.com/office/drawing/2014/main" id="{D4974A5C-DF41-57DB-713C-0A4FEFD37C8D}"/>
              </a:ext>
            </a:extLst>
          </p:cNvPr>
          <p:cNvSpPr/>
          <p:nvPr/>
        </p:nvSpPr>
        <p:spPr>
          <a:xfrm>
            <a:off x="12029764" y="6450974"/>
            <a:ext cx="4581525" cy="2143125"/>
          </a:xfrm>
          <a:custGeom>
            <a:avLst/>
            <a:gdLst/>
            <a:ahLst/>
            <a:cxnLst/>
            <a:rect l="l" t="t" r="r" b="b"/>
            <a:pathLst>
              <a:path w="4581525" h="2143125">
                <a:moveTo>
                  <a:pt x="0" y="0"/>
                </a:moveTo>
                <a:lnTo>
                  <a:pt x="4581525" y="0"/>
                </a:lnTo>
                <a:lnTo>
                  <a:pt x="4581525" y="2143125"/>
                </a:lnTo>
                <a:lnTo>
                  <a:pt x="0" y="2143125"/>
                </a:lnTo>
                <a:lnTo>
                  <a:pt x="0" y="0"/>
                </a:lnTo>
                <a:close/>
              </a:path>
            </a:pathLst>
          </a:custGeom>
          <a:blipFill>
            <a:blip r:embed="rId27"/>
            <a:stretch>
              <a:fillRect/>
            </a:stretch>
          </a:blipFill>
        </p:spPr>
      </p:sp>
      <p:sp>
        <p:nvSpPr>
          <p:cNvPr id="51" name="TextBox 42">
            <a:extLst>
              <a:ext uri="{FF2B5EF4-FFF2-40B4-BE49-F238E27FC236}">
                <a16:creationId xmlns:a16="http://schemas.microsoft.com/office/drawing/2014/main" id="{BE2C901E-0D53-65AB-A9B6-221197F26D78}"/>
              </a:ext>
            </a:extLst>
          </p:cNvPr>
          <p:cNvSpPr txBox="1"/>
          <p:nvPr/>
        </p:nvSpPr>
        <p:spPr>
          <a:xfrm>
            <a:off x="12620695" y="6987999"/>
            <a:ext cx="3364992" cy="385941"/>
          </a:xfrm>
          <a:prstGeom prst="rect">
            <a:avLst/>
          </a:prstGeom>
        </p:spPr>
        <p:txBody>
          <a:bodyPr lIns="0" tIns="0" rIns="0" bIns="0" rtlCol="0" anchor="t">
            <a:spAutoFit/>
          </a:bodyPr>
          <a:lstStyle/>
          <a:p>
            <a:pPr algn="ctr">
              <a:lnSpc>
                <a:spcPts val="2902"/>
              </a:lnSpc>
            </a:pPr>
            <a:r>
              <a:rPr lang="en-US" sz="2639" b="1" dirty="0">
                <a:latin typeface="Roboto Bold"/>
                <a:ea typeface="Roboto Bold"/>
                <a:cs typeface="Roboto Bold"/>
                <a:sym typeface="Roboto Bold"/>
              </a:rPr>
              <a:t>11+ MILLION TONNES</a:t>
            </a:r>
          </a:p>
        </p:txBody>
      </p:sp>
      <p:sp>
        <p:nvSpPr>
          <p:cNvPr id="52" name="Freeform 43">
            <a:extLst>
              <a:ext uri="{FF2B5EF4-FFF2-40B4-BE49-F238E27FC236}">
                <a16:creationId xmlns:a16="http://schemas.microsoft.com/office/drawing/2014/main" id="{4CAF3E35-3E64-B28C-D940-E18096880F55}"/>
              </a:ext>
            </a:extLst>
          </p:cNvPr>
          <p:cNvSpPr/>
          <p:nvPr/>
        </p:nvSpPr>
        <p:spPr>
          <a:xfrm flipV="1">
            <a:off x="168852" y="8965549"/>
            <a:ext cx="18288000" cy="294549"/>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28"/>
            <a:stretch>
              <a:fillRect/>
            </a:stretch>
          </a:blipFill>
        </p:spPr>
        <p:txBody>
          <a:bodyPr/>
          <a:lstStyle/>
          <a:p>
            <a:endParaRPr lang="en-IN" dirty="0"/>
          </a:p>
        </p:txBody>
      </p:sp>
      <p:sp>
        <p:nvSpPr>
          <p:cNvPr id="53" name="TextBox 44">
            <a:extLst>
              <a:ext uri="{FF2B5EF4-FFF2-40B4-BE49-F238E27FC236}">
                <a16:creationId xmlns:a16="http://schemas.microsoft.com/office/drawing/2014/main" id="{7645115C-DA00-F6C3-7500-266EF5CB2A81}"/>
              </a:ext>
            </a:extLst>
          </p:cNvPr>
          <p:cNvSpPr txBox="1"/>
          <p:nvPr/>
        </p:nvSpPr>
        <p:spPr>
          <a:xfrm>
            <a:off x="267139" y="9213078"/>
            <a:ext cx="8521561" cy="428835"/>
          </a:xfrm>
          <a:prstGeom prst="rect">
            <a:avLst/>
          </a:prstGeom>
        </p:spPr>
        <p:txBody>
          <a:bodyPr wrap="square" lIns="0" tIns="0" rIns="0" bIns="0" rtlCol="0" anchor="t">
            <a:spAutoFit/>
          </a:bodyPr>
          <a:lstStyle/>
          <a:p>
            <a:pPr algn="r">
              <a:lnSpc>
                <a:spcPts val="3218"/>
              </a:lnSpc>
            </a:pPr>
            <a:r>
              <a:rPr lang="en-US" sz="3576" b="1" dirty="0">
                <a:solidFill>
                  <a:schemeClr val="accent4"/>
                </a:solidFill>
                <a:latin typeface="Roboto Bold"/>
                <a:ea typeface="Roboto Bold"/>
                <a:cs typeface="Roboto Bold"/>
                <a:sym typeface="Roboto Bold"/>
              </a:rPr>
              <a:t>TODAY: WHERE IS THE DEBRIS?</a:t>
            </a:r>
          </a:p>
        </p:txBody>
      </p:sp>
      <p:sp>
        <p:nvSpPr>
          <p:cNvPr id="54" name="TextBox 45">
            <a:extLst>
              <a:ext uri="{FF2B5EF4-FFF2-40B4-BE49-F238E27FC236}">
                <a16:creationId xmlns:a16="http://schemas.microsoft.com/office/drawing/2014/main" id="{AA8F1FC2-6DFE-5FB7-DA2E-9521BAF1FAAA}"/>
              </a:ext>
            </a:extLst>
          </p:cNvPr>
          <p:cNvSpPr txBox="1"/>
          <p:nvPr/>
        </p:nvSpPr>
        <p:spPr>
          <a:xfrm>
            <a:off x="824935" y="5977010"/>
            <a:ext cx="694944" cy="228600"/>
          </a:xfrm>
          <a:prstGeom prst="rect">
            <a:avLst/>
          </a:prstGeom>
        </p:spPr>
        <p:txBody>
          <a:bodyPr lIns="0" tIns="0" rIns="0" bIns="0" rtlCol="0" anchor="t">
            <a:spAutoFit/>
          </a:bodyPr>
          <a:lstStyle/>
          <a:p>
            <a:pPr algn="ctr">
              <a:lnSpc>
                <a:spcPts val="1783"/>
              </a:lnSpc>
            </a:pPr>
            <a:r>
              <a:rPr lang="en-US" sz="1485" b="1" dirty="0">
                <a:latin typeface="Roboto Bold"/>
                <a:ea typeface="Roboto Bold"/>
                <a:cs typeface="Roboto Bold"/>
                <a:sym typeface="Roboto Bold"/>
              </a:rPr>
              <a:t>DETECT</a:t>
            </a:r>
          </a:p>
        </p:txBody>
      </p:sp>
      <p:sp>
        <p:nvSpPr>
          <p:cNvPr id="55" name="TextBox 46">
            <a:extLst>
              <a:ext uri="{FF2B5EF4-FFF2-40B4-BE49-F238E27FC236}">
                <a16:creationId xmlns:a16="http://schemas.microsoft.com/office/drawing/2014/main" id="{384FAD96-0813-471E-673D-BD1A0CD01BD4}"/>
              </a:ext>
            </a:extLst>
          </p:cNvPr>
          <p:cNvSpPr txBox="1"/>
          <p:nvPr/>
        </p:nvSpPr>
        <p:spPr>
          <a:xfrm>
            <a:off x="2068519" y="5967485"/>
            <a:ext cx="694944" cy="247650"/>
          </a:xfrm>
          <a:prstGeom prst="rect">
            <a:avLst/>
          </a:prstGeom>
        </p:spPr>
        <p:txBody>
          <a:bodyPr lIns="0" tIns="0" rIns="0" bIns="0" rtlCol="0" anchor="t">
            <a:spAutoFit/>
          </a:bodyPr>
          <a:lstStyle/>
          <a:p>
            <a:pPr algn="ctr">
              <a:lnSpc>
                <a:spcPts val="1940"/>
              </a:lnSpc>
            </a:pPr>
            <a:r>
              <a:rPr lang="en-US" sz="1617" b="1" dirty="0">
                <a:latin typeface="Roboto Bold"/>
                <a:ea typeface="Roboto Bold"/>
                <a:cs typeface="Roboto Bold"/>
                <a:sym typeface="Roboto Bold"/>
              </a:rPr>
              <a:t>TRACK</a:t>
            </a:r>
          </a:p>
        </p:txBody>
      </p:sp>
      <p:sp>
        <p:nvSpPr>
          <p:cNvPr id="56" name="TextBox 47">
            <a:extLst>
              <a:ext uri="{FF2B5EF4-FFF2-40B4-BE49-F238E27FC236}">
                <a16:creationId xmlns:a16="http://schemas.microsoft.com/office/drawing/2014/main" id="{597AF43B-5EA2-385E-FD1D-F4B927B8BE1D}"/>
              </a:ext>
            </a:extLst>
          </p:cNvPr>
          <p:cNvSpPr txBox="1"/>
          <p:nvPr/>
        </p:nvSpPr>
        <p:spPr>
          <a:xfrm>
            <a:off x="3238951" y="5977010"/>
            <a:ext cx="950976" cy="228600"/>
          </a:xfrm>
          <a:prstGeom prst="rect">
            <a:avLst/>
          </a:prstGeom>
        </p:spPr>
        <p:txBody>
          <a:bodyPr lIns="0" tIns="0" rIns="0" bIns="0" rtlCol="0" anchor="t">
            <a:spAutoFit/>
          </a:bodyPr>
          <a:lstStyle/>
          <a:p>
            <a:pPr algn="ctr">
              <a:lnSpc>
                <a:spcPts val="1783"/>
              </a:lnSpc>
            </a:pPr>
            <a:r>
              <a:rPr lang="en-US" sz="1485" b="1" dirty="0">
                <a:latin typeface="Roboto Bold"/>
                <a:ea typeface="Roboto Bold"/>
                <a:cs typeface="Roboto Bold"/>
                <a:sym typeface="Roboto Bold"/>
              </a:rPr>
              <a:t>FORECAST</a:t>
            </a:r>
          </a:p>
        </p:txBody>
      </p:sp>
      <p:sp>
        <p:nvSpPr>
          <p:cNvPr id="57" name="TextBox 48">
            <a:extLst>
              <a:ext uri="{FF2B5EF4-FFF2-40B4-BE49-F238E27FC236}">
                <a16:creationId xmlns:a16="http://schemas.microsoft.com/office/drawing/2014/main" id="{4DF2CB1D-7707-A357-8095-C75AC7A62721}"/>
              </a:ext>
            </a:extLst>
          </p:cNvPr>
          <p:cNvSpPr txBox="1"/>
          <p:nvPr/>
        </p:nvSpPr>
        <p:spPr>
          <a:xfrm>
            <a:off x="4665415" y="5981772"/>
            <a:ext cx="950976" cy="219075"/>
          </a:xfrm>
          <a:prstGeom prst="rect">
            <a:avLst/>
          </a:prstGeom>
        </p:spPr>
        <p:txBody>
          <a:bodyPr lIns="0" tIns="0" rIns="0" bIns="0" rtlCol="0" anchor="t">
            <a:spAutoFit/>
          </a:bodyPr>
          <a:lstStyle/>
          <a:p>
            <a:pPr algn="ctr">
              <a:lnSpc>
                <a:spcPts val="1704"/>
              </a:lnSpc>
            </a:pPr>
            <a:r>
              <a:rPr lang="en-US" sz="1420" b="1" dirty="0">
                <a:latin typeface="Roboto Bold"/>
                <a:ea typeface="Roboto Bold"/>
                <a:cs typeface="Roboto Bold"/>
                <a:sym typeface="Roboto Bold"/>
              </a:rPr>
              <a:t>PRIORITIZE</a:t>
            </a:r>
          </a:p>
        </p:txBody>
      </p:sp>
      <p:sp>
        <p:nvSpPr>
          <p:cNvPr id="58" name="TextBox 49">
            <a:extLst>
              <a:ext uri="{FF2B5EF4-FFF2-40B4-BE49-F238E27FC236}">
                <a16:creationId xmlns:a16="http://schemas.microsoft.com/office/drawing/2014/main" id="{D8846E6D-0358-371B-69EF-517E4B57741C}"/>
              </a:ext>
            </a:extLst>
          </p:cNvPr>
          <p:cNvSpPr txBox="1"/>
          <p:nvPr/>
        </p:nvSpPr>
        <p:spPr>
          <a:xfrm>
            <a:off x="12529255" y="7405855"/>
            <a:ext cx="3566160" cy="665797"/>
          </a:xfrm>
          <a:prstGeom prst="rect">
            <a:avLst/>
          </a:prstGeom>
        </p:spPr>
        <p:txBody>
          <a:bodyPr lIns="0" tIns="0" rIns="0" bIns="0" rtlCol="0" anchor="t">
            <a:spAutoFit/>
          </a:bodyPr>
          <a:lstStyle/>
          <a:p>
            <a:pPr algn="ctr">
              <a:lnSpc>
                <a:spcPts val="2677"/>
              </a:lnSpc>
            </a:pPr>
            <a:r>
              <a:rPr lang="en-US" sz="1912" dirty="0">
                <a:latin typeface="Roboto"/>
                <a:ea typeface="Roboto"/>
                <a:cs typeface="Roboto"/>
                <a:sym typeface="Roboto"/>
              </a:rPr>
              <a:t>plastic enters the ocean annually</a:t>
            </a:r>
          </a:p>
          <a:p>
            <a:pPr algn="ctr">
              <a:lnSpc>
                <a:spcPts val="2677"/>
              </a:lnSpc>
            </a:pPr>
            <a:r>
              <a:rPr lang="en-US" sz="1912" dirty="0">
                <a:latin typeface="Roboto"/>
                <a:ea typeface="Roboto"/>
                <a:cs typeface="Roboto"/>
                <a:sym typeface="Roboto"/>
              </a:rPr>
              <a:t>UNEP</a:t>
            </a:r>
          </a:p>
        </p:txBody>
      </p:sp>
      <p:sp>
        <p:nvSpPr>
          <p:cNvPr id="59" name="TextBox 50">
            <a:extLst>
              <a:ext uri="{FF2B5EF4-FFF2-40B4-BE49-F238E27FC236}">
                <a16:creationId xmlns:a16="http://schemas.microsoft.com/office/drawing/2014/main" id="{80CEF942-4B92-59A1-FD5E-2D5FD7F7BB85}"/>
              </a:ext>
            </a:extLst>
          </p:cNvPr>
          <p:cNvSpPr txBox="1"/>
          <p:nvPr/>
        </p:nvSpPr>
        <p:spPr>
          <a:xfrm>
            <a:off x="5650782" y="9770191"/>
            <a:ext cx="6912864" cy="417165"/>
          </a:xfrm>
          <a:prstGeom prst="rect">
            <a:avLst/>
          </a:prstGeom>
        </p:spPr>
        <p:txBody>
          <a:bodyPr wrap="square" lIns="0" tIns="0" rIns="0" bIns="0" rtlCol="0" anchor="t">
            <a:spAutoFit/>
          </a:bodyPr>
          <a:lstStyle/>
          <a:p>
            <a:pPr algn="ctr">
              <a:lnSpc>
                <a:spcPts val="3375"/>
              </a:lnSpc>
            </a:pPr>
            <a:r>
              <a:rPr lang="en-US" sz="2812" dirty="0" err="1">
                <a:solidFill>
                  <a:schemeClr val="accent4"/>
                </a:solidFill>
                <a:latin typeface="Roboto"/>
                <a:ea typeface="Roboto"/>
                <a:cs typeface="Roboto"/>
                <a:sym typeface="Roboto"/>
              </a:rPr>
              <a:t>AquaTrace</a:t>
            </a:r>
            <a:r>
              <a:rPr lang="en-US" sz="2812" dirty="0">
                <a:solidFill>
                  <a:schemeClr val="accent4"/>
                </a:solidFill>
                <a:latin typeface="Roboto"/>
                <a:ea typeface="Roboto"/>
                <a:cs typeface="Roboto"/>
                <a:sym typeface="Roboto"/>
              </a:rPr>
              <a:t> AI is designed to answer both.</a:t>
            </a:r>
          </a:p>
        </p:txBody>
      </p:sp>
      <p:sp>
        <p:nvSpPr>
          <p:cNvPr id="60" name="TextBox 51">
            <a:extLst>
              <a:ext uri="{FF2B5EF4-FFF2-40B4-BE49-F238E27FC236}">
                <a16:creationId xmlns:a16="http://schemas.microsoft.com/office/drawing/2014/main" id="{6ADD55CA-BA9F-40E1-385A-7513D133BC8A}"/>
              </a:ext>
            </a:extLst>
          </p:cNvPr>
          <p:cNvSpPr txBox="1"/>
          <p:nvPr/>
        </p:nvSpPr>
        <p:spPr>
          <a:xfrm>
            <a:off x="9728784" y="9196199"/>
            <a:ext cx="7640901" cy="428835"/>
          </a:xfrm>
          <a:prstGeom prst="rect">
            <a:avLst/>
          </a:prstGeom>
        </p:spPr>
        <p:txBody>
          <a:bodyPr wrap="square" lIns="0" tIns="0" rIns="0" bIns="0" rtlCol="0" anchor="t">
            <a:spAutoFit/>
          </a:bodyPr>
          <a:lstStyle/>
          <a:p>
            <a:pPr>
              <a:lnSpc>
                <a:spcPts val="3218"/>
              </a:lnSpc>
            </a:pPr>
            <a:r>
              <a:rPr lang="en-US" sz="3576" b="1" dirty="0">
                <a:solidFill>
                  <a:schemeClr val="accent4"/>
                </a:solidFill>
                <a:latin typeface="Roboto Bold"/>
                <a:ea typeface="Roboto Bold"/>
                <a:cs typeface="Roboto Bold"/>
                <a:sym typeface="Roboto Bold"/>
              </a:rPr>
              <a:t>TOMORROW: WHERE WILL IT MOVE?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912"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07936" y="44106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12" name="TextBox 3">
            <a:extLst>
              <a:ext uri="{FF2B5EF4-FFF2-40B4-BE49-F238E27FC236}">
                <a16:creationId xmlns:a16="http://schemas.microsoft.com/office/drawing/2014/main" id="{220F4C82-32E8-8566-FFA5-0E4123E23F6D}"/>
              </a:ext>
            </a:extLst>
          </p:cNvPr>
          <p:cNvSpPr txBox="1"/>
          <p:nvPr/>
        </p:nvSpPr>
        <p:spPr>
          <a:xfrm>
            <a:off x="5562220" y="1239099"/>
            <a:ext cx="7205472" cy="1190262"/>
          </a:xfrm>
          <a:prstGeom prst="rect">
            <a:avLst/>
          </a:prstGeom>
        </p:spPr>
        <p:txBody>
          <a:bodyPr wrap="square" lIns="0" tIns="0" rIns="0" bIns="0" rtlCol="0" anchor="t">
            <a:spAutoFit/>
          </a:bodyPr>
          <a:lstStyle/>
          <a:p>
            <a:pPr algn="ctr">
              <a:lnSpc>
                <a:spcPts val="10185"/>
              </a:lnSpc>
            </a:pPr>
            <a:r>
              <a:rPr lang="en-US" sz="6180" b="1" dirty="0">
                <a:latin typeface="Roboto Condensed Bold"/>
                <a:ea typeface="Roboto Condensed Bold"/>
                <a:cs typeface="Roboto Condensed Bold"/>
                <a:sym typeface="Roboto Condensed Bold"/>
              </a:rPr>
              <a:t>AQUATRACE AI</a:t>
            </a:r>
          </a:p>
        </p:txBody>
      </p:sp>
      <p:sp>
        <p:nvSpPr>
          <p:cNvPr id="13" name="TextBox 4">
            <a:extLst>
              <a:ext uri="{FF2B5EF4-FFF2-40B4-BE49-F238E27FC236}">
                <a16:creationId xmlns:a16="http://schemas.microsoft.com/office/drawing/2014/main" id="{821A3E8E-6C53-0030-AC38-D0729D2184FB}"/>
              </a:ext>
            </a:extLst>
          </p:cNvPr>
          <p:cNvSpPr txBox="1"/>
          <p:nvPr/>
        </p:nvSpPr>
        <p:spPr>
          <a:xfrm>
            <a:off x="2362854" y="2425237"/>
            <a:ext cx="14026924" cy="583558"/>
          </a:xfrm>
          <a:prstGeom prst="rect">
            <a:avLst/>
          </a:prstGeom>
        </p:spPr>
        <p:txBody>
          <a:bodyPr wrap="square" lIns="0" tIns="0" rIns="0" bIns="0" rtlCol="0" anchor="t">
            <a:spAutoFit/>
          </a:bodyPr>
          <a:lstStyle/>
          <a:p>
            <a:pPr algn="ctr">
              <a:lnSpc>
                <a:spcPts val="4762"/>
              </a:lnSpc>
            </a:pPr>
            <a:r>
              <a:rPr lang="en-US" sz="3600" b="1" dirty="0">
                <a:solidFill>
                  <a:schemeClr val="accent4"/>
                </a:solidFill>
                <a:latin typeface="Roboto Condensed Bold"/>
                <a:ea typeface="Roboto Condensed Bold"/>
                <a:cs typeface="Roboto Condensed Bold"/>
                <a:sym typeface="Roboto Condensed Bold"/>
              </a:rPr>
              <a:t>FROM DETECTING DEBRIS TO PREDICTING ITS NEXT MOVE</a:t>
            </a:r>
          </a:p>
        </p:txBody>
      </p:sp>
      <p:sp>
        <p:nvSpPr>
          <p:cNvPr id="14" name="TextBox 5">
            <a:extLst>
              <a:ext uri="{FF2B5EF4-FFF2-40B4-BE49-F238E27FC236}">
                <a16:creationId xmlns:a16="http://schemas.microsoft.com/office/drawing/2014/main" id="{822CAE30-7EE3-E931-5408-3F898C3691CB}"/>
              </a:ext>
            </a:extLst>
          </p:cNvPr>
          <p:cNvSpPr txBox="1"/>
          <p:nvPr/>
        </p:nvSpPr>
        <p:spPr>
          <a:xfrm>
            <a:off x="416243" y="3008794"/>
            <a:ext cx="17643157" cy="425758"/>
          </a:xfrm>
          <a:prstGeom prst="rect">
            <a:avLst/>
          </a:prstGeom>
        </p:spPr>
        <p:txBody>
          <a:bodyPr wrap="square" lIns="0" tIns="0" rIns="0" bIns="0" rtlCol="0" anchor="t">
            <a:spAutoFit/>
          </a:bodyPr>
          <a:lstStyle/>
          <a:p>
            <a:pPr algn="ctr">
              <a:lnSpc>
                <a:spcPts val="3293"/>
              </a:lnSpc>
            </a:pPr>
            <a:r>
              <a:rPr lang="en-US" sz="3200" dirty="0">
                <a:solidFill>
                  <a:srgbClr val="8064A2"/>
                </a:solidFill>
                <a:latin typeface="Montaser Arabic" panose="020B0604020202020204" charset="0"/>
                <a:ea typeface="Roboto Condensed"/>
                <a:cs typeface="Montaser Arabic" panose="020B0604020202020204" charset="0"/>
                <a:sym typeface="Roboto Condensed"/>
              </a:rPr>
              <a:t>An AI-powered Earth-observation decision-support system for proactive marine-debris management</a:t>
            </a:r>
            <a:r>
              <a:rPr lang="en-US" sz="2744" dirty="0">
                <a:solidFill>
                  <a:schemeClr val="accent4">
                    <a:lumMod val="60000"/>
                    <a:lumOff val="40000"/>
                  </a:schemeClr>
                </a:solidFill>
                <a:latin typeface="Roboto Condensed"/>
                <a:ea typeface="Roboto Condensed"/>
                <a:cs typeface="Roboto Condensed"/>
                <a:sym typeface="Roboto Condensed"/>
              </a:rPr>
              <a:t>.</a:t>
            </a:r>
          </a:p>
        </p:txBody>
      </p:sp>
      <p:sp>
        <p:nvSpPr>
          <p:cNvPr id="15" name="Freeform 6">
            <a:extLst>
              <a:ext uri="{FF2B5EF4-FFF2-40B4-BE49-F238E27FC236}">
                <a16:creationId xmlns:a16="http://schemas.microsoft.com/office/drawing/2014/main" id="{0D392300-FB92-2A87-99D3-1113380BE32F}"/>
              </a:ext>
            </a:extLst>
          </p:cNvPr>
          <p:cNvSpPr/>
          <p:nvPr/>
        </p:nvSpPr>
        <p:spPr>
          <a:xfrm>
            <a:off x="471297" y="3780870"/>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5"/>
            <a:stretch>
              <a:fillRect/>
            </a:stretch>
          </a:blipFill>
        </p:spPr>
      </p:sp>
      <p:sp>
        <p:nvSpPr>
          <p:cNvPr id="16" name="Freeform 7">
            <a:extLst>
              <a:ext uri="{FF2B5EF4-FFF2-40B4-BE49-F238E27FC236}">
                <a16:creationId xmlns:a16="http://schemas.microsoft.com/office/drawing/2014/main" id="{B76EA4C3-1B2B-0798-7BCB-B94839EBA1EB}"/>
              </a:ext>
            </a:extLst>
          </p:cNvPr>
          <p:cNvSpPr/>
          <p:nvPr/>
        </p:nvSpPr>
        <p:spPr>
          <a:xfrm>
            <a:off x="647700" y="4010025"/>
            <a:ext cx="2619375" cy="1504950"/>
          </a:xfrm>
          <a:custGeom>
            <a:avLst/>
            <a:gdLst/>
            <a:ahLst/>
            <a:cxnLst/>
            <a:rect l="l" t="t" r="r" b="b"/>
            <a:pathLst>
              <a:path w="2619375" h="1504950">
                <a:moveTo>
                  <a:pt x="0" y="0"/>
                </a:moveTo>
                <a:lnTo>
                  <a:pt x="2619375" y="0"/>
                </a:lnTo>
                <a:lnTo>
                  <a:pt x="2619375" y="1504950"/>
                </a:lnTo>
                <a:lnTo>
                  <a:pt x="0" y="1504950"/>
                </a:lnTo>
                <a:lnTo>
                  <a:pt x="0" y="0"/>
                </a:lnTo>
                <a:close/>
              </a:path>
            </a:pathLst>
          </a:custGeom>
          <a:blipFill>
            <a:blip r:embed="rId6"/>
            <a:stretch>
              <a:fillRect/>
            </a:stretch>
          </a:blipFill>
        </p:spPr>
      </p:sp>
      <p:sp>
        <p:nvSpPr>
          <p:cNvPr id="17" name="TextBox 8">
            <a:extLst>
              <a:ext uri="{FF2B5EF4-FFF2-40B4-BE49-F238E27FC236}">
                <a16:creationId xmlns:a16="http://schemas.microsoft.com/office/drawing/2014/main" id="{DE7F8218-265D-844C-1456-25F6C591C15E}"/>
              </a:ext>
            </a:extLst>
          </p:cNvPr>
          <p:cNvSpPr txBox="1"/>
          <p:nvPr/>
        </p:nvSpPr>
        <p:spPr>
          <a:xfrm>
            <a:off x="1000697" y="5531548"/>
            <a:ext cx="2141220" cy="504825"/>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OBSERVE</a:t>
            </a:r>
          </a:p>
        </p:txBody>
      </p:sp>
      <p:sp>
        <p:nvSpPr>
          <p:cNvPr id="18" name="TextBox 9">
            <a:extLst>
              <a:ext uri="{FF2B5EF4-FFF2-40B4-BE49-F238E27FC236}">
                <a16:creationId xmlns:a16="http://schemas.microsoft.com/office/drawing/2014/main" id="{7DBC2571-8992-553B-C923-903F15842CD9}"/>
              </a:ext>
            </a:extLst>
          </p:cNvPr>
          <p:cNvSpPr txBox="1"/>
          <p:nvPr/>
        </p:nvSpPr>
        <p:spPr>
          <a:xfrm>
            <a:off x="1000697" y="6043711"/>
            <a:ext cx="2115312" cy="294953"/>
          </a:xfrm>
          <a:prstGeom prst="rect">
            <a:avLst/>
          </a:prstGeom>
        </p:spPr>
        <p:txBody>
          <a:bodyPr wrap="square" lIns="0" tIns="0" rIns="0" bIns="0" rtlCol="0" anchor="t">
            <a:spAutoFit/>
          </a:bodyPr>
          <a:lstStyle/>
          <a:p>
            <a:pPr algn="ctr">
              <a:lnSpc>
                <a:spcPts val="2323"/>
              </a:lnSpc>
            </a:pPr>
            <a:r>
              <a:rPr lang="en-US" sz="1935" b="1" dirty="0">
                <a:solidFill>
                  <a:srgbClr val="00C9FF"/>
                </a:solidFill>
                <a:latin typeface="Roboto Condensed Bold"/>
                <a:ea typeface="Roboto Condensed Bold"/>
                <a:cs typeface="Roboto Condensed Bold"/>
                <a:sym typeface="Roboto Condensed Bold"/>
              </a:rPr>
              <a:t>NASA PACE OCI</a:t>
            </a:r>
          </a:p>
        </p:txBody>
      </p:sp>
      <p:sp>
        <p:nvSpPr>
          <p:cNvPr id="19" name="TextBox 10">
            <a:extLst>
              <a:ext uri="{FF2B5EF4-FFF2-40B4-BE49-F238E27FC236}">
                <a16:creationId xmlns:a16="http://schemas.microsoft.com/office/drawing/2014/main" id="{C042D7FA-045E-0AC6-9464-030B7278CA22}"/>
              </a:ext>
            </a:extLst>
          </p:cNvPr>
          <p:cNvSpPr txBox="1"/>
          <p:nvPr/>
        </p:nvSpPr>
        <p:spPr>
          <a:xfrm>
            <a:off x="1225296" y="6548247"/>
            <a:ext cx="1572768" cy="628650"/>
          </a:xfrm>
          <a:prstGeom prst="rect">
            <a:avLst/>
          </a:prstGeom>
        </p:spPr>
        <p:txBody>
          <a:bodyPr lIns="0" tIns="0" rIns="0" bIns="0" rtlCol="0" anchor="t">
            <a:spAutoFit/>
          </a:bodyPr>
          <a:lstStyle/>
          <a:p>
            <a:pPr algn="ctr">
              <a:lnSpc>
                <a:spcPts val="2491"/>
              </a:lnSpc>
            </a:pPr>
            <a:r>
              <a:rPr lang="en-US" sz="2076" dirty="0">
                <a:solidFill>
                  <a:srgbClr val="FFFFFF"/>
                </a:solidFill>
                <a:latin typeface="Roboto Condensed"/>
                <a:ea typeface="Roboto Condensed"/>
                <a:cs typeface="Roboto Condensed"/>
                <a:sym typeface="Roboto Condensed"/>
              </a:rPr>
              <a:t>Satellite ocean observations</a:t>
            </a:r>
          </a:p>
        </p:txBody>
      </p:sp>
      <p:sp>
        <p:nvSpPr>
          <p:cNvPr id="20" name="Freeform 11">
            <a:extLst>
              <a:ext uri="{FF2B5EF4-FFF2-40B4-BE49-F238E27FC236}">
                <a16:creationId xmlns:a16="http://schemas.microsoft.com/office/drawing/2014/main" id="{FA8A5A33-338C-D706-9D37-F1630165E3FF}"/>
              </a:ext>
            </a:extLst>
          </p:cNvPr>
          <p:cNvSpPr/>
          <p:nvPr/>
        </p:nvSpPr>
        <p:spPr>
          <a:xfrm>
            <a:off x="3257550" y="44386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7"/>
            <a:stretch>
              <a:fillRect/>
            </a:stretch>
          </a:blipFill>
        </p:spPr>
      </p:sp>
      <p:sp>
        <p:nvSpPr>
          <p:cNvPr id="21" name="Freeform 12">
            <a:extLst>
              <a:ext uri="{FF2B5EF4-FFF2-40B4-BE49-F238E27FC236}">
                <a16:creationId xmlns:a16="http://schemas.microsoft.com/office/drawing/2014/main" id="{198F16BC-7732-2F9B-0CBA-79E75A1CB35E}"/>
              </a:ext>
            </a:extLst>
          </p:cNvPr>
          <p:cNvSpPr/>
          <p:nvPr/>
        </p:nvSpPr>
        <p:spPr>
          <a:xfrm>
            <a:off x="3914775"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8"/>
            <a:stretch>
              <a:fillRect/>
            </a:stretch>
          </a:blipFill>
        </p:spPr>
        <p:txBody>
          <a:bodyPr/>
          <a:lstStyle/>
          <a:p>
            <a:endParaRPr lang="en-IN" dirty="0"/>
          </a:p>
        </p:txBody>
      </p:sp>
      <p:sp>
        <p:nvSpPr>
          <p:cNvPr id="22" name="Freeform 13">
            <a:extLst>
              <a:ext uri="{FF2B5EF4-FFF2-40B4-BE49-F238E27FC236}">
                <a16:creationId xmlns:a16="http://schemas.microsoft.com/office/drawing/2014/main" id="{F181314C-1B35-DBD1-F309-DFDACD657E5A}"/>
              </a:ext>
            </a:extLst>
          </p:cNvPr>
          <p:cNvSpPr/>
          <p:nvPr/>
        </p:nvSpPr>
        <p:spPr>
          <a:xfrm>
            <a:off x="4572000" y="4010025"/>
            <a:ext cx="1962150" cy="1295400"/>
          </a:xfrm>
          <a:custGeom>
            <a:avLst/>
            <a:gdLst/>
            <a:ahLst/>
            <a:cxnLst/>
            <a:rect l="l" t="t" r="r" b="b"/>
            <a:pathLst>
              <a:path w="1962150" h="1295400">
                <a:moveTo>
                  <a:pt x="0" y="0"/>
                </a:moveTo>
                <a:lnTo>
                  <a:pt x="1962150" y="0"/>
                </a:lnTo>
                <a:lnTo>
                  <a:pt x="1962150" y="1295400"/>
                </a:lnTo>
                <a:lnTo>
                  <a:pt x="0" y="1295400"/>
                </a:lnTo>
                <a:lnTo>
                  <a:pt x="0" y="0"/>
                </a:lnTo>
                <a:close/>
              </a:path>
            </a:pathLst>
          </a:custGeom>
          <a:blipFill>
            <a:blip r:embed="rId9"/>
            <a:stretch>
              <a:fillRect/>
            </a:stretch>
          </a:blipFill>
        </p:spPr>
      </p:sp>
      <p:sp>
        <p:nvSpPr>
          <p:cNvPr id="23" name="TextBox 14">
            <a:extLst>
              <a:ext uri="{FF2B5EF4-FFF2-40B4-BE49-F238E27FC236}">
                <a16:creationId xmlns:a16="http://schemas.microsoft.com/office/drawing/2014/main" id="{D32AAD07-1DCA-DE56-1BC1-1D80436CA95F}"/>
              </a:ext>
            </a:extLst>
          </p:cNvPr>
          <p:cNvSpPr txBox="1"/>
          <p:nvPr/>
        </p:nvSpPr>
        <p:spPr>
          <a:xfrm>
            <a:off x="4624958" y="5515351"/>
            <a:ext cx="1795653" cy="504825"/>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DETECT</a:t>
            </a:r>
          </a:p>
        </p:txBody>
      </p:sp>
      <p:sp>
        <p:nvSpPr>
          <p:cNvPr id="24" name="TextBox 15">
            <a:extLst>
              <a:ext uri="{FF2B5EF4-FFF2-40B4-BE49-F238E27FC236}">
                <a16:creationId xmlns:a16="http://schemas.microsoft.com/office/drawing/2014/main" id="{05D0E379-EFCA-2A7E-6410-84232A217EEE}"/>
              </a:ext>
            </a:extLst>
          </p:cNvPr>
          <p:cNvSpPr txBox="1"/>
          <p:nvPr/>
        </p:nvSpPr>
        <p:spPr>
          <a:xfrm>
            <a:off x="4747643" y="6057041"/>
            <a:ext cx="1629155" cy="288028"/>
          </a:xfrm>
          <a:prstGeom prst="rect">
            <a:avLst/>
          </a:prstGeom>
        </p:spPr>
        <p:txBody>
          <a:bodyPr wrap="square" lIns="0" tIns="0" rIns="0" bIns="0" rtlCol="0" anchor="t">
            <a:spAutoFit/>
          </a:bodyPr>
          <a:lstStyle/>
          <a:p>
            <a:pPr algn="ctr">
              <a:lnSpc>
                <a:spcPts val="2351"/>
              </a:lnSpc>
            </a:pPr>
            <a:r>
              <a:rPr lang="en-US" sz="1959" b="1" dirty="0">
                <a:solidFill>
                  <a:srgbClr val="00C9FF"/>
                </a:solidFill>
                <a:latin typeface="Roboto Condensed Bold"/>
                <a:ea typeface="Roboto Condensed Bold"/>
                <a:cs typeface="Roboto Condensed Bold"/>
                <a:sym typeface="Roboto Condensed Bold"/>
              </a:rPr>
              <a:t>AI ANALYSIS</a:t>
            </a:r>
          </a:p>
        </p:txBody>
      </p:sp>
      <p:sp>
        <p:nvSpPr>
          <p:cNvPr id="25" name="TextBox 16">
            <a:extLst>
              <a:ext uri="{FF2B5EF4-FFF2-40B4-BE49-F238E27FC236}">
                <a16:creationId xmlns:a16="http://schemas.microsoft.com/office/drawing/2014/main" id="{FE8B498D-B780-509B-5AFB-ADBC5C9BB044}"/>
              </a:ext>
            </a:extLst>
          </p:cNvPr>
          <p:cNvSpPr txBox="1"/>
          <p:nvPr/>
        </p:nvSpPr>
        <p:spPr>
          <a:xfrm>
            <a:off x="4282821" y="6564144"/>
            <a:ext cx="2304288" cy="960263"/>
          </a:xfrm>
          <a:prstGeom prst="rect">
            <a:avLst/>
          </a:prstGeom>
        </p:spPr>
        <p:txBody>
          <a:bodyPr wrap="square" lIns="0" tIns="0" rIns="0" bIns="0" rtlCol="0" anchor="t">
            <a:spAutoFit/>
          </a:bodyPr>
          <a:lstStyle/>
          <a:p>
            <a:pPr algn="ctr"/>
            <a:r>
              <a:rPr lang="en-US" sz="2080" dirty="0">
                <a:solidFill>
                  <a:srgbClr val="FFFFFF"/>
                </a:solidFill>
                <a:latin typeface="Roboto Condensed"/>
                <a:ea typeface="Roboto Condensed"/>
                <a:cs typeface="Roboto Condensed"/>
                <a:sym typeface="Roboto Condensed"/>
              </a:rPr>
              <a:t>Identify potential floating marine-debris hotspots</a:t>
            </a:r>
          </a:p>
        </p:txBody>
      </p:sp>
      <p:sp>
        <p:nvSpPr>
          <p:cNvPr id="26" name="Freeform 17">
            <a:extLst>
              <a:ext uri="{FF2B5EF4-FFF2-40B4-BE49-F238E27FC236}">
                <a16:creationId xmlns:a16="http://schemas.microsoft.com/office/drawing/2014/main" id="{8A9EF770-5D3B-C3AA-DA2D-A9153411AA46}"/>
              </a:ext>
            </a:extLst>
          </p:cNvPr>
          <p:cNvSpPr/>
          <p:nvPr/>
        </p:nvSpPr>
        <p:spPr>
          <a:xfrm>
            <a:off x="6743700" y="44386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0"/>
            <a:stretch>
              <a:fillRect/>
            </a:stretch>
          </a:blipFill>
        </p:spPr>
      </p:sp>
      <p:sp>
        <p:nvSpPr>
          <p:cNvPr id="27" name="Freeform 18">
            <a:extLst>
              <a:ext uri="{FF2B5EF4-FFF2-40B4-BE49-F238E27FC236}">
                <a16:creationId xmlns:a16="http://schemas.microsoft.com/office/drawing/2014/main" id="{8F3D98D0-1F8D-A09C-BB1B-2C24803464AC}"/>
              </a:ext>
            </a:extLst>
          </p:cNvPr>
          <p:cNvSpPr/>
          <p:nvPr/>
        </p:nvSpPr>
        <p:spPr>
          <a:xfrm>
            <a:off x="7400925"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11"/>
            <a:stretch>
              <a:fillRect/>
            </a:stretch>
          </a:blipFill>
        </p:spPr>
      </p:sp>
      <p:sp>
        <p:nvSpPr>
          <p:cNvPr id="28" name="Freeform 19">
            <a:extLst>
              <a:ext uri="{FF2B5EF4-FFF2-40B4-BE49-F238E27FC236}">
                <a16:creationId xmlns:a16="http://schemas.microsoft.com/office/drawing/2014/main" id="{DC18E6BD-6119-2829-20CE-0B08A8BC7F5D}"/>
              </a:ext>
            </a:extLst>
          </p:cNvPr>
          <p:cNvSpPr/>
          <p:nvPr/>
        </p:nvSpPr>
        <p:spPr>
          <a:xfrm>
            <a:off x="7620000" y="4010025"/>
            <a:ext cx="2619375" cy="1295400"/>
          </a:xfrm>
          <a:custGeom>
            <a:avLst/>
            <a:gdLst/>
            <a:ahLst/>
            <a:cxnLst/>
            <a:rect l="l" t="t" r="r" b="b"/>
            <a:pathLst>
              <a:path w="2619375" h="1295400">
                <a:moveTo>
                  <a:pt x="0" y="0"/>
                </a:moveTo>
                <a:lnTo>
                  <a:pt x="2619375" y="0"/>
                </a:lnTo>
                <a:lnTo>
                  <a:pt x="2619375" y="1295400"/>
                </a:lnTo>
                <a:lnTo>
                  <a:pt x="0" y="1295400"/>
                </a:lnTo>
                <a:lnTo>
                  <a:pt x="0" y="0"/>
                </a:lnTo>
                <a:close/>
              </a:path>
            </a:pathLst>
          </a:custGeom>
          <a:blipFill>
            <a:blip r:embed="rId12"/>
            <a:stretch>
              <a:fillRect/>
            </a:stretch>
          </a:blipFill>
        </p:spPr>
      </p:sp>
      <p:sp>
        <p:nvSpPr>
          <p:cNvPr id="29" name="TextBox 20">
            <a:extLst>
              <a:ext uri="{FF2B5EF4-FFF2-40B4-BE49-F238E27FC236}">
                <a16:creationId xmlns:a16="http://schemas.microsoft.com/office/drawing/2014/main" id="{8AD1B140-8242-2F75-11DA-4EB2AB86F8F8}"/>
              </a:ext>
            </a:extLst>
          </p:cNvPr>
          <p:cNvSpPr txBox="1"/>
          <p:nvPr/>
        </p:nvSpPr>
        <p:spPr>
          <a:xfrm>
            <a:off x="8236553" y="5514975"/>
            <a:ext cx="1339405"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FUSE</a:t>
            </a:r>
          </a:p>
        </p:txBody>
      </p:sp>
      <p:sp>
        <p:nvSpPr>
          <p:cNvPr id="30" name="TextBox 21">
            <a:extLst>
              <a:ext uri="{FF2B5EF4-FFF2-40B4-BE49-F238E27FC236}">
                <a16:creationId xmlns:a16="http://schemas.microsoft.com/office/drawing/2014/main" id="{E2BE0687-551A-6923-507A-180CF68CC830}"/>
              </a:ext>
            </a:extLst>
          </p:cNvPr>
          <p:cNvSpPr txBox="1"/>
          <p:nvPr/>
        </p:nvSpPr>
        <p:spPr>
          <a:xfrm>
            <a:off x="7838341" y="6064772"/>
            <a:ext cx="2082927" cy="308351"/>
          </a:xfrm>
          <a:prstGeom prst="rect">
            <a:avLst/>
          </a:prstGeom>
        </p:spPr>
        <p:txBody>
          <a:bodyPr wrap="square" lIns="0" tIns="0" rIns="0" bIns="0" rtlCol="0" anchor="t">
            <a:spAutoFit/>
          </a:bodyPr>
          <a:lstStyle/>
          <a:p>
            <a:pPr algn="ctr">
              <a:lnSpc>
                <a:spcPts val="2407"/>
              </a:lnSpc>
            </a:pPr>
            <a:r>
              <a:rPr lang="en-US" sz="2006" b="1" dirty="0">
                <a:solidFill>
                  <a:srgbClr val="00C9FF"/>
                </a:solidFill>
                <a:latin typeface="Roboto Condensed Bold"/>
                <a:ea typeface="Roboto Condensed Bold"/>
                <a:cs typeface="Roboto Condensed Bold"/>
                <a:sym typeface="Roboto Condensed Bold"/>
              </a:rPr>
              <a:t>OCEAN + WIND</a:t>
            </a:r>
          </a:p>
        </p:txBody>
      </p:sp>
      <p:sp>
        <p:nvSpPr>
          <p:cNvPr id="31" name="TextBox 22">
            <a:extLst>
              <a:ext uri="{FF2B5EF4-FFF2-40B4-BE49-F238E27FC236}">
                <a16:creationId xmlns:a16="http://schemas.microsoft.com/office/drawing/2014/main" id="{1A911B50-6CF9-AC1B-D4D8-791DADB34083}"/>
              </a:ext>
            </a:extLst>
          </p:cNvPr>
          <p:cNvSpPr txBox="1"/>
          <p:nvPr/>
        </p:nvSpPr>
        <p:spPr>
          <a:xfrm>
            <a:off x="7973568" y="6548247"/>
            <a:ext cx="1865376" cy="628650"/>
          </a:xfrm>
          <a:prstGeom prst="rect">
            <a:avLst/>
          </a:prstGeom>
        </p:spPr>
        <p:txBody>
          <a:bodyPr lIns="0" tIns="0" rIns="0" bIns="0" rtlCol="0" anchor="t">
            <a:spAutoFit/>
          </a:bodyPr>
          <a:lstStyle/>
          <a:p>
            <a:pPr algn="ctr">
              <a:lnSpc>
                <a:spcPts val="2491"/>
              </a:lnSpc>
            </a:pPr>
            <a:r>
              <a:rPr lang="en-US" sz="2076">
                <a:solidFill>
                  <a:srgbClr val="FFFFFF"/>
                </a:solidFill>
                <a:latin typeface="Roboto Condensed"/>
                <a:ea typeface="Roboto Condensed"/>
                <a:cs typeface="Roboto Condensed"/>
                <a:sym typeface="Roboto Condensed"/>
              </a:rPr>
              <a:t>Surface currents</a:t>
            </a:r>
          </a:p>
          <a:p>
            <a:pPr algn="ctr">
              <a:lnSpc>
                <a:spcPts val="2491"/>
              </a:lnSpc>
            </a:pPr>
            <a:r>
              <a:rPr lang="en-US" sz="2076">
                <a:solidFill>
                  <a:srgbClr val="FFFFFF"/>
                </a:solidFill>
                <a:latin typeface="Roboto Condensed"/>
                <a:ea typeface="Roboto Condensed"/>
                <a:cs typeface="Roboto Condensed"/>
                <a:sym typeface="Roboto Condensed"/>
              </a:rPr>
              <a:t>+ wind</a:t>
            </a:r>
          </a:p>
        </p:txBody>
      </p:sp>
      <p:sp>
        <p:nvSpPr>
          <p:cNvPr id="32" name="Freeform 23">
            <a:extLst>
              <a:ext uri="{FF2B5EF4-FFF2-40B4-BE49-F238E27FC236}">
                <a16:creationId xmlns:a16="http://schemas.microsoft.com/office/drawing/2014/main" id="{C75B2B78-6F6D-8F5F-E8A4-1967C27EB408}"/>
              </a:ext>
            </a:extLst>
          </p:cNvPr>
          <p:cNvSpPr/>
          <p:nvPr/>
        </p:nvSpPr>
        <p:spPr>
          <a:xfrm>
            <a:off x="10229850" y="44386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3"/>
            <a:stretch>
              <a:fillRect/>
            </a:stretch>
          </a:blipFill>
        </p:spPr>
      </p:sp>
      <p:sp>
        <p:nvSpPr>
          <p:cNvPr id="33" name="Freeform 24">
            <a:extLst>
              <a:ext uri="{FF2B5EF4-FFF2-40B4-BE49-F238E27FC236}">
                <a16:creationId xmlns:a16="http://schemas.microsoft.com/office/drawing/2014/main" id="{EB0D27AD-C15B-C8FD-DB4A-641DBC443435}"/>
              </a:ext>
            </a:extLst>
          </p:cNvPr>
          <p:cNvSpPr/>
          <p:nvPr/>
        </p:nvSpPr>
        <p:spPr>
          <a:xfrm>
            <a:off x="10877550"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14"/>
            <a:stretch>
              <a:fillRect/>
            </a:stretch>
          </a:blipFill>
        </p:spPr>
      </p:sp>
      <p:sp>
        <p:nvSpPr>
          <p:cNvPr id="34" name="Freeform 25">
            <a:extLst>
              <a:ext uri="{FF2B5EF4-FFF2-40B4-BE49-F238E27FC236}">
                <a16:creationId xmlns:a16="http://schemas.microsoft.com/office/drawing/2014/main" id="{A85B93D7-5C54-332B-ADA4-7246DC0F69A0}"/>
              </a:ext>
            </a:extLst>
          </p:cNvPr>
          <p:cNvSpPr/>
          <p:nvPr/>
        </p:nvSpPr>
        <p:spPr>
          <a:xfrm>
            <a:off x="11315700" y="4010025"/>
            <a:ext cx="2400300" cy="1295400"/>
          </a:xfrm>
          <a:custGeom>
            <a:avLst/>
            <a:gdLst/>
            <a:ahLst/>
            <a:cxnLst/>
            <a:rect l="l" t="t" r="r" b="b"/>
            <a:pathLst>
              <a:path w="2400300" h="1295400">
                <a:moveTo>
                  <a:pt x="0" y="0"/>
                </a:moveTo>
                <a:lnTo>
                  <a:pt x="2400300" y="0"/>
                </a:lnTo>
                <a:lnTo>
                  <a:pt x="2400300" y="1295400"/>
                </a:lnTo>
                <a:lnTo>
                  <a:pt x="0" y="1295400"/>
                </a:lnTo>
                <a:lnTo>
                  <a:pt x="0" y="0"/>
                </a:lnTo>
                <a:close/>
              </a:path>
            </a:pathLst>
          </a:custGeom>
          <a:blipFill>
            <a:blip r:embed="rId15"/>
            <a:stretch>
              <a:fillRect/>
            </a:stretch>
          </a:blipFill>
        </p:spPr>
      </p:sp>
      <p:sp>
        <p:nvSpPr>
          <p:cNvPr id="35" name="TextBox 26">
            <a:extLst>
              <a:ext uri="{FF2B5EF4-FFF2-40B4-BE49-F238E27FC236}">
                <a16:creationId xmlns:a16="http://schemas.microsoft.com/office/drawing/2014/main" id="{86410672-525E-E643-E50C-DCAC2C88F57F}"/>
              </a:ext>
            </a:extLst>
          </p:cNvPr>
          <p:cNvSpPr txBox="1"/>
          <p:nvPr/>
        </p:nvSpPr>
        <p:spPr>
          <a:xfrm>
            <a:off x="11106150" y="5514975"/>
            <a:ext cx="2611374"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FORECAST</a:t>
            </a:r>
          </a:p>
        </p:txBody>
      </p:sp>
      <p:sp>
        <p:nvSpPr>
          <p:cNvPr id="36" name="TextBox 27">
            <a:extLst>
              <a:ext uri="{FF2B5EF4-FFF2-40B4-BE49-F238E27FC236}">
                <a16:creationId xmlns:a16="http://schemas.microsoft.com/office/drawing/2014/main" id="{BBE4D600-F9AF-B419-F98C-48B17A548B0F}"/>
              </a:ext>
            </a:extLst>
          </p:cNvPr>
          <p:cNvSpPr txBox="1"/>
          <p:nvPr/>
        </p:nvSpPr>
        <p:spPr>
          <a:xfrm>
            <a:off x="11448288" y="6548247"/>
            <a:ext cx="2048256" cy="628650"/>
          </a:xfrm>
          <a:prstGeom prst="rect">
            <a:avLst/>
          </a:prstGeom>
        </p:spPr>
        <p:txBody>
          <a:bodyPr lIns="0" tIns="0" rIns="0" bIns="0" rtlCol="0" anchor="t">
            <a:spAutoFit/>
          </a:bodyPr>
          <a:lstStyle/>
          <a:p>
            <a:pPr algn="ctr">
              <a:lnSpc>
                <a:spcPts val="2491"/>
              </a:lnSpc>
            </a:pPr>
            <a:r>
              <a:rPr lang="en-US" sz="2076" dirty="0">
                <a:solidFill>
                  <a:srgbClr val="FFFFFF"/>
                </a:solidFill>
                <a:latin typeface="Roboto Condensed"/>
                <a:ea typeface="Roboto Condensed"/>
                <a:cs typeface="Roboto Condensed"/>
                <a:sym typeface="Roboto Condensed"/>
              </a:rPr>
              <a:t>Predict movement over 24–48 hours</a:t>
            </a:r>
          </a:p>
        </p:txBody>
      </p:sp>
      <p:sp>
        <p:nvSpPr>
          <p:cNvPr id="37" name="Freeform 28">
            <a:extLst>
              <a:ext uri="{FF2B5EF4-FFF2-40B4-BE49-F238E27FC236}">
                <a16:creationId xmlns:a16="http://schemas.microsoft.com/office/drawing/2014/main" id="{BEB62F17-A263-B20C-59BB-DAB3D95A870B}"/>
              </a:ext>
            </a:extLst>
          </p:cNvPr>
          <p:cNvSpPr/>
          <p:nvPr/>
        </p:nvSpPr>
        <p:spPr>
          <a:xfrm>
            <a:off x="13925550" y="4438650"/>
            <a:ext cx="666750" cy="647700"/>
          </a:xfrm>
          <a:custGeom>
            <a:avLst/>
            <a:gdLst/>
            <a:ahLst/>
            <a:cxnLst/>
            <a:rect l="l" t="t" r="r" b="b"/>
            <a:pathLst>
              <a:path w="666750" h="647700">
                <a:moveTo>
                  <a:pt x="0" y="0"/>
                </a:moveTo>
                <a:lnTo>
                  <a:pt x="666750" y="0"/>
                </a:lnTo>
                <a:lnTo>
                  <a:pt x="666750" y="647700"/>
                </a:lnTo>
                <a:lnTo>
                  <a:pt x="0" y="647700"/>
                </a:lnTo>
                <a:lnTo>
                  <a:pt x="0" y="0"/>
                </a:lnTo>
                <a:close/>
              </a:path>
            </a:pathLst>
          </a:custGeom>
          <a:blipFill>
            <a:blip r:embed="rId16"/>
            <a:stretch>
              <a:fillRect/>
            </a:stretch>
          </a:blipFill>
        </p:spPr>
      </p:sp>
      <p:sp>
        <p:nvSpPr>
          <p:cNvPr id="38" name="Freeform 29">
            <a:extLst>
              <a:ext uri="{FF2B5EF4-FFF2-40B4-BE49-F238E27FC236}">
                <a16:creationId xmlns:a16="http://schemas.microsoft.com/office/drawing/2014/main" id="{B1DF37E8-523A-5018-F8C1-419E5A6F9760}"/>
              </a:ext>
            </a:extLst>
          </p:cNvPr>
          <p:cNvSpPr/>
          <p:nvPr/>
        </p:nvSpPr>
        <p:spPr>
          <a:xfrm>
            <a:off x="14363700" y="3800475"/>
            <a:ext cx="3276600" cy="3857625"/>
          </a:xfrm>
          <a:custGeom>
            <a:avLst/>
            <a:gdLst/>
            <a:ahLst/>
            <a:cxnLst/>
            <a:rect l="l" t="t" r="r" b="b"/>
            <a:pathLst>
              <a:path w="3276600" h="3857625">
                <a:moveTo>
                  <a:pt x="0" y="0"/>
                </a:moveTo>
                <a:lnTo>
                  <a:pt x="3276600" y="0"/>
                </a:lnTo>
                <a:lnTo>
                  <a:pt x="3276600" y="3857625"/>
                </a:lnTo>
                <a:lnTo>
                  <a:pt x="0" y="3857625"/>
                </a:lnTo>
                <a:lnTo>
                  <a:pt x="0" y="0"/>
                </a:lnTo>
                <a:close/>
              </a:path>
            </a:pathLst>
          </a:custGeom>
          <a:blipFill>
            <a:blip r:embed="rId17"/>
            <a:stretch>
              <a:fillRect/>
            </a:stretch>
          </a:blipFill>
        </p:spPr>
      </p:sp>
      <p:sp>
        <p:nvSpPr>
          <p:cNvPr id="39" name="Freeform 30">
            <a:extLst>
              <a:ext uri="{FF2B5EF4-FFF2-40B4-BE49-F238E27FC236}">
                <a16:creationId xmlns:a16="http://schemas.microsoft.com/office/drawing/2014/main" id="{328BB940-680F-AD1E-57F4-AF256445D3D7}"/>
              </a:ext>
            </a:extLst>
          </p:cNvPr>
          <p:cNvSpPr/>
          <p:nvPr/>
        </p:nvSpPr>
        <p:spPr>
          <a:xfrm>
            <a:off x="14582775" y="3800475"/>
            <a:ext cx="2838450" cy="1714500"/>
          </a:xfrm>
          <a:custGeom>
            <a:avLst/>
            <a:gdLst/>
            <a:ahLst/>
            <a:cxnLst/>
            <a:rect l="l" t="t" r="r" b="b"/>
            <a:pathLst>
              <a:path w="2838450" h="1714500">
                <a:moveTo>
                  <a:pt x="0" y="0"/>
                </a:moveTo>
                <a:lnTo>
                  <a:pt x="2838450" y="0"/>
                </a:lnTo>
                <a:lnTo>
                  <a:pt x="2838450" y="1714500"/>
                </a:lnTo>
                <a:lnTo>
                  <a:pt x="0" y="1714500"/>
                </a:lnTo>
                <a:lnTo>
                  <a:pt x="0" y="0"/>
                </a:lnTo>
                <a:close/>
              </a:path>
            </a:pathLst>
          </a:custGeom>
          <a:blipFill>
            <a:blip r:embed="rId18"/>
            <a:stretch>
              <a:fillRect/>
            </a:stretch>
          </a:blipFill>
        </p:spPr>
      </p:sp>
      <p:sp>
        <p:nvSpPr>
          <p:cNvPr id="40" name="TextBox 31">
            <a:extLst>
              <a:ext uri="{FF2B5EF4-FFF2-40B4-BE49-F238E27FC236}">
                <a16:creationId xmlns:a16="http://schemas.microsoft.com/office/drawing/2014/main" id="{76985A09-6592-F6B8-D9D3-6E07037F8EF7}"/>
              </a:ext>
            </a:extLst>
          </p:cNvPr>
          <p:cNvSpPr txBox="1"/>
          <p:nvPr/>
        </p:nvSpPr>
        <p:spPr>
          <a:xfrm>
            <a:off x="14569923" y="5493363"/>
            <a:ext cx="2729103"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PRIORITIZE</a:t>
            </a:r>
          </a:p>
        </p:txBody>
      </p:sp>
      <p:sp>
        <p:nvSpPr>
          <p:cNvPr id="41" name="TextBox 32">
            <a:extLst>
              <a:ext uri="{FF2B5EF4-FFF2-40B4-BE49-F238E27FC236}">
                <a16:creationId xmlns:a16="http://schemas.microsoft.com/office/drawing/2014/main" id="{C76C409C-7402-67F0-B376-85DFCE5EBA71}"/>
              </a:ext>
            </a:extLst>
          </p:cNvPr>
          <p:cNvSpPr txBox="1"/>
          <p:nvPr/>
        </p:nvSpPr>
        <p:spPr>
          <a:xfrm>
            <a:off x="15105888" y="6101714"/>
            <a:ext cx="1700784" cy="297967"/>
          </a:xfrm>
          <a:prstGeom prst="rect">
            <a:avLst/>
          </a:prstGeom>
        </p:spPr>
        <p:txBody>
          <a:bodyPr wrap="square" lIns="0" tIns="0" rIns="0" bIns="0" rtlCol="0" anchor="t">
            <a:spAutoFit/>
          </a:bodyPr>
          <a:lstStyle/>
          <a:p>
            <a:pPr algn="ctr">
              <a:lnSpc>
                <a:spcPts val="2379"/>
              </a:lnSpc>
            </a:pPr>
            <a:r>
              <a:rPr lang="en-US" sz="1982" b="1" dirty="0">
                <a:solidFill>
                  <a:srgbClr val="00C9FF"/>
                </a:solidFill>
                <a:latin typeface="Roboto Condensed Bold"/>
                <a:ea typeface="Roboto Condensed Bold"/>
                <a:cs typeface="Roboto Condensed Bold"/>
                <a:sym typeface="Roboto Condensed Bold"/>
              </a:rPr>
              <a:t>ACTION MAP</a:t>
            </a:r>
          </a:p>
        </p:txBody>
      </p:sp>
      <p:sp>
        <p:nvSpPr>
          <p:cNvPr id="42" name="TextBox 33">
            <a:extLst>
              <a:ext uri="{FF2B5EF4-FFF2-40B4-BE49-F238E27FC236}">
                <a16:creationId xmlns:a16="http://schemas.microsoft.com/office/drawing/2014/main" id="{2C04B264-69D2-CA76-B467-EE856A392BBA}"/>
              </a:ext>
            </a:extLst>
          </p:cNvPr>
          <p:cNvSpPr txBox="1"/>
          <p:nvPr/>
        </p:nvSpPr>
        <p:spPr>
          <a:xfrm>
            <a:off x="15288768" y="6548247"/>
            <a:ext cx="1517904" cy="628650"/>
          </a:xfrm>
          <a:prstGeom prst="rect">
            <a:avLst/>
          </a:prstGeom>
        </p:spPr>
        <p:txBody>
          <a:bodyPr lIns="0" tIns="0" rIns="0" bIns="0" rtlCol="0" anchor="t">
            <a:spAutoFit/>
          </a:bodyPr>
          <a:lstStyle/>
          <a:p>
            <a:pPr algn="ctr">
              <a:lnSpc>
                <a:spcPts val="2491"/>
              </a:lnSpc>
            </a:pPr>
            <a:r>
              <a:rPr lang="en-US" sz="2076">
                <a:solidFill>
                  <a:srgbClr val="FFFFFF"/>
                </a:solidFill>
                <a:latin typeface="Roboto Condensed"/>
                <a:ea typeface="Roboto Condensed"/>
                <a:cs typeface="Roboto Condensed"/>
                <a:sym typeface="Roboto Condensed"/>
              </a:rPr>
              <a:t>Rank cleanup priority zones</a:t>
            </a:r>
          </a:p>
        </p:txBody>
      </p:sp>
      <p:sp>
        <p:nvSpPr>
          <p:cNvPr id="43" name="Freeform 34">
            <a:extLst>
              <a:ext uri="{FF2B5EF4-FFF2-40B4-BE49-F238E27FC236}">
                <a16:creationId xmlns:a16="http://schemas.microsoft.com/office/drawing/2014/main" id="{C2BDEDA0-B335-1FB4-D999-D7AF4D2EDB7C}"/>
              </a:ext>
            </a:extLst>
          </p:cNvPr>
          <p:cNvSpPr/>
          <p:nvPr/>
        </p:nvSpPr>
        <p:spPr>
          <a:xfrm>
            <a:off x="1225296" y="7741784"/>
            <a:ext cx="5229225" cy="1504950"/>
          </a:xfrm>
          <a:custGeom>
            <a:avLst/>
            <a:gdLst/>
            <a:ahLst/>
            <a:cxnLst/>
            <a:rect l="l" t="t" r="r" b="b"/>
            <a:pathLst>
              <a:path w="5229225" h="1504950">
                <a:moveTo>
                  <a:pt x="0" y="0"/>
                </a:moveTo>
                <a:lnTo>
                  <a:pt x="5229225" y="0"/>
                </a:lnTo>
                <a:lnTo>
                  <a:pt x="5229225" y="1504950"/>
                </a:lnTo>
                <a:lnTo>
                  <a:pt x="0" y="1504950"/>
                </a:lnTo>
                <a:lnTo>
                  <a:pt x="0" y="0"/>
                </a:lnTo>
                <a:close/>
              </a:path>
            </a:pathLst>
          </a:custGeom>
          <a:blipFill>
            <a:blip r:embed="rId19"/>
            <a:stretch>
              <a:fillRect/>
            </a:stretch>
          </a:blipFill>
        </p:spPr>
      </p:sp>
      <p:sp>
        <p:nvSpPr>
          <p:cNvPr id="44" name="TextBox 35">
            <a:extLst>
              <a:ext uri="{FF2B5EF4-FFF2-40B4-BE49-F238E27FC236}">
                <a16:creationId xmlns:a16="http://schemas.microsoft.com/office/drawing/2014/main" id="{1A2B72BC-268B-E4E0-EF77-20D661ECBD55}"/>
              </a:ext>
            </a:extLst>
          </p:cNvPr>
          <p:cNvSpPr txBox="1"/>
          <p:nvPr/>
        </p:nvSpPr>
        <p:spPr>
          <a:xfrm>
            <a:off x="2189771" y="7945413"/>
            <a:ext cx="3058885" cy="487313"/>
          </a:xfrm>
          <a:prstGeom prst="rect">
            <a:avLst/>
          </a:prstGeom>
        </p:spPr>
        <p:txBody>
          <a:bodyPr wrap="square" lIns="0" tIns="0" rIns="0" bIns="0" rtlCol="0" anchor="t">
            <a:spAutoFit/>
          </a:bodyPr>
          <a:lstStyle/>
          <a:p>
            <a:pPr algn="ctr">
              <a:lnSpc>
                <a:spcPts val="3845"/>
              </a:lnSpc>
            </a:pPr>
            <a:r>
              <a:rPr lang="en-US" sz="3204" b="1" dirty="0">
                <a:solidFill>
                  <a:srgbClr val="1BBAEA"/>
                </a:solidFill>
                <a:latin typeface="Roboto Condensed Bold"/>
                <a:ea typeface="Roboto Condensed Bold"/>
                <a:cs typeface="Roboto Condensed Bold"/>
                <a:sym typeface="Roboto Condensed Bold"/>
              </a:rPr>
              <a:t>MULTIMODAL</a:t>
            </a:r>
          </a:p>
        </p:txBody>
      </p:sp>
      <p:sp>
        <p:nvSpPr>
          <p:cNvPr id="45" name="Freeform 36">
            <a:extLst>
              <a:ext uri="{FF2B5EF4-FFF2-40B4-BE49-F238E27FC236}">
                <a16:creationId xmlns:a16="http://schemas.microsoft.com/office/drawing/2014/main" id="{4A6097D7-694E-73C6-1614-988925A6A2FD}"/>
              </a:ext>
            </a:extLst>
          </p:cNvPr>
          <p:cNvSpPr/>
          <p:nvPr/>
        </p:nvSpPr>
        <p:spPr>
          <a:xfrm>
            <a:off x="6305169" y="7723523"/>
            <a:ext cx="5238750" cy="1504950"/>
          </a:xfrm>
          <a:custGeom>
            <a:avLst/>
            <a:gdLst/>
            <a:ahLst/>
            <a:cxnLst/>
            <a:rect l="l" t="t" r="r" b="b"/>
            <a:pathLst>
              <a:path w="5238750" h="1504950">
                <a:moveTo>
                  <a:pt x="0" y="0"/>
                </a:moveTo>
                <a:lnTo>
                  <a:pt x="5238750" y="0"/>
                </a:lnTo>
                <a:lnTo>
                  <a:pt x="5238750" y="1504950"/>
                </a:lnTo>
                <a:lnTo>
                  <a:pt x="0" y="1504950"/>
                </a:lnTo>
                <a:lnTo>
                  <a:pt x="0" y="0"/>
                </a:lnTo>
                <a:close/>
              </a:path>
            </a:pathLst>
          </a:custGeom>
          <a:blipFill>
            <a:blip r:embed="rId20"/>
            <a:stretch>
              <a:fillRect/>
            </a:stretch>
          </a:blipFill>
        </p:spPr>
      </p:sp>
      <p:sp>
        <p:nvSpPr>
          <p:cNvPr id="46" name="TextBox 37">
            <a:extLst>
              <a:ext uri="{FF2B5EF4-FFF2-40B4-BE49-F238E27FC236}">
                <a16:creationId xmlns:a16="http://schemas.microsoft.com/office/drawing/2014/main" id="{4B2BFEAB-9F0B-77D5-2E14-198F56902084}"/>
              </a:ext>
            </a:extLst>
          </p:cNvPr>
          <p:cNvSpPr txBox="1"/>
          <p:nvPr/>
        </p:nvSpPr>
        <p:spPr>
          <a:xfrm>
            <a:off x="7813357" y="7945413"/>
            <a:ext cx="2445830" cy="487313"/>
          </a:xfrm>
          <a:prstGeom prst="rect">
            <a:avLst/>
          </a:prstGeom>
        </p:spPr>
        <p:txBody>
          <a:bodyPr wrap="square" lIns="0" tIns="0" rIns="0" bIns="0" rtlCol="0" anchor="t">
            <a:spAutoFit/>
          </a:bodyPr>
          <a:lstStyle/>
          <a:p>
            <a:pPr algn="ctr">
              <a:lnSpc>
                <a:spcPts val="3845"/>
              </a:lnSpc>
            </a:pPr>
            <a:r>
              <a:rPr lang="en-US" sz="3204" b="1" dirty="0">
                <a:solidFill>
                  <a:srgbClr val="1BBAEA"/>
                </a:solidFill>
                <a:latin typeface="Roboto Condensed Bold"/>
                <a:ea typeface="Roboto Condensed Bold"/>
                <a:cs typeface="Roboto Condensed Bold"/>
                <a:sym typeface="Roboto Condensed Bold"/>
              </a:rPr>
              <a:t>PREDICTIVE</a:t>
            </a:r>
          </a:p>
        </p:txBody>
      </p:sp>
      <p:sp>
        <p:nvSpPr>
          <p:cNvPr id="47" name="Freeform 38">
            <a:extLst>
              <a:ext uri="{FF2B5EF4-FFF2-40B4-BE49-F238E27FC236}">
                <a16:creationId xmlns:a16="http://schemas.microsoft.com/office/drawing/2014/main" id="{625AD7C4-334B-65C0-4BB3-03C305E901B4}"/>
              </a:ext>
            </a:extLst>
          </p:cNvPr>
          <p:cNvSpPr/>
          <p:nvPr/>
        </p:nvSpPr>
        <p:spPr>
          <a:xfrm>
            <a:off x="11315700" y="7723523"/>
            <a:ext cx="5448300" cy="1504950"/>
          </a:xfrm>
          <a:custGeom>
            <a:avLst/>
            <a:gdLst/>
            <a:ahLst/>
            <a:cxnLst/>
            <a:rect l="l" t="t" r="r" b="b"/>
            <a:pathLst>
              <a:path w="5448300" h="1504950">
                <a:moveTo>
                  <a:pt x="0" y="0"/>
                </a:moveTo>
                <a:lnTo>
                  <a:pt x="5448300" y="0"/>
                </a:lnTo>
                <a:lnTo>
                  <a:pt x="5448300" y="1504950"/>
                </a:lnTo>
                <a:lnTo>
                  <a:pt x="0" y="1504950"/>
                </a:lnTo>
                <a:lnTo>
                  <a:pt x="0" y="0"/>
                </a:lnTo>
                <a:close/>
              </a:path>
            </a:pathLst>
          </a:custGeom>
          <a:blipFill>
            <a:blip r:embed="rId21"/>
            <a:stretch>
              <a:fillRect/>
            </a:stretch>
          </a:blipFill>
        </p:spPr>
      </p:sp>
      <p:sp>
        <p:nvSpPr>
          <p:cNvPr id="48" name="TextBox 39">
            <a:extLst>
              <a:ext uri="{FF2B5EF4-FFF2-40B4-BE49-F238E27FC236}">
                <a16:creationId xmlns:a16="http://schemas.microsoft.com/office/drawing/2014/main" id="{EAC5828F-7866-B604-0ED5-629F864121AC}"/>
              </a:ext>
            </a:extLst>
          </p:cNvPr>
          <p:cNvSpPr txBox="1"/>
          <p:nvPr/>
        </p:nvSpPr>
        <p:spPr>
          <a:xfrm>
            <a:off x="12600432" y="7972360"/>
            <a:ext cx="3090672" cy="474489"/>
          </a:xfrm>
          <a:prstGeom prst="rect">
            <a:avLst/>
          </a:prstGeom>
        </p:spPr>
        <p:txBody>
          <a:bodyPr wrap="square" lIns="0" tIns="0" rIns="0" bIns="0" rtlCol="0" anchor="t">
            <a:spAutoFit/>
          </a:bodyPr>
          <a:lstStyle/>
          <a:p>
            <a:pPr algn="ctr">
              <a:lnSpc>
                <a:spcPts val="3746"/>
              </a:lnSpc>
            </a:pPr>
            <a:r>
              <a:rPr lang="en-US" sz="3122" b="1" dirty="0">
                <a:solidFill>
                  <a:srgbClr val="00C9FF"/>
                </a:solidFill>
                <a:latin typeface="Roboto Condensed Bold"/>
                <a:ea typeface="Roboto Condensed Bold"/>
                <a:cs typeface="Roboto Condensed Bold"/>
                <a:sym typeface="Roboto Condensed Bold"/>
              </a:rPr>
              <a:t>ACTIONABLE</a:t>
            </a:r>
          </a:p>
        </p:txBody>
      </p:sp>
      <p:sp>
        <p:nvSpPr>
          <p:cNvPr id="49" name="TextBox 40">
            <a:extLst>
              <a:ext uri="{FF2B5EF4-FFF2-40B4-BE49-F238E27FC236}">
                <a16:creationId xmlns:a16="http://schemas.microsoft.com/office/drawing/2014/main" id="{80EA5465-7225-872C-17E5-3CD065B8D3B0}"/>
              </a:ext>
            </a:extLst>
          </p:cNvPr>
          <p:cNvSpPr txBox="1"/>
          <p:nvPr/>
        </p:nvSpPr>
        <p:spPr>
          <a:xfrm>
            <a:off x="12061288" y="8479561"/>
            <a:ext cx="3949448" cy="346249"/>
          </a:xfrm>
          <a:prstGeom prst="rect">
            <a:avLst/>
          </a:prstGeom>
        </p:spPr>
        <p:txBody>
          <a:bodyPr wrap="square" lIns="0" tIns="0" rIns="0" bIns="0" rtlCol="0" anchor="t">
            <a:spAutoFit/>
          </a:bodyPr>
          <a:lstStyle/>
          <a:p>
            <a:pPr algn="ctr">
              <a:lnSpc>
                <a:spcPts val="2745"/>
              </a:lnSpc>
            </a:pPr>
            <a:r>
              <a:rPr lang="en-US" sz="2287" dirty="0">
                <a:solidFill>
                  <a:srgbClr val="FFFFFF"/>
                </a:solidFill>
                <a:latin typeface="Roboto Condensed"/>
                <a:ea typeface="Roboto Condensed"/>
                <a:cs typeface="Roboto Condensed"/>
                <a:sym typeface="Roboto Condensed"/>
              </a:rPr>
              <a:t>Forecast → Cleanup Priority</a:t>
            </a:r>
          </a:p>
        </p:txBody>
      </p:sp>
      <p:sp>
        <p:nvSpPr>
          <p:cNvPr id="50" name="Freeform 41">
            <a:extLst>
              <a:ext uri="{FF2B5EF4-FFF2-40B4-BE49-F238E27FC236}">
                <a16:creationId xmlns:a16="http://schemas.microsoft.com/office/drawing/2014/main" id="{7BC3D18C-E612-68C4-3C1B-26999E94FB80}"/>
              </a:ext>
            </a:extLst>
          </p:cNvPr>
          <p:cNvSpPr/>
          <p:nvPr/>
        </p:nvSpPr>
        <p:spPr>
          <a:xfrm>
            <a:off x="428625" y="9344025"/>
            <a:ext cx="17211675" cy="219075"/>
          </a:xfrm>
          <a:custGeom>
            <a:avLst/>
            <a:gdLst/>
            <a:ahLst/>
            <a:cxnLst/>
            <a:rect l="l" t="t" r="r" b="b"/>
            <a:pathLst>
              <a:path w="17211675" h="219075">
                <a:moveTo>
                  <a:pt x="0" y="0"/>
                </a:moveTo>
                <a:lnTo>
                  <a:pt x="17211675" y="0"/>
                </a:lnTo>
                <a:lnTo>
                  <a:pt x="17211675" y="219075"/>
                </a:lnTo>
                <a:lnTo>
                  <a:pt x="0" y="219075"/>
                </a:lnTo>
                <a:lnTo>
                  <a:pt x="0" y="0"/>
                </a:lnTo>
                <a:close/>
              </a:path>
            </a:pathLst>
          </a:custGeom>
          <a:blipFill>
            <a:blip r:embed="rId22"/>
            <a:stretch>
              <a:fillRect/>
            </a:stretch>
          </a:blipFill>
        </p:spPr>
      </p:sp>
      <p:sp>
        <p:nvSpPr>
          <p:cNvPr id="51" name="TextBox 42">
            <a:extLst>
              <a:ext uri="{FF2B5EF4-FFF2-40B4-BE49-F238E27FC236}">
                <a16:creationId xmlns:a16="http://schemas.microsoft.com/office/drawing/2014/main" id="{C9539E39-1F37-DEB0-6035-D8C6E7325ED3}"/>
              </a:ext>
            </a:extLst>
          </p:cNvPr>
          <p:cNvSpPr txBox="1"/>
          <p:nvPr/>
        </p:nvSpPr>
        <p:spPr>
          <a:xfrm>
            <a:off x="263843" y="9616059"/>
            <a:ext cx="3441382" cy="359073"/>
          </a:xfrm>
          <a:prstGeom prst="rect">
            <a:avLst/>
          </a:prstGeom>
        </p:spPr>
        <p:txBody>
          <a:bodyPr wrap="square" lIns="0" tIns="0" rIns="0" bIns="0" rtlCol="0" anchor="t">
            <a:spAutoFit/>
          </a:bodyPr>
          <a:lstStyle/>
          <a:p>
            <a:pPr algn="l">
              <a:lnSpc>
                <a:spcPts val="2812"/>
              </a:lnSpc>
            </a:pPr>
            <a:r>
              <a:rPr lang="en-US" sz="2343" b="1" dirty="0">
                <a:latin typeface="Roboto Condensed Bold"/>
                <a:ea typeface="Roboto Condensed Bold"/>
                <a:cs typeface="Roboto Condensed Bold"/>
                <a:sym typeface="Roboto Condensed Bold"/>
              </a:rPr>
              <a:t>Satellite observation</a:t>
            </a:r>
          </a:p>
        </p:txBody>
      </p:sp>
      <p:sp>
        <p:nvSpPr>
          <p:cNvPr id="52" name="Freeform 43">
            <a:extLst>
              <a:ext uri="{FF2B5EF4-FFF2-40B4-BE49-F238E27FC236}">
                <a16:creationId xmlns:a16="http://schemas.microsoft.com/office/drawing/2014/main" id="{62194C94-8590-9882-B936-7ED642702AA0}"/>
              </a:ext>
            </a:extLst>
          </p:cNvPr>
          <p:cNvSpPr/>
          <p:nvPr/>
        </p:nvSpPr>
        <p:spPr>
          <a:xfrm>
            <a:off x="3200400" y="9563100"/>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23"/>
            <a:stretch>
              <a:fillRect/>
            </a:stretch>
          </a:blipFill>
        </p:spPr>
      </p:sp>
      <p:sp>
        <p:nvSpPr>
          <p:cNvPr id="53" name="TextBox 44">
            <a:extLst>
              <a:ext uri="{FF2B5EF4-FFF2-40B4-BE49-F238E27FC236}">
                <a16:creationId xmlns:a16="http://schemas.microsoft.com/office/drawing/2014/main" id="{F48074E3-002B-60BB-3707-EAF4B5CC3827}"/>
              </a:ext>
            </a:extLst>
          </p:cNvPr>
          <p:cNvSpPr txBox="1"/>
          <p:nvPr/>
        </p:nvSpPr>
        <p:spPr>
          <a:xfrm>
            <a:off x="4014980" y="9616059"/>
            <a:ext cx="2177412" cy="368598"/>
          </a:xfrm>
          <a:prstGeom prst="rect">
            <a:avLst/>
          </a:prstGeom>
        </p:spPr>
        <p:txBody>
          <a:bodyPr wrap="square" lIns="0" tIns="0" rIns="0" bIns="0" rtlCol="0" anchor="t">
            <a:spAutoFit/>
          </a:bodyPr>
          <a:lstStyle/>
          <a:p>
            <a:pPr algn="l">
              <a:lnSpc>
                <a:spcPts val="2812"/>
              </a:lnSpc>
            </a:pPr>
            <a:r>
              <a:rPr lang="en-US" sz="2343" b="1" dirty="0">
                <a:latin typeface="Roboto Condensed Bold"/>
                <a:ea typeface="Roboto Condensed Bold"/>
                <a:cs typeface="Roboto Condensed Bold"/>
                <a:sym typeface="Roboto Condensed Bold"/>
              </a:rPr>
              <a:t>AI intelligence</a:t>
            </a:r>
          </a:p>
        </p:txBody>
      </p:sp>
      <p:sp>
        <p:nvSpPr>
          <p:cNvPr id="54" name="Freeform 45">
            <a:extLst>
              <a:ext uri="{FF2B5EF4-FFF2-40B4-BE49-F238E27FC236}">
                <a16:creationId xmlns:a16="http://schemas.microsoft.com/office/drawing/2014/main" id="{D1760377-4749-A5F8-DD35-6FD6448A82EE}"/>
              </a:ext>
            </a:extLst>
          </p:cNvPr>
          <p:cNvSpPr/>
          <p:nvPr/>
        </p:nvSpPr>
        <p:spPr>
          <a:xfrm>
            <a:off x="5895975" y="95631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4"/>
            <a:stretch>
              <a:fillRect/>
            </a:stretch>
          </a:blipFill>
        </p:spPr>
      </p:sp>
      <p:sp>
        <p:nvSpPr>
          <p:cNvPr id="55" name="TextBox 46">
            <a:extLst>
              <a:ext uri="{FF2B5EF4-FFF2-40B4-BE49-F238E27FC236}">
                <a16:creationId xmlns:a16="http://schemas.microsoft.com/office/drawing/2014/main" id="{4235573E-8252-1125-60AE-F399A0D5DE91}"/>
              </a:ext>
            </a:extLst>
          </p:cNvPr>
          <p:cNvSpPr txBox="1"/>
          <p:nvPr/>
        </p:nvSpPr>
        <p:spPr>
          <a:xfrm>
            <a:off x="6777953" y="9625584"/>
            <a:ext cx="264480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Ocean dynamics</a:t>
            </a:r>
          </a:p>
        </p:txBody>
      </p:sp>
      <p:sp>
        <p:nvSpPr>
          <p:cNvPr id="56" name="Freeform 47">
            <a:extLst>
              <a:ext uri="{FF2B5EF4-FFF2-40B4-BE49-F238E27FC236}">
                <a16:creationId xmlns:a16="http://schemas.microsoft.com/office/drawing/2014/main" id="{CE46FDBD-B51B-2C22-7AD4-A63161BBAD50}"/>
              </a:ext>
            </a:extLst>
          </p:cNvPr>
          <p:cNvSpPr/>
          <p:nvPr/>
        </p:nvSpPr>
        <p:spPr>
          <a:xfrm>
            <a:off x="9324975" y="9661227"/>
            <a:ext cx="657225" cy="359073"/>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5"/>
            <a:stretch>
              <a:fillRect/>
            </a:stretch>
          </a:blipFill>
        </p:spPr>
      </p:sp>
      <p:sp>
        <p:nvSpPr>
          <p:cNvPr id="57" name="TextBox 48">
            <a:extLst>
              <a:ext uri="{FF2B5EF4-FFF2-40B4-BE49-F238E27FC236}">
                <a16:creationId xmlns:a16="http://schemas.microsoft.com/office/drawing/2014/main" id="{B1458B6F-F069-CEAB-799E-97A21530C126}"/>
              </a:ext>
            </a:extLst>
          </p:cNvPr>
          <p:cNvSpPr txBox="1"/>
          <p:nvPr/>
        </p:nvSpPr>
        <p:spPr>
          <a:xfrm>
            <a:off x="11370945" y="6108491"/>
            <a:ext cx="2184654" cy="309957"/>
          </a:xfrm>
          <a:prstGeom prst="rect">
            <a:avLst/>
          </a:prstGeom>
        </p:spPr>
        <p:txBody>
          <a:bodyPr wrap="square" lIns="0" tIns="0" rIns="0" bIns="0" rtlCol="0" anchor="t">
            <a:spAutoFit/>
          </a:bodyPr>
          <a:lstStyle/>
          <a:p>
            <a:pPr algn="ctr">
              <a:lnSpc>
                <a:spcPts val="2463"/>
              </a:lnSpc>
            </a:pPr>
            <a:r>
              <a:rPr lang="en-US" sz="2053" b="1" dirty="0">
                <a:solidFill>
                  <a:srgbClr val="00C9FF"/>
                </a:solidFill>
                <a:latin typeface="Roboto Condensed Bold"/>
                <a:ea typeface="Roboto Condensed Bold"/>
                <a:cs typeface="Roboto Condensed Bold"/>
                <a:sym typeface="Roboto Condensed Bold"/>
              </a:rPr>
              <a:t>DRIFT MODEL</a:t>
            </a:r>
          </a:p>
        </p:txBody>
      </p:sp>
      <p:sp>
        <p:nvSpPr>
          <p:cNvPr id="58" name="TextBox 49">
            <a:extLst>
              <a:ext uri="{FF2B5EF4-FFF2-40B4-BE49-F238E27FC236}">
                <a16:creationId xmlns:a16="http://schemas.microsoft.com/office/drawing/2014/main" id="{2892283C-4D6D-A283-52E4-B147D4DB1F47}"/>
              </a:ext>
            </a:extLst>
          </p:cNvPr>
          <p:cNvSpPr txBox="1"/>
          <p:nvPr/>
        </p:nvSpPr>
        <p:spPr>
          <a:xfrm>
            <a:off x="2050594" y="8537704"/>
            <a:ext cx="3386166" cy="343556"/>
          </a:xfrm>
          <a:prstGeom prst="rect">
            <a:avLst/>
          </a:prstGeom>
        </p:spPr>
        <p:txBody>
          <a:bodyPr wrap="square" lIns="0" tIns="0" rIns="0" bIns="0" rtlCol="0" anchor="t">
            <a:spAutoFit/>
          </a:bodyPr>
          <a:lstStyle/>
          <a:p>
            <a:pPr algn="ctr">
              <a:lnSpc>
                <a:spcPts val="2778"/>
              </a:lnSpc>
            </a:pPr>
            <a:r>
              <a:rPr lang="en-US" sz="2315" dirty="0">
                <a:solidFill>
                  <a:srgbClr val="FFFFFF"/>
                </a:solidFill>
                <a:latin typeface="Roboto Condensed"/>
                <a:ea typeface="Roboto Condensed"/>
                <a:cs typeface="Roboto Condensed"/>
                <a:sym typeface="Roboto Condensed"/>
              </a:rPr>
              <a:t>Satellite + Current + Wind</a:t>
            </a:r>
          </a:p>
        </p:txBody>
      </p:sp>
      <p:sp>
        <p:nvSpPr>
          <p:cNvPr id="59" name="TextBox 50">
            <a:extLst>
              <a:ext uri="{FF2B5EF4-FFF2-40B4-BE49-F238E27FC236}">
                <a16:creationId xmlns:a16="http://schemas.microsoft.com/office/drawing/2014/main" id="{C3AF5DAE-6E73-C8DD-C377-729BFE4B460D}"/>
              </a:ext>
            </a:extLst>
          </p:cNvPr>
          <p:cNvSpPr txBox="1"/>
          <p:nvPr/>
        </p:nvSpPr>
        <p:spPr>
          <a:xfrm>
            <a:off x="7772399" y="8520112"/>
            <a:ext cx="2651379" cy="346249"/>
          </a:xfrm>
          <a:prstGeom prst="rect">
            <a:avLst/>
          </a:prstGeom>
        </p:spPr>
        <p:txBody>
          <a:bodyPr wrap="square" lIns="0" tIns="0" rIns="0" bIns="0" rtlCol="0" anchor="t">
            <a:spAutoFit/>
          </a:bodyPr>
          <a:lstStyle/>
          <a:p>
            <a:pPr algn="ctr">
              <a:lnSpc>
                <a:spcPts val="2745"/>
              </a:lnSpc>
            </a:pPr>
            <a:r>
              <a:rPr lang="en-US" sz="2287" dirty="0">
                <a:solidFill>
                  <a:srgbClr val="FFFFFF"/>
                </a:solidFill>
                <a:latin typeface="Roboto Condensed"/>
                <a:ea typeface="Roboto Condensed"/>
                <a:cs typeface="Roboto Condensed"/>
                <a:sym typeface="Roboto Condensed"/>
              </a:rPr>
              <a:t>Today → Tomorrow</a:t>
            </a:r>
          </a:p>
        </p:txBody>
      </p:sp>
      <p:sp>
        <p:nvSpPr>
          <p:cNvPr id="60" name="TextBox 51">
            <a:extLst>
              <a:ext uri="{FF2B5EF4-FFF2-40B4-BE49-F238E27FC236}">
                <a16:creationId xmlns:a16="http://schemas.microsoft.com/office/drawing/2014/main" id="{EF5B2C2B-9755-7279-57A5-7A6A160635B2}"/>
              </a:ext>
            </a:extLst>
          </p:cNvPr>
          <p:cNvSpPr txBox="1"/>
          <p:nvPr/>
        </p:nvSpPr>
        <p:spPr>
          <a:xfrm>
            <a:off x="9893807" y="9625584"/>
            <a:ext cx="191972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Prediction</a:t>
            </a:r>
          </a:p>
        </p:txBody>
      </p:sp>
      <p:sp>
        <p:nvSpPr>
          <p:cNvPr id="61" name="TextBox 52">
            <a:extLst>
              <a:ext uri="{FF2B5EF4-FFF2-40B4-BE49-F238E27FC236}">
                <a16:creationId xmlns:a16="http://schemas.microsoft.com/office/drawing/2014/main" id="{9587C18D-C257-E75F-9748-F252DF6739A8}"/>
              </a:ext>
            </a:extLst>
          </p:cNvPr>
          <p:cNvSpPr txBox="1"/>
          <p:nvPr/>
        </p:nvSpPr>
        <p:spPr>
          <a:xfrm>
            <a:off x="12070080" y="9625584"/>
            <a:ext cx="1316736"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Action</a:t>
            </a:r>
          </a:p>
        </p:txBody>
      </p:sp>
      <p:sp>
        <p:nvSpPr>
          <p:cNvPr id="62" name="TextBox 53">
            <a:extLst>
              <a:ext uri="{FF2B5EF4-FFF2-40B4-BE49-F238E27FC236}">
                <a16:creationId xmlns:a16="http://schemas.microsoft.com/office/drawing/2014/main" id="{C7B3775E-63B2-CBED-E91F-DB7828190C86}"/>
              </a:ext>
            </a:extLst>
          </p:cNvPr>
          <p:cNvSpPr txBox="1"/>
          <p:nvPr/>
        </p:nvSpPr>
        <p:spPr>
          <a:xfrm>
            <a:off x="13304842" y="9516080"/>
            <a:ext cx="5273992" cy="631327"/>
          </a:xfrm>
          <a:prstGeom prst="rect">
            <a:avLst/>
          </a:prstGeom>
        </p:spPr>
        <p:txBody>
          <a:bodyPr wrap="square" lIns="0" tIns="0" rIns="0" bIns="0" rtlCol="0" anchor="t">
            <a:spAutoFit/>
          </a:bodyPr>
          <a:lstStyle/>
          <a:p>
            <a:pPr>
              <a:lnSpc>
                <a:spcPts val="2491"/>
              </a:lnSpc>
            </a:pPr>
            <a:r>
              <a:rPr lang="en-US" sz="2076" b="1" dirty="0">
                <a:latin typeface="Roboto Condensed Bold"/>
                <a:ea typeface="Roboto Condensed Bold"/>
                <a:cs typeface="Roboto Condensed Bold"/>
                <a:sym typeface="Roboto Condensed Bold"/>
              </a:rPr>
              <a:t>Output: </a:t>
            </a:r>
            <a:r>
              <a:rPr lang="en-US" sz="2076" b="1" dirty="0">
                <a:latin typeface="Roboto Condensed"/>
                <a:ea typeface="Roboto Condensed"/>
                <a:cs typeface="Roboto Condensed"/>
                <a:sym typeface="Roboto Condensed"/>
              </a:rPr>
              <a:t>potential debris hotspot</a:t>
            </a:r>
          </a:p>
          <a:p>
            <a:pPr>
              <a:lnSpc>
                <a:spcPts val="2491"/>
              </a:lnSpc>
            </a:pPr>
            <a:r>
              <a:rPr lang="en-US" sz="2076" b="1" dirty="0">
                <a:latin typeface="Roboto Condensed"/>
                <a:ea typeface="Roboto Condensed"/>
                <a:cs typeface="Roboto Condensed"/>
                <a:sym typeface="Roboto Condensed"/>
              </a:rPr>
              <a:t>+ confidence + predicted trajectory</a:t>
            </a:r>
          </a:p>
        </p:txBody>
      </p:sp>
      <p:sp>
        <p:nvSpPr>
          <p:cNvPr id="8" name="Freeform 47">
            <a:extLst>
              <a:ext uri="{FF2B5EF4-FFF2-40B4-BE49-F238E27FC236}">
                <a16:creationId xmlns:a16="http://schemas.microsoft.com/office/drawing/2014/main" id="{4D6E886C-6D4C-8725-219A-9D8E05E7CD05}"/>
              </a:ext>
            </a:extLst>
          </p:cNvPr>
          <p:cNvSpPr/>
          <p:nvPr/>
        </p:nvSpPr>
        <p:spPr>
          <a:xfrm>
            <a:off x="9067800" y="9660391"/>
            <a:ext cx="657225" cy="359073"/>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5"/>
            <a:stretch>
              <a:fillRect/>
            </a:stretch>
          </a:blipFill>
        </p:spPr>
      </p:sp>
      <p:sp>
        <p:nvSpPr>
          <p:cNvPr id="9" name="TextBox 51">
            <a:extLst>
              <a:ext uri="{FF2B5EF4-FFF2-40B4-BE49-F238E27FC236}">
                <a16:creationId xmlns:a16="http://schemas.microsoft.com/office/drawing/2014/main" id="{3148BB98-153F-1730-E1B0-A9ACBF5B7982}"/>
              </a:ext>
            </a:extLst>
          </p:cNvPr>
          <p:cNvSpPr txBox="1"/>
          <p:nvPr/>
        </p:nvSpPr>
        <p:spPr>
          <a:xfrm>
            <a:off x="9891446" y="9641167"/>
            <a:ext cx="191972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Prediction</a:t>
            </a:r>
          </a:p>
        </p:txBody>
      </p:sp>
      <p:sp>
        <p:nvSpPr>
          <p:cNvPr id="11" name="Freeform 45">
            <a:extLst>
              <a:ext uri="{FF2B5EF4-FFF2-40B4-BE49-F238E27FC236}">
                <a16:creationId xmlns:a16="http://schemas.microsoft.com/office/drawing/2014/main" id="{D868B03B-FB0A-F476-61FE-5EAC0869CB36}"/>
              </a:ext>
            </a:extLst>
          </p:cNvPr>
          <p:cNvSpPr/>
          <p:nvPr/>
        </p:nvSpPr>
        <p:spPr>
          <a:xfrm>
            <a:off x="11306175" y="9616059"/>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108C912-1C35-097F-E14A-88ACEE58ED56}"/>
              </a:ext>
            </a:extLst>
          </p:cNvPr>
          <p:cNvGrpSpPr/>
          <p:nvPr/>
        </p:nvGrpSpPr>
        <p:grpSpPr>
          <a:xfrm>
            <a:off x="10839" y="0"/>
            <a:ext cx="18288000" cy="10287000"/>
            <a:chOff x="310232" y="10109112"/>
            <a:chExt cx="24384000" cy="13716000"/>
          </a:xfrm>
        </p:grpSpPr>
        <p:sp>
          <p:nvSpPr>
            <p:cNvPr id="3" name="Freeform 3" descr="A bright light in a room  AI-generated content may be incorrect.">
              <a:extLst>
                <a:ext uri="{FF2B5EF4-FFF2-40B4-BE49-F238E27FC236}">
                  <a16:creationId xmlns:a16="http://schemas.microsoft.com/office/drawing/2014/main" id="{5D880FED-CB94-B1D4-918D-2F7EE44952C9}"/>
                </a:ext>
              </a:extLst>
            </p:cNvPr>
            <p:cNvSpPr/>
            <p:nvPr/>
          </p:nvSpPr>
          <p:spPr>
            <a:xfrm>
              <a:off x="310232" y="10109112"/>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a:extLst>
              <a:ext uri="{FF2B5EF4-FFF2-40B4-BE49-F238E27FC236}">
                <a16:creationId xmlns:a16="http://schemas.microsoft.com/office/drawing/2014/main" id="{62AF4939-867A-74A1-1F4E-E9C4A796BF3F}"/>
              </a:ext>
            </a:extLst>
          </p:cNvPr>
          <p:cNvGrpSpPr/>
          <p:nvPr/>
        </p:nvGrpSpPr>
        <p:grpSpPr>
          <a:xfrm>
            <a:off x="5781894" y="-15583"/>
            <a:ext cx="1451134" cy="1408748"/>
            <a:chOff x="0" y="0"/>
            <a:chExt cx="1934845" cy="1878330"/>
          </a:xfrm>
        </p:grpSpPr>
        <p:sp>
          <p:nvSpPr>
            <p:cNvPr id="5" name="Freeform 5">
              <a:extLst>
                <a:ext uri="{FF2B5EF4-FFF2-40B4-BE49-F238E27FC236}">
                  <a16:creationId xmlns:a16="http://schemas.microsoft.com/office/drawing/2014/main" id="{C266ABEF-6254-618D-86FD-856D751A117C}"/>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a:extLst>
              <a:ext uri="{FF2B5EF4-FFF2-40B4-BE49-F238E27FC236}">
                <a16:creationId xmlns:a16="http://schemas.microsoft.com/office/drawing/2014/main" id="{D9E8ED64-B3CB-DD55-1AAA-3D898A28A1CB}"/>
              </a:ext>
            </a:extLst>
          </p:cNvPr>
          <p:cNvGrpSpPr/>
          <p:nvPr/>
        </p:nvGrpSpPr>
        <p:grpSpPr>
          <a:xfrm>
            <a:off x="7128300" y="408394"/>
            <a:ext cx="4053078" cy="1175271"/>
            <a:chOff x="0" y="0"/>
            <a:chExt cx="5404104" cy="1567028"/>
          </a:xfrm>
        </p:grpSpPr>
        <p:sp>
          <p:nvSpPr>
            <p:cNvPr id="7" name="Freeform 7">
              <a:extLst>
                <a:ext uri="{FF2B5EF4-FFF2-40B4-BE49-F238E27FC236}">
                  <a16:creationId xmlns:a16="http://schemas.microsoft.com/office/drawing/2014/main" id="{EBB4CE20-99BA-629F-9662-3F986E47AB74}"/>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14" name="TextBox 3">
            <a:extLst>
              <a:ext uri="{FF2B5EF4-FFF2-40B4-BE49-F238E27FC236}">
                <a16:creationId xmlns:a16="http://schemas.microsoft.com/office/drawing/2014/main" id="{18D0D96E-9DC9-CED5-8347-C9229FFAD2D7}"/>
              </a:ext>
            </a:extLst>
          </p:cNvPr>
          <p:cNvSpPr txBox="1"/>
          <p:nvPr/>
        </p:nvSpPr>
        <p:spPr>
          <a:xfrm>
            <a:off x="5059408" y="1593113"/>
            <a:ext cx="9473184" cy="674333"/>
          </a:xfrm>
          <a:prstGeom prst="rect">
            <a:avLst/>
          </a:prstGeom>
        </p:spPr>
        <p:txBody>
          <a:bodyPr lIns="0" tIns="0" rIns="0" bIns="0" rtlCol="0" anchor="t">
            <a:spAutoFit/>
          </a:bodyPr>
          <a:lstStyle/>
          <a:p>
            <a:pPr algn="ctr">
              <a:lnSpc>
                <a:spcPts val="5173"/>
              </a:lnSpc>
            </a:pPr>
            <a:r>
              <a:rPr lang="en-US" sz="5173" b="1" spc="-155" dirty="0">
                <a:latin typeface="Montaser Arabic Bold"/>
                <a:ea typeface="Montaser Arabic Bold"/>
                <a:cs typeface="Montaser Arabic Bold"/>
                <a:sym typeface="Montaser Arabic Bold"/>
              </a:rPr>
              <a:t>HOW AQUATRACE AI WORKS</a:t>
            </a:r>
          </a:p>
        </p:txBody>
      </p:sp>
      <p:sp>
        <p:nvSpPr>
          <p:cNvPr id="15" name="TextBox 4">
            <a:extLst>
              <a:ext uri="{FF2B5EF4-FFF2-40B4-BE49-F238E27FC236}">
                <a16:creationId xmlns:a16="http://schemas.microsoft.com/office/drawing/2014/main" id="{8B422C31-6448-7277-B3CC-B48246FFD66D}"/>
              </a:ext>
            </a:extLst>
          </p:cNvPr>
          <p:cNvSpPr txBox="1"/>
          <p:nvPr/>
        </p:nvSpPr>
        <p:spPr>
          <a:xfrm>
            <a:off x="3289377" y="2427485"/>
            <a:ext cx="11950284" cy="352725"/>
          </a:xfrm>
          <a:prstGeom prst="rect">
            <a:avLst/>
          </a:prstGeom>
        </p:spPr>
        <p:txBody>
          <a:bodyPr wrap="square" lIns="0" tIns="0" rIns="0" bIns="0" rtlCol="0" anchor="t">
            <a:spAutoFit/>
          </a:bodyPr>
          <a:lstStyle/>
          <a:p>
            <a:pPr algn="ctr">
              <a:lnSpc>
                <a:spcPts val="2371"/>
              </a:lnSpc>
            </a:pPr>
            <a:r>
              <a:rPr lang="en-US" sz="3600" spc="-71" dirty="0">
                <a:solidFill>
                  <a:schemeClr val="accent4"/>
                </a:solidFill>
                <a:latin typeface="Montaser Arabic"/>
                <a:ea typeface="Montaser Arabic"/>
                <a:cs typeface="Montaser Arabic"/>
                <a:sym typeface="Montaser Arabic"/>
              </a:rPr>
              <a:t>A </a:t>
            </a:r>
            <a:r>
              <a:rPr lang="en-US" sz="3600" spc="-71" dirty="0">
                <a:solidFill>
                  <a:srgbClr val="9781B3"/>
                </a:solidFill>
                <a:latin typeface="Montaser Arabic"/>
                <a:ea typeface="Montaser Arabic"/>
                <a:cs typeface="Montaser Arabic"/>
                <a:sym typeface="Montaser Arabic"/>
              </a:rPr>
              <a:t>multimodal</a:t>
            </a:r>
            <a:r>
              <a:rPr lang="en-US" sz="3600" spc="-71" dirty="0">
                <a:solidFill>
                  <a:schemeClr val="accent4"/>
                </a:solidFill>
                <a:latin typeface="Montaser Arabic"/>
                <a:ea typeface="Montaser Arabic"/>
                <a:cs typeface="Montaser Arabic"/>
                <a:sym typeface="Montaser Arabic"/>
              </a:rPr>
              <a:t> </a:t>
            </a:r>
            <a:r>
              <a:rPr lang="en-US" sz="3600" spc="-71" dirty="0">
                <a:solidFill>
                  <a:srgbClr val="8064A2"/>
                </a:solidFill>
                <a:latin typeface="Montaser Arabic"/>
                <a:ea typeface="Montaser Arabic"/>
                <a:cs typeface="Montaser Arabic"/>
                <a:sym typeface="Montaser Arabic"/>
              </a:rPr>
              <a:t>Earth-observation</a:t>
            </a:r>
            <a:r>
              <a:rPr lang="en-US" sz="3600" spc="-71" dirty="0">
                <a:solidFill>
                  <a:schemeClr val="accent4"/>
                </a:solidFill>
                <a:latin typeface="Montaser Arabic"/>
                <a:ea typeface="Montaser Arabic"/>
                <a:cs typeface="Montaser Arabic"/>
                <a:sym typeface="Montaser Arabic"/>
              </a:rPr>
              <a:t> + ocean-drift forecasting pipeline</a:t>
            </a:r>
          </a:p>
        </p:txBody>
      </p:sp>
      <p:sp>
        <p:nvSpPr>
          <p:cNvPr id="16" name="Freeform 5">
            <a:extLst>
              <a:ext uri="{FF2B5EF4-FFF2-40B4-BE49-F238E27FC236}">
                <a16:creationId xmlns:a16="http://schemas.microsoft.com/office/drawing/2014/main" id="{77307C81-573C-109E-541F-05EE377FE4CE}"/>
              </a:ext>
            </a:extLst>
          </p:cNvPr>
          <p:cNvSpPr/>
          <p:nvPr/>
        </p:nvSpPr>
        <p:spPr>
          <a:xfrm>
            <a:off x="209550" y="2857500"/>
            <a:ext cx="3495675" cy="4724400"/>
          </a:xfrm>
          <a:custGeom>
            <a:avLst/>
            <a:gdLst/>
            <a:ahLst/>
            <a:cxnLst/>
            <a:rect l="l" t="t" r="r" b="b"/>
            <a:pathLst>
              <a:path w="3495675" h="4724400">
                <a:moveTo>
                  <a:pt x="0" y="0"/>
                </a:moveTo>
                <a:lnTo>
                  <a:pt x="3495675" y="0"/>
                </a:lnTo>
                <a:lnTo>
                  <a:pt x="3495675" y="4724400"/>
                </a:lnTo>
                <a:lnTo>
                  <a:pt x="0" y="4724400"/>
                </a:lnTo>
                <a:lnTo>
                  <a:pt x="0" y="0"/>
                </a:lnTo>
                <a:close/>
              </a:path>
            </a:pathLst>
          </a:custGeom>
          <a:blipFill>
            <a:blip r:embed="rId5"/>
            <a:stretch>
              <a:fillRect/>
            </a:stretch>
          </a:blipFill>
        </p:spPr>
      </p:sp>
      <p:sp>
        <p:nvSpPr>
          <p:cNvPr id="17" name="TextBox 6">
            <a:extLst>
              <a:ext uri="{FF2B5EF4-FFF2-40B4-BE49-F238E27FC236}">
                <a16:creationId xmlns:a16="http://schemas.microsoft.com/office/drawing/2014/main" id="{1E466930-DAEB-6C1C-AF64-9C5B132010ED}"/>
              </a:ext>
            </a:extLst>
          </p:cNvPr>
          <p:cNvSpPr txBox="1"/>
          <p:nvPr/>
        </p:nvSpPr>
        <p:spPr>
          <a:xfrm>
            <a:off x="1125028" y="3327476"/>
            <a:ext cx="1271397" cy="254365"/>
          </a:xfrm>
          <a:prstGeom prst="rect">
            <a:avLst/>
          </a:prstGeom>
        </p:spPr>
        <p:txBody>
          <a:bodyPr wrap="square" lIns="0" tIns="0" rIns="0" bIns="0" rtlCol="0" anchor="t">
            <a:spAutoFit/>
          </a:bodyPr>
          <a:lstStyle/>
          <a:p>
            <a:pPr algn="l">
              <a:lnSpc>
                <a:spcPts val="1753"/>
              </a:lnSpc>
            </a:pPr>
            <a:r>
              <a:rPr lang="en-US" sz="2400" b="1" spc="-52" dirty="0">
                <a:solidFill>
                  <a:srgbClr val="FFFFFF"/>
                </a:solidFill>
                <a:latin typeface="Montaser Arabic Bold"/>
                <a:ea typeface="Montaser Arabic Bold"/>
                <a:cs typeface="Montaser Arabic Bold"/>
                <a:sym typeface="Montaser Arabic Bold"/>
              </a:rPr>
              <a:t>OBSERVE</a:t>
            </a:r>
          </a:p>
        </p:txBody>
      </p:sp>
      <p:sp>
        <p:nvSpPr>
          <p:cNvPr id="18" name="TextBox 7">
            <a:extLst>
              <a:ext uri="{FF2B5EF4-FFF2-40B4-BE49-F238E27FC236}">
                <a16:creationId xmlns:a16="http://schemas.microsoft.com/office/drawing/2014/main" id="{F2028F47-55FE-1B9B-4D4E-2EF5E580AE59}"/>
              </a:ext>
            </a:extLst>
          </p:cNvPr>
          <p:cNvSpPr txBox="1"/>
          <p:nvPr/>
        </p:nvSpPr>
        <p:spPr>
          <a:xfrm>
            <a:off x="1024127" y="3767328"/>
            <a:ext cx="1676019" cy="231217"/>
          </a:xfrm>
          <a:prstGeom prst="rect">
            <a:avLst/>
          </a:prstGeom>
        </p:spPr>
        <p:txBody>
          <a:bodyPr wrap="square" lIns="0" tIns="0" rIns="0" bIns="0" rtlCol="0" anchor="t">
            <a:spAutoFit/>
          </a:bodyPr>
          <a:lstStyle/>
          <a:p>
            <a:pPr algn="l">
              <a:lnSpc>
                <a:spcPts val="1679"/>
              </a:lnSpc>
            </a:pPr>
            <a:r>
              <a:rPr lang="en-US" sz="2000" b="1" spc="-41" dirty="0">
                <a:solidFill>
                  <a:srgbClr val="00C2E4"/>
                </a:solidFill>
                <a:latin typeface="Montaser Arabic Bold"/>
                <a:ea typeface="Montaser Arabic Bold"/>
                <a:cs typeface="Montaser Arabic Bold"/>
                <a:sym typeface="Montaser Arabic Bold"/>
              </a:rPr>
              <a:t>NASA PACE OCI</a:t>
            </a:r>
          </a:p>
        </p:txBody>
      </p:sp>
      <p:sp>
        <p:nvSpPr>
          <p:cNvPr id="19" name="TextBox 8">
            <a:extLst>
              <a:ext uri="{FF2B5EF4-FFF2-40B4-BE49-F238E27FC236}">
                <a16:creationId xmlns:a16="http://schemas.microsoft.com/office/drawing/2014/main" id="{7F7B1BB5-0746-63D4-4443-44489FD1E5BA}"/>
              </a:ext>
            </a:extLst>
          </p:cNvPr>
          <p:cNvSpPr txBox="1"/>
          <p:nvPr/>
        </p:nvSpPr>
        <p:spPr>
          <a:xfrm>
            <a:off x="987552" y="4051816"/>
            <a:ext cx="2103120" cy="1077218"/>
          </a:xfrm>
          <a:prstGeom prst="rect">
            <a:avLst/>
          </a:prstGeom>
        </p:spPr>
        <p:txBody>
          <a:bodyPr wrap="square" lIns="0" tIns="0" rIns="0" bIns="0" rtlCol="0" anchor="t">
            <a:spAutoFit/>
          </a:bodyPr>
          <a:lstStyle/>
          <a:p>
            <a:pPr algn="l">
              <a:lnSpc>
                <a:spcPts val="2135"/>
              </a:lnSpc>
            </a:pPr>
            <a:r>
              <a:rPr lang="en-US" spc="-37" dirty="0">
                <a:solidFill>
                  <a:srgbClr val="FFFFFF"/>
                </a:solidFill>
                <a:latin typeface="Montaser Arabic"/>
                <a:ea typeface="Montaser Arabic"/>
                <a:cs typeface="Montaser Arabic"/>
                <a:sym typeface="Montaser Arabic"/>
              </a:rPr>
              <a:t>Surface reflectance</a:t>
            </a:r>
          </a:p>
          <a:p>
            <a:pPr algn="l">
              <a:lnSpc>
                <a:spcPts val="2135"/>
              </a:lnSpc>
            </a:pPr>
            <a:r>
              <a:rPr lang="en-US" spc="-37" dirty="0">
                <a:solidFill>
                  <a:srgbClr val="FFFFFF"/>
                </a:solidFill>
                <a:latin typeface="Montaser Arabic"/>
                <a:ea typeface="Montaser Arabic"/>
                <a:cs typeface="Montaser Arabic"/>
                <a:sym typeface="Montaser Arabic"/>
              </a:rPr>
              <a:t>Spectral information</a:t>
            </a:r>
          </a:p>
          <a:p>
            <a:pPr algn="l">
              <a:lnSpc>
                <a:spcPts val="2135"/>
              </a:lnSpc>
            </a:pPr>
            <a:r>
              <a:rPr lang="en-US" spc="-37" dirty="0">
                <a:solidFill>
                  <a:srgbClr val="FFFFFF"/>
                </a:solidFill>
                <a:latin typeface="Montaser Arabic"/>
                <a:ea typeface="Montaser Arabic"/>
                <a:cs typeface="Montaser Arabic"/>
                <a:sym typeface="Montaser Arabic"/>
              </a:rPr>
              <a:t>Spatial information</a:t>
            </a:r>
          </a:p>
          <a:p>
            <a:pPr algn="l">
              <a:lnSpc>
                <a:spcPts val="2135"/>
              </a:lnSpc>
            </a:pPr>
            <a:r>
              <a:rPr lang="en-US" spc="-37" dirty="0">
                <a:solidFill>
                  <a:srgbClr val="FFFFFF"/>
                </a:solidFill>
                <a:latin typeface="Montaser Arabic"/>
                <a:ea typeface="Montaser Arabic"/>
                <a:cs typeface="Montaser Arabic"/>
                <a:sym typeface="Montaser Arabic"/>
              </a:rPr>
              <a:t>Cloud / quality flags</a:t>
            </a:r>
          </a:p>
        </p:txBody>
      </p:sp>
      <p:sp>
        <p:nvSpPr>
          <p:cNvPr id="20" name="Freeform 9">
            <a:extLst>
              <a:ext uri="{FF2B5EF4-FFF2-40B4-BE49-F238E27FC236}">
                <a16:creationId xmlns:a16="http://schemas.microsoft.com/office/drawing/2014/main" id="{2CBBD629-726B-649C-50D9-B30069209B2F}"/>
              </a:ext>
            </a:extLst>
          </p:cNvPr>
          <p:cNvSpPr/>
          <p:nvPr/>
        </p:nvSpPr>
        <p:spPr>
          <a:xfrm>
            <a:off x="64770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6"/>
            <a:stretch>
              <a:fillRect/>
            </a:stretch>
          </a:blipFill>
        </p:spPr>
      </p:sp>
      <p:sp>
        <p:nvSpPr>
          <p:cNvPr id="21" name="Freeform 10">
            <a:extLst>
              <a:ext uri="{FF2B5EF4-FFF2-40B4-BE49-F238E27FC236}">
                <a16:creationId xmlns:a16="http://schemas.microsoft.com/office/drawing/2014/main" id="{AAA537D5-E252-8628-F8FD-1FF710C3CDF3}"/>
              </a:ext>
            </a:extLst>
          </p:cNvPr>
          <p:cNvSpPr/>
          <p:nvPr/>
        </p:nvSpPr>
        <p:spPr>
          <a:xfrm>
            <a:off x="428625" y="5857875"/>
            <a:ext cx="3276600" cy="1724025"/>
          </a:xfrm>
          <a:custGeom>
            <a:avLst/>
            <a:gdLst/>
            <a:ahLst/>
            <a:cxnLst/>
            <a:rect l="l" t="t" r="r" b="b"/>
            <a:pathLst>
              <a:path w="3276600" h="1724025">
                <a:moveTo>
                  <a:pt x="0" y="0"/>
                </a:moveTo>
                <a:lnTo>
                  <a:pt x="3276600" y="0"/>
                </a:lnTo>
                <a:lnTo>
                  <a:pt x="3276600" y="1724025"/>
                </a:lnTo>
                <a:lnTo>
                  <a:pt x="0" y="1724025"/>
                </a:lnTo>
                <a:lnTo>
                  <a:pt x="0" y="0"/>
                </a:lnTo>
                <a:close/>
              </a:path>
            </a:pathLst>
          </a:custGeom>
          <a:blipFill>
            <a:blip r:embed="rId7"/>
            <a:stretch>
              <a:fillRect/>
            </a:stretch>
          </a:blipFill>
        </p:spPr>
      </p:sp>
      <p:sp>
        <p:nvSpPr>
          <p:cNvPr id="22" name="Freeform 11">
            <a:extLst>
              <a:ext uri="{FF2B5EF4-FFF2-40B4-BE49-F238E27FC236}">
                <a16:creationId xmlns:a16="http://schemas.microsoft.com/office/drawing/2014/main" id="{5862BB5C-523A-8DE2-434F-289D47A51EED}"/>
              </a:ext>
            </a:extLst>
          </p:cNvPr>
          <p:cNvSpPr/>
          <p:nvPr/>
        </p:nvSpPr>
        <p:spPr>
          <a:xfrm>
            <a:off x="3695700" y="2857500"/>
            <a:ext cx="3495675" cy="4724400"/>
          </a:xfrm>
          <a:custGeom>
            <a:avLst/>
            <a:gdLst/>
            <a:ahLst/>
            <a:cxnLst/>
            <a:rect l="l" t="t" r="r" b="b"/>
            <a:pathLst>
              <a:path w="3495675" h="4724400">
                <a:moveTo>
                  <a:pt x="0" y="0"/>
                </a:moveTo>
                <a:lnTo>
                  <a:pt x="3495675" y="0"/>
                </a:lnTo>
                <a:lnTo>
                  <a:pt x="3495675" y="4724400"/>
                </a:lnTo>
                <a:lnTo>
                  <a:pt x="0" y="4724400"/>
                </a:lnTo>
                <a:lnTo>
                  <a:pt x="0" y="0"/>
                </a:lnTo>
                <a:close/>
              </a:path>
            </a:pathLst>
          </a:custGeom>
          <a:blipFill>
            <a:blip r:embed="rId8"/>
            <a:stretch>
              <a:fillRect/>
            </a:stretch>
          </a:blipFill>
        </p:spPr>
      </p:sp>
      <p:sp>
        <p:nvSpPr>
          <p:cNvPr id="23" name="TextBox 12">
            <a:extLst>
              <a:ext uri="{FF2B5EF4-FFF2-40B4-BE49-F238E27FC236}">
                <a16:creationId xmlns:a16="http://schemas.microsoft.com/office/drawing/2014/main" id="{CC0FE612-CB5F-927D-F1CC-B08A2C3A7492}"/>
              </a:ext>
            </a:extLst>
          </p:cNvPr>
          <p:cNvSpPr txBox="1"/>
          <p:nvPr/>
        </p:nvSpPr>
        <p:spPr>
          <a:xfrm>
            <a:off x="4572000" y="3229165"/>
            <a:ext cx="2225040" cy="552524"/>
          </a:xfrm>
          <a:prstGeom prst="rect">
            <a:avLst/>
          </a:prstGeom>
        </p:spPr>
        <p:txBody>
          <a:bodyPr wrap="square" lIns="0" tIns="0" rIns="0" bIns="0" rtlCol="0" anchor="t">
            <a:spAutoFit/>
          </a:bodyPr>
          <a:lstStyle/>
          <a:p>
            <a:pPr algn="l">
              <a:lnSpc>
                <a:spcPts val="2055"/>
              </a:lnSpc>
            </a:pPr>
            <a:r>
              <a:rPr lang="en-US" sz="2400" b="1" spc="-51" dirty="0">
                <a:solidFill>
                  <a:srgbClr val="FFFFFF"/>
                </a:solidFill>
                <a:latin typeface="Montaser Arabic Bold"/>
                <a:ea typeface="Montaser Arabic Bold"/>
                <a:cs typeface="Montaser Arabic Bold"/>
                <a:sym typeface="Montaser Arabic Bold"/>
              </a:rPr>
              <a:t>AI HOTSPOT IDENTIFICATION</a:t>
            </a:r>
          </a:p>
        </p:txBody>
      </p:sp>
      <p:sp>
        <p:nvSpPr>
          <p:cNvPr id="24" name="TextBox 13">
            <a:extLst>
              <a:ext uri="{FF2B5EF4-FFF2-40B4-BE49-F238E27FC236}">
                <a16:creationId xmlns:a16="http://schemas.microsoft.com/office/drawing/2014/main" id="{2C913C6E-B521-0096-CAA5-D958A9050B24}"/>
              </a:ext>
            </a:extLst>
          </p:cNvPr>
          <p:cNvSpPr txBox="1"/>
          <p:nvPr/>
        </p:nvSpPr>
        <p:spPr>
          <a:xfrm>
            <a:off x="4610100" y="3908838"/>
            <a:ext cx="1895475" cy="1166986"/>
          </a:xfrm>
          <a:prstGeom prst="rect">
            <a:avLst/>
          </a:prstGeom>
        </p:spPr>
        <p:txBody>
          <a:bodyPr wrap="square" lIns="0" tIns="0" rIns="0" bIns="0" rtlCol="0" anchor="t">
            <a:spAutoFit/>
          </a:bodyPr>
          <a:lstStyle/>
          <a:p>
            <a:pPr algn="l">
              <a:lnSpc>
                <a:spcPts val="2255"/>
              </a:lnSpc>
            </a:pPr>
            <a:r>
              <a:rPr lang="en-US" spc="-39" dirty="0">
                <a:solidFill>
                  <a:srgbClr val="FFFFFF"/>
                </a:solidFill>
                <a:latin typeface="Montaser Arabic"/>
                <a:ea typeface="Montaser Arabic"/>
                <a:cs typeface="Montaser Arabic"/>
                <a:sym typeface="Montaser Arabic"/>
              </a:rPr>
              <a:t>Spectral features</a:t>
            </a:r>
          </a:p>
          <a:p>
            <a:pPr algn="l">
              <a:lnSpc>
                <a:spcPts val="2255"/>
              </a:lnSpc>
            </a:pPr>
            <a:r>
              <a:rPr lang="en-US" spc="-39" dirty="0">
                <a:solidFill>
                  <a:srgbClr val="FFFFFF"/>
                </a:solidFill>
                <a:latin typeface="Montaser Arabic"/>
                <a:ea typeface="Montaser Arabic"/>
                <a:cs typeface="Montaser Arabic"/>
                <a:sym typeface="Montaser Arabic"/>
              </a:rPr>
              <a:t>Spatial texture</a:t>
            </a:r>
          </a:p>
          <a:p>
            <a:pPr algn="l">
              <a:lnSpc>
                <a:spcPts val="2255"/>
              </a:lnSpc>
            </a:pPr>
            <a:r>
              <a:rPr lang="en-US" spc="-39" dirty="0">
                <a:solidFill>
                  <a:srgbClr val="FFFFFF"/>
                </a:solidFill>
                <a:latin typeface="Montaser Arabic"/>
                <a:ea typeface="Montaser Arabic"/>
                <a:cs typeface="Montaser Arabic"/>
                <a:sym typeface="Montaser Arabic"/>
              </a:rPr>
              <a:t>Temporal change</a:t>
            </a:r>
          </a:p>
          <a:p>
            <a:pPr algn="l">
              <a:lnSpc>
                <a:spcPts val="2255"/>
              </a:lnSpc>
            </a:pPr>
            <a:r>
              <a:rPr lang="en-US" spc="-39" dirty="0">
                <a:solidFill>
                  <a:srgbClr val="FFFFFF"/>
                </a:solidFill>
                <a:latin typeface="Montaser Arabic"/>
                <a:ea typeface="Montaser Arabic"/>
                <a:cs typeface="Montaser Arabic"/>
                <a:sym typeface="Montaser Arabic"/>
              </a:rPr>
              <a:t>Quality filtering</a:t>
            </a:r>
          </a:p>
        </p:txBody>
      </p:sp>
      <p:sp>
        <p:nvSpPr>
          <p:cNvPr id="25" name="Freeform 14">
            <a:extLst>
              <a:ext uri="{FF2B5EF4-FFF2-40B4-BE49-F238E27FC236}">
                <a16:creationId xmlns:a16="http://schemas.microsoft.com/office/drawing/2014/main" id="{35AFFDE7-7752-1A62-9CA7-81A90629F334}"/>
              </a:ext>
            </a:extLst>
          </p:cNvPr>
          <p:cNvSpPr/>
          <p:nvPr/>
        </p:nvSpPr>
        <p:spPr>
          <a:xfrm>
            <a:off x="413385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9"/>
            <a:stretch>
              <a:fillRect/>
            </a:stretch>
          </a:blipFill>
        </p:spPr>
      </p:sp>
      <p:sp>
        <p:nvSpPr>
          <p:cNvPr id="26" name="TextBox 15">
            <a:extLst>
              <a:ext uri="{FF2B5EF4-FFF2-40B4-BE49-F238E27FC236}">
                <a16:creationId xmlns:a16="http://schemas.microsoft.com/office/drawing/2014/main" id="{0EDE5520-347D-6641-9BBA-2B767E134B4A}"/>
              </a:ext>
            </a:extLst>
          </p:cNvPr>
          <p:cNvSpPr txBox="1"/>
          <p:nvPr/>
        </p:nvSpPr>
        <p:spPr>
          <a:xfrm>
            <a:off x="4418648" y="5568911"/>
            <a:ext cx="2487930" cy="471668"/>
          </a:xfrm>
          <a:prstGeom prst="rect">
            <a:avLst/>
          </a:prstGeom>
        </p:spPr>
        <p:txBody>
          <a:bodyPr wrap="square" lIns="0" tIns="0" rIns="0" bIns="0" rtlCol="0" anchor="t">
            <a:spAutoFit/>
          </a:bodyPr>
          <a:lstStyle/>
          <a:p>
            <a:pPr algn="l">
              <a:lnSpc>
                <a:spcPts val="1766"/>
              </a:lnSpc>
            </a:pPr>
            <a:r>
              <a:rPr lang="en-US" sz="2000" b="1" spc="-44" dirty="0">
                <a:solidFill>
                  <a:srgbClr val="00C2E4"/>
                </a:solidFill>
                <a:latin typeface="Montaser Arabic Bold"/>
                <a:ea typeface="Montaser Arabic Bold"/>
                <a:cs typeface="Montaser Arabic Bold"/>
                <a:sym typeface="Montaser Arabic Bold"/>
              </a:rPr>
              <a:t>Potential debris</a:t>
            </a:r>
          </a:p>
          <a:p>
            <a:pPr algn="l">
              <a:lnSpc>
                <a:spcPts val="1766"/>
              </a:lnSpc>
            </a:pPr>
            <a:r>
              <a:rPr lang="en-US" sz="2000" b="1" spc="-44" dirty="0">
                <a:solidFill>
                  <a:srgbClr val="00C2E4"/>
                </a:solidFill>
                <a:latin typeface="Montaser Arabic Bold"/>
                <a:ea typeface="Montaser Arabic Bold"/>
                <a:cs typeface="Montaser Arabic Bold"/>
                <a:sym typeface="Montaser Arabic Bold"/>
              </a:rPr>
              <a:t>hotspot + confidence</a:t>
            </a:r>
          </a:p>
        </p:txBody>
      </p:sp>
      <p:sp>
        <p:nvSpPr>
          <p:cNvPr id="27" name="Freeform 16">
            <a:extLst>
              <a:ext uri="{FF2B5EF4-FFF2-40B4-BE49-F238E27FC236}">
                <a16:creationId xmlns:a16="http://schemas.microsoft.com/office/drawing/2014/main" id="{C4278276-2BF8-02A3-097C-18653E10D91C}"/>
              </a:ext>
            </a:extLst>
          </p:cNvPr>
          <p:cNvSpPr/>
          <p:nvPr/>
        </p:nvSpPr>
        <p:spPr>
          <a:xfrm>
            <a:off x="3914775" y="6076950"/>
            <a:ext cx="3057525" cy="1285875"/>
          </a:xfrm>
          <a:custGeom>
            <a:avLst/>
            <a:gdLst/>
            <a:ahLst/>
            <a:cxnLst/>
            <a:rect l="l" t="t" r="r" b="b"/>
            <a:pathLst>
              <a:path w="3057525" h="1285875">
                <a:moveTo>
                  <a:pt x="0" y="0"/>
                </a:moveTo>
                <a:lnTo>
                  <a:pt x="3057525" y="0"/>
                </a:lnTo>
                <a:lnTo>
                  <a:pt x="3057525" y="1285875"/>
                </a:lnTo>
                <a:lnTo>
                  <a:pt x="0" y="1285875"/>
                </a:lnTo>
                <a:lnTo>
                  <a:pt x="0" y="0"/>
                </a:lnTo>
                <a:close/>
              </a:path>
            </a:pathLst>
          </a:custGeom>
          <a:blipFill>
            <a:blip r:embed="rId10"/>
            <a:stretch>
              <a:fillRect/>
            </a:stretch>
          </a:blipFill>
        </p:spPr>
      </p:sp>
      <p:sp>
        <p:nvSpPr>
          <p:cNvPr id="28" name="Freeform 17">
            <a:extLst>
              <a:ext uri="{FF2B5EF4-FFF2-40B4-BE49-F238E27FC236}">
                <a16:creationId xmlns:a16="http://schemas.microsoft.com/office/drawing/2014/main" id="{3A834BE6-1E3A-C383-F960-EA6F7BF3AFE1}"/>
              </a:ext>
            </a:extLst>
          </p:cNvPr>
          <p:cNvSpPr/>
          <p:nvPr/>
        </p:nvSpPr>
        <p:spPr>
          <a:xfrm>
            <a:off x="7181850" y="2857500"/>
            <a:ext cx="3486150" cy="4724400"/>
          </a:xfrm>
          <a:custGeom>
            <a:avLst/>
            <a:gdLst/>
            <a:ahLst/>
            <a:cxnLst/>
            <a:rect l="l" t="t" r="r" b="b"/>
            <a:pathLst>
              <a:path w="3486150" h="4724400">
                <a:moveTo>
                  <a:pt x="0" y="0"/>
                </a:moveTo>
                <a:lnTo>
                  <a:pt x="3486150" y="0"/>
                </a:lnTo>
                <a:lnTo>
                  <a:pt x="3486150" y="4724400"/>
                </a:lnTo>
                <a:lnTo>
                  <a:pt x="0" y="4724400"/>
                </a:lnTo>
                <a:lnTo>
                  <a:pt x="0" y="0"/>
                </a:lnTo>
                <a:close/>
              </a:path>
            </a:pathLst>
          </a:custGeom>
          <a:blipFill>
            <a:blip r:embed="rId11"/>
            <a:stretch>
              <a:fillRect/>
            </a:stretch>
          </a:blipFill>
        </p:spPr>
      </p:sp>
      <p:sp>
        <p:nvSpPr>
          <p:cNvPr id="29" name="TextBox 18">
            <a:extLst>
              <a:ext uri="{FF2B5EF4-FFF2-40B4-BE49-F238E27FC236}">
                <a16:creationId xmlns:a16="http://schemas.microsoft.com/office/drawing/2014/main" id="{A5B129A5-BE21-0D36-7194-3F87BB70A3F9}"/>
              </a:ext>
            </a:extLst>
          </p:cNvPr>
          <p:cNvSpPr txBox="1"/>
          <p:nvPr/>
        </p:nvSpPr>
        <p:spPr>
          <a:xfrm>
            <a:off x="7911655" y="3222618"/>
            <a:ext cx="2220849" cy="574966"/>
          </a:xfrm>
          <a:prstGeom prst="rect">
            <a:avLst/>
          </a:prstGeom>
        </p:spPr>
        <p:txBody>
          <a:bodyPr wrap="square" lIns="0" tIns="0" rIns="0" bIns="0" rtlCol="0" anchor="t">
            <a:spAutoFit/>
          </a:bodyPr>
          <a:lstStyle/>
          <a:p>
            <a:pPr algn="l">
              <a:lnSpc>
                <a:spcPts val="2189"/>
              </a:lnSpc>
            </a:pPr>
            <a:r>
              <a:rPr lang="en-US" sz="2400" b="1" spc="-54" dirty="0">
                <a:solidFill>
                  <a:srgbClr val="FFFFFF"/>
                </a:solidFill>
                <a:latin typeface="Montaser Arabic Bold"/>
                <a:ea typeface="Montaser Arabic Bold"/>
                <a:cs typeface="Montaser Arabic Bold"/>
                <a:sym typeface="Montaser Arabic Bold"/>
              </a:rPr>
              <a:t>ENVIRONMENTAL FORCING</a:t>
            </a:r>
          </a:p>
        </p:txBody>
      </p:sp>
      <p:sp>
        <p:nvSpPr>
          <p:cNvPr id="30" name="TextBox 19">
            <a:extLst>
              <a:ext uri="{FF2B5EF4-FFF2-40B4-BE49-F238E27FC236}">
                <a16:creationId xmlns:a16="http://schemas.microsoft.com/office/drawing/2014/main" id="{CAA23158-2EEC-5DFE-AB01-09F63BE252EB}"/>
              </a:ext>
            </a:extLst>
          </p:cNvPr>
          <p:cNvSpPr txBox="1"/>
          <p:nvPr/>
        </p:nvSpPr>
        <p:spPr>
          <a:xfrm>
            <a:off x="7926119" y="3969843"/>
            <a:ext cx="1568195" cy="1077218"/>
          </a:xfrm>
          <a:prstGeom prst="rect">
            <a:avLst/>
          </a:prstGeom>
        </p:spPr>
        <p:txBody>
          <a:bodyPr wrap="square" lIns="0" tIns="0" rIns="0" bIns="0" rtlCol="0" anchor="t">
            <a:spAutoFit/>
          </a:bodyPr>
          <a:lstStyle/>
          <a:p>
            <a:pPr algn="l">
              <a:lnSpc>
                <a:spcPts val="2095"/>
              </a:lnSpc>
            </a:pPr>
            <a:r>
              <a:rPr lang="en-US" spc="-36" dirty="0">
                <a:solidFill>
                  <a:srgbClr val="FFFFFF"/>
                </a:solidFill>
                <a:latin typeface="Montaser Arabic"/>
                <a:ea typeface="Montaser Arabic"/>
                <a:cs typeface="Montaser Arabic"/>
                <a:sym typeface="Montaser Arabic"/>
              </a:rPr>
              <a:t>Surface currents</a:t>
            </a:r>
          </a:p>
          <a:p>
            <a:pPr algn="l">
              <a:lnSpc>
                <a:spcPts val="2095"/>
              </a:lnSpc>
            </a:pPr>
            <a:r>
              <a:rPr lang="en-US" spc="-36" dirty="0">
                <a:solidFill>
                  <a:srgbClr val="FFFFFF"/>
                </a:solidFill>
                <a:latin typeface="Montaser Arabic"/>
                <a:ea typeface="Montaser Arabic"/>
                <a:cs typeface="Montaser Arabic"/>
                <a:sym typeface="Montaser Arabic"/>
              </a:rPr>
              <a:t>+</a:t>
            </a:r>
          </a:p>
          <a:p>
            <a:pPr algn="l">
              <a:lnSpc>
                <a:spcPts val="2095"/>
              </a:lnSpc>
            </a:pPr>
            <a:r>
              <a:rPr lang="en-US" spc="-36" dirty="0">
                <a:solidFill>
                  <a:srgbClr val="FFFFFF"/>
                </a:solidFill>
                <a:latin typeface="Montaser Arabic"/>
                <a:ea typeface="Montaser Arabic"/>
                <a:cs typeface="Montaser Arabic"/>
                <a:sym typeface="Montaser Arabic"/>
              </a:rPr>
              <a:t>NASA OSCAR</a:t>
            </a:r>
          </a:p>
          <a:p>
            <a:pPr algn="l">
              <a:lnSpc>
                <a:spcPts val="2095"/>
              </a:lnSpc>
            </a:pPr>
            <a:r>
              <a:rPr lang="en-US" spc="-36" dirty="0">
                <a:solidFill>
                  <a:srgbClr val="FFFFFF"/>
                </a:solidFill>
                <a:latin typeface="Montaser Arabic"/>
                <a:ea typeface="Montaser Arabic"/>
                <a:cs typeface="Montaser Arabic"/>
                <a:sym typeface="Montaser Arabic"/>
              </a:rPr>
              <a:t>10 m wind</a:t>
            </a:r>
          </a:p>
        </p:txBody>
      </p:sp>
      <p:sp>
        <p:nvSpPr>
          <p:cNvPr id="31" name="Freeform 20">
            <a:extLst>
              <a:ext uri="{FF2B5EF4-FFF2-40B4-BE49-F238E27FC236}">
                <a16:creationId xmlns:a16="http://schemas.microsoft.com/office/drawing/2014/main" id="{24ACB3A6-A0BA-6648-9ECD-384F42AA7E3D}"/>
              </a:ext>
            </a:extLst>
          </p:cNvPr>
          <p:cNvSpPr/>
          <p:nvPr/>
        </p:nvSpPr>
        <p:spPr>
          <a:xfrm>
            <a:off x="762000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12"/>
            <a:stretch>
              <a:fillRect/>
            </a:stretch>
          </a:blipFill>
        </p:spPr>
      </p:sp>
      <p:sp>
        <p:nvSpPr>
          <p:cNvPr id="32" name="Freeform 21">
            <a:extLst>
              <a:ext uri="{FF2B5EF4-FFF2-40B4-BE49-F238E27FC236}">
                <a16:creationId xmlns:a16="http://schemas.microsoft.com/office/drawing/2014/main" id="{D967A3A9-87EE-0FCA-7763-DAA5D57F6026}"/>
              </a:ext>
            </a:extLst>
          </p:cNvPr>
          <p:cNvSpPr/>
          <p:nvPr/>
        </p:nvSpPr>
        <p:spPr>
          <a:xfrm>
            <a:off x="7400925" y="5857875"/>
            <a:ext cx="3057525" cy="1504950"/>
          </a:xfrm>
          <a:custGeom>
            <a:avLst/>
            <a:gdLst/>
            <a:ahLst/>
            <a:cxnLst/>
            <a:rect l="l" t="t" r="r" b="b"/>
            <a:pathLst>
              <a:path w="3057525" h="1504950">
                <a:moveTo>
                  <a:pt x="0" y="0"/>
                </a:moveTo>
                <a:lnTo>
                  <a:pt x="3057525" y="0"/>
                </a:lnTo>
                <a:lnTo>
                  <a:pt x="3057525" y="1504950"/>
                </a:lnTo>
                <a:lnTo>
                  <a:pt x="0" y="1504950"/>
                </a:lnTo>
                <a:lnTo>
                  <a:pt x="0" y="0"/>
                </a:lnTo>
                <a:close/>
              </a:path>
            </a:pathLst>
          </a:custGeom>
          <a:blipFill>
            <a:blip r:embed="rId13"/>
            <a:stretch>
              <a:fillRect/>
            </a:stretch>
          </a:blipFill>
        </p:spPr>
      </p:sp>
      <p:sp>
        <p:nvSpPr>
          <p:cNvPr id="33" name="Freeform 22">
            <a:extLst>
              <a:ext uri="{FF2B5EF4-FFF2-40B4-BE49-F238E27FC236}">
                <a16:creationId xmlns:a16="http://schemas.microsoft.com/office/drawing/2014/main" id="{C041A038-92E6-DC6D-3B8C-3560A620148C}"/>
              </a:ext>
            </a:extLst>
          </p:cNvPr>
          <p:cNvSpPr/>
          <p:nvPr/>
        </p:nvSpPr>
        <p:spPr>
          <a:xfrm>
            <a:off x="10668000" y="2857500"/>
            <a:ext cx="3486150" cy="4724400"/>
          </a:xfrm>
          <a:custGeom>
            <a:avLst/>
            <a:gdLst/>
            <a:ahLst/>
            <a:cxnLst/>
            <a:rect l="l" t="t" r="r" b="b"/>
            <a:pathLst>
              <a:path w="3486150" h="4724400">
                <a:moveTo>
                  <a:pt x="0" y="0"/>
                </a:moveTo>
                <a:lnTo>
                  <a:pt x="3486150" y="0"/>
                </a:lnTo>
                <a:lnTo>
                  <a:pt x="3486150" y="4724400"/>
                </a:lnTo>
                <a:lnTo>
                  <a:pt x="0" y="4724400"/>
                </a:lnTo>
                <a:lnTo>
                  <a:pt x="0" y="0"/>
                </a:lnTo>
                <a:close/>
              </a:path>
            </a:pathLst>
          </a:custGeom>
          <a:blipFill>
            <a:blip r:embed="rId14"/>
            <a:stretch>
              <a:fillRect/>
            </a:stretch>
          </a:blipFill>
        </p:spPr>
      </p:sp>
      <p:sp>
        <p:nvSpPr>
          <p:cNvPr id="34" name="TextBox 23">
            <a:extLst>
              <a:ext uri="{FF2B5EF4-FFF2-40B4-BE49-F238E27FC236}">
                <a16:creationId xmlns:a16="http://schemas.microsoft.com/office/drawing/2014/main" id="{73095716-DA32-8F98-252A-6FE5F18ECBDF}"/>
              </a:ext>
            </a:extLst>
          </p:cNvPr>
          <p:cNvSpPr txBox="1"/>
          <p:nvPr/>
        </p:nvSpPr>
        <p:spPr>
          <a:xfrm>
            <a:off x="11470767" y="3229165"/>
            <a:ext cx="1952625" cy="574966"/>
          </a:xfrm>
          <a:prstGeom prst="rect">
            <a:avLst/>
          </a:prstGeom>
        </p:spPr>
        <p:txBody>
          <a:bodyPr wrap="square" lIns="0" tIns="0" rIns="0" bIns="0" rtlCol="0" anchor="t">
            <a:spAutoFit/>
          </a:bodyPr>
          <a:lstStyle/>
          <a:p>
            <a:pPr algn="l">
              <a:lnSpc>
                <a:spcPts val="2189"/>
              </a:lnSpc>
            </a:pPr>
            <a:r>
              <a:rPr lang="en-US" sz="2400" b="1" spc="-54" dirty="0">
                <a:solidFill>
                  <a:srgbClr val="FFFFFF"/>
                </a:solidFill>
                <a:latin typeface="Montaser Arabic Bold"/>
                <a:ea typeface="Montaser Arabic Bold"/>
                <a:cs typeface="Montaser Arabic Bold"/>
                <a:sym typeface="Montaser Arabic Bold"/>
              </a:rPr>
              <a:t>LAGRANGIAN DRIFT MODEL</a:t>
            </a:r>
          </a:p>
        </p:txBody>
      </p:sp>
      <p:sp>
        <p:nvSpPr>
          <p:cNvPr id="35" name="Freeform 24">
            <a:extLst>
              <a:ext uri="{FF2B5EF4-FFF2-40B4-BE49-F238E27FC236}">
                <a16:creationId xmlns:a16="http://schemas.microsoft.com/office/drawing/2014/main" id="{BD76655D-9B29-0E50-B6F9-176E230521F3}"/>
              </a:ext>
            </a:extLst>
          </p:cNvPr>
          <p:cNvSpPr/>
          <p:nvPr/>
        </p:nvSpPr>
        <p:spPr>
          <a:xfrm>
            <a:off x="10668000" y="4143375"/>
            <a:ext cx="3486150" cy="2152650"/>
          </a:xfrm>
          <a:custGeom>
            <a:avLst/>
            <a:gdLst/>
            <a:ahLst/>
            <a:cxnLst/>
            <a:rect l="l" t="t" r="r" b="b"/>
            <a:pathLst>
              <a:path w="3486150" h="2152650">
                <a:moveTo>
                  <a:pt x="0" y="0"/>
                </a:moveTo>
                <a:lnTo>
                  <a:pt x="3486150" y="0"/>
                </a:lnTo>
                <a:lnTo>
                  <a:pt x="3486150" y="2152650"/>
                </a:lnTo>
                <a:lnTo>
                  <a:pt x="0" y="2152650"/>
                </a:lnTo>
                <a:lnTo>
                  <a:pt x="0" y="0"/>
                </a:lnTo>
                <a:close/>
              </a:path>
            </a:pathLst>
          </a:custGeom>
          <a:blipFill>
            <a:blip r:embed="rId15"/>
            <a:stretch>
              <a:fillRect/>
            </a:stretch>
          </a:blipFill>
        </p:spPr>
      </p:sp>
      <p:sp>
        <p:nvSpPr>
          <p:cNvPr id="36" name="Freeform 25">
            <a:extLst>
              <a:ext uri="{FF2B5EF4-FFF2-40B4-BE49-F238E27FC236}">
                <a16:creationId xmlns:a16="http://schemas.microsoft.com/office/drawing/2014/main" id="{68A95680-5C5C-1924-AAEA-B161AFA58961}"/>
              </a:ext>
            </a:extLst>
          </p:cNvPr>
          <p:cNvSpPr/>
          <p:nvPr/>
        </p:nvSpPr>
        <p:spPr>
          <a:xfrm>
            <a:off x="10877550" y="6286500"/>
            <a:ext cx="2838450" cy="219075"/>
          </a:xfrm>
          <a:custGeom>
            <a:avLst/>
            <a:gdLst/>
            <a:ahLst/>
            <a:cxnLst/>
            <a:rect l="l" t="t" r="r" b="b"/>
            <a:pathLst>
              <a:path w="2838450" h="219075">
                <a:moveTo>
                  <a:pt x="0" y="0"/>
                </a:moveTo>
                <a:lnTo>
                  <a:pt x="2838450" y="0"/>
                </a:lnTo>
                <a:lnTo>
                  <a:pt x="2838450" y="219075"/>
                </a:lnTo>
                <a:lnTo>
                  <a:pt x="0" y="219075"/>
                </a:lnTo>
                <a:lnTo>
                  <a:pt x="0" y="0"/>
                </a:lnTo>
                <a:close/>
              </a:path>
            </a:pathLst>
          </a:custGeom>
          <a:blipFill>
            <a:blip r:embed="rId16"/>
            <a:stretch>
              <a:fillRect/>
            </a:stretch>
          </a:blipFill>
        </p:spPr>
      </p:sp>
      <p:sp>
        <p:nvSpPr>
          <p:cNvPr id="37" name="Freeform 26">
            <a:extLst>
              <a:ext uri="{FF2B5EF4-FFF2-40B4-BE49-F238E27FC236}">
                <a16:creationId xmlns:a16="http://schemas.microsoft.com/office/drawing/2014/main" id="{03C0E890-3E9F-B964-34DD-BE60FEFB8AD9}"/>
              </a:ext>
            </a:extLst>
          </p:cNvPr>
          <p:cNvSpPr/>
          <p:nvPr/>
        </p:nvSpPr>
        <p:spPr>
          <a:xfrm>
            <a:off x="14144625" y="2857500"/>
            <a:ext cx="3714750" cy="4724400"/>
          </a:xfrm>
          <a:custGeom>
            <a:avLst/>
            <a:gdLst/>
            <a:ahLst/>
            <a:cxnLst/>
            <a:rect l="l" t="t" r="r" b="b"/>
            <a:pathLst>
              <a:path w="3714750" h="4724400">
                <a:moveTo>
                  <a:pt x="0" y="0"/>
                </a:moveTo>
                <a:lnTo>
                  <a:pt x="3714750" y="0"/>
                </a:lnTo>
                <a:lnTo>
                  <a:pt x="3714750" y="4724400"/>
                </a:lnTo>
                <a:lnTo>
                  <a:pt x="0" y="4724400"/>
                </a:lnTo>
                <a:lnTo>
                  <a:pt x="0" y="0"/>
                </a:lnTo>
                <a:close/>
              </a:path>
            </a:pathLst>
          </a:custGeom>
          <a:blipFill>
            <a:blip r:embed="rId17"/>
            <a:stretch>
              <a:fillRect/>
            </a:stretch>
          </a:blipFill>
        </p:spPr>
      </p:sp>
      <p:sp>
        <p:nvSpPr>
          <p:cNvPr id="38" name="TextBox 27">
            <a:extLst>
              <a:ext uri="{FF2B5EF4-FFF2-40B4-BE49-F238E27FC236}">
                <a16:creationId xmlns:a16="http://schemas.microsoft.com/office/drawing/2014/main" id="{DD81D244-8A2B-D35D-D29B-8BE40312B126}"/>
              </a:ext>
            </a:extLst>
          </p:cNvPr>
          <p:cNvSpPr txBox="1"/>
          <p:nvPr/>
        </p:nvSpPr>
        <p:spPr>
          <a:xfrm>
            <a:off x="14593824" y="3294327"/>
            <a:ext cx="384048" cy="308208"/>
          </a:xfrm>
          <a:prstGeom prst="rect">
            <a:avLst/>
          </a:prstGeom>
        </p:spPr>
        <p:txBody>
          <a:bodyPr lIns="0" tIns="0" rIns="0" bIns="0" rtlCol="0" anchor="t">
            <a:spAutoFit/>
          </a:bodyPr>
          <a:lstStyle/>
          <a:p>
            <a:pPr algn="ctr">
              <a:lnSpc>
                <a:spcPts val="2384"/>
              </a:lnSpc>
            </a:pPr>
            <a:r>
              <a:rPr lang="en-US" sz="2384" b="1" spc="-71">
                <a:solidFill>
                  <a:srgbClr val="00C2E4"/>
                </a:solidFill>
                <a:latin typeface="Montaser Arabic Bold"/>
                <a:ea typeface="Montaser Arabic Bold"/>
                <a:cs typeface="Montaser Arabic Bold"/>
                <a:sym typeface="Montaser Arabic Bold"/>
              </a:rPr>
              <a:t>05</a:t>
            </a:r>
          </a:p>
        </p:txBody>
      </p:sp>
      <p:sp>
        <p:nvSpPr>
          <p:cNvPr id="39" name="TextBox 28">
            <a:extLst>
              <a:ext uri="{FF2B5EF4-FFF2-40B4-BE49-F238E27FC236}">
                <a16:creationId xmlns:a16="http://schemas.microsoft.com/office/drawing/2014/main" id="{7D34DA63-970B-CEFB-2CFE-B33F46FDD122}"/>
              </a:ext>
            </a:extLst>
          </p:cNvPr>
          <p:cNvSpPr txBox="1"/>
          <p:nvPr/>
        </p:nvSpPr>
        <p:spPr>
          <a:xfrm>
            <a:off x="15071816" y="3240386"/>
            <a:ext cx="1993393" cy="552524"/>
          </a:xfrm>
          <a:prstGeom prst="rect">
            <a:avLst/>
          </a:prstGeom>
        </p:spPr>
        <p:txBody>
          <a:bodyPr wrap="square" lIns="0" tIns="0" rIns="0" bIns="0" rtlCol="0" anchor="t">
            <a:spAutoFit/>
          </a:bodyPr>
          <a:lstStyle/>
          <a:p>
            <a:pPr algn="l">
              <a:lnSpc>
                <a:spcPts val="2055"/>
              </a:lnSpc>
            </a:pPr>
            <a:r>
              <a:rPr lang="en-US" sz="2400" b="1" spc="-51" dirty="0">
                <a:solidFill>
                  <a:srgbClr val="FFFFFF"/>
                </a:solidFill>
                <a:latin typeface="Montaser Arabic Bold"/>
                <a:ea typeface="Montaser Arabic Bold"/>
                <a:cs typeface="Montaser Arabic Bold"/>
                <a:sym typeface="Montaser Arabic Bold"/>
              </a:rPr>
              <a:t>CLEANUP RISK SCORE</a:t>
            </a:r>
          </a:p>
        </p:txBody>
      </p:sp>
      <p:sp>
        <p:nvSpPr>
          <p:cNvPr id="40" name="TextBox 29">
            <a:extLst>
              <a:ext uri="{FF2B5EF4-FFF2-40B4-BE49-F238E27FC236}">
                <a16:creationId xmlns:a16="http://schemas.microsoft.com/office/drawing/2014/main" id="{3C88EFE5-E8C6-F371-D230-4F4D0BE1EF6B}"/>
              </a:ext>
            </a:extLst>
          </p:cNvPr>
          <p:cNvSpPr txBox="1"/>
          <p:nvPr/>
        </p:nvSpPr>
        <p:spPr>
          <a:xfrm>
            <a:off x="15050671" y="3905238"/>
            <a:ext cx="2464498" cy="1314462"/>
          </a:xfrm>
          <a:prstGeom prst="rect">
            <a:avLst/>
          </a:prstGeom>
        </p:spPr>
        <p:txBody>
          <a:bodyPr wrap="square" lIns="0" tIns="0" rIns="0" bIns="0" rtlCol="0" anchor="t">
            <a:spAutoFit/>
          </a:bodyPr>
          <a:lstStyle/>
          <a:p>
            <a:pPr algn="l">
              <a:lnSpc>
                <a:spcPts val="1710"/>
              </a:lnSpc>
            </a:pPr>
            <a:r>
              <a:rPr lang="en-US" spc="-32" dirty="0">
                <a:solidFill>
                  <a:srgbClr val="FFFFFF"/>
                </a:solidFill>
                <a:latin typeface="Montaser Arabic"/>
                <a:ea typeface="Montaser Arabic"/>
                <a:cs typeface="Montaser Arabic"/>
                <a:sym typeface="Montaser Arabic"/>
              </a:rPr>
              <a:t>Hotspot confidence</a:t>
            </a:r>
          </a:p>
          <a:p>
            <a:pPr algn="l">
              <a:lnSpc>
                <a:spcPts val="1710"/>
              </a:lnSpc>
            </a:pPr>
            <a:r>
              <a:rPr lang="en-US" spc="-32" dirty="0">
                <a:solidFill>
                  <a:srgbClr val="FFFFFF"/>
                </a:solidFill>
                <a:latin typeface="Montaser Arabic"/>
                <a:ea typeface="Montaser Arabic"/>
                <a:cs typeface="Montaser Arabic"/>
                <a:sym typeface="Montaser Arabic"/>
              </a:rPr>
              <a:t>Predicted location</a:t>
            </a:r>
          </a:p>
          <a:p>
            <a:pPr algn="l">
              <a:lnSpc>
                <a:spcPts val="1710"/>
              </a:lnSpc>
            </a:pPr>
            <a:r>
              <a:rPr lang="en-US" spc="-32" dirty="0">
                <a:solidFill>
                  <a:srgbClr val="FFFFFF"/>
                </a:solidFill>
                <a:latin typeface="Montaser Arabic"/>
                <a:ea typeface="Montaser Arabic"/>
                <a:cs typeface="Montaser Arabic"/>
                <a:sym typeface="Montaser Arabic"/>
              </a:rPr>
              <a:t>Persistence / recurrence</a:t>
            </a:r>
          </a:p>
          <a:p>
            <a:pPr algn="l">
              <a:lnSpc>
                <a:spcPts val="1710"/>
              </a:lnSpc>
            </a:pPr>
            <a:r>
              <a:rPr lang="en-US" spc="-32" dirty="0">
                <a:solidFill>
                  <a:srgbClr val="FFFFFF"/>
                </a:solidFill>
                <a:latin typeface="Montaser Arabic"/>
                <a:ea typeface="Montaser Arabic"/>
                <a:cs typeface="Montaser Arabic"/>
                <a:sym typeface="Montaser Arabic"/>
              </a:rPr>
              <a:t>Proximity to vulnerable areas</a:t>
            </a:r>
          </a:p>
          <a:p>
            <a:pPr algn="l">
              <a:lnSpc>
                <a:spcPts val="1710"/>
              </a:lnSpc>
            </a:pPr>
            <a:r>
              <a:rPr lang="en-US" spc="-32" dirty="0">
                <a:solidFill>
                  <a:srgbClr val="FFFFFF"/>
                </a:solidFill>
                <a:latin typeface="Montaser Arabic"/>
                <a:ea typeface="Montaser Arabic"/>
                <a:cs typeface="Montaser Arabic"/>
                <a:sym typeface="Montaser Arabic"/>
              </a:rPr>
              <a:t>Forecast uncertainty</a:t>
            </a:r>
          </a:p>
        </p:txBody>
      </p:sp>
      <p:sp>
        <p:nvSpPr>
          <p:cNvPr id="41" name="Freeform 30">
            <a:extLst>
              <a:ext uri="{FF2B5EF4-FFF2-40B4-BE49-F238E27FC236}">
                <a16:creationId xmlns:a16="http://schemas.microsoft.com/office/drawing/2014/main" id="{584D1109-383B-A560-FF09-9B358DCCDB4E}"/>
              </a:ext>
            </a:extLst>
          </p:cNvPr>
          <p:cNvSpPr/>
          <p:nvPr/>
        </p:nvSpPr>
        <p:spPr>
          <a:xfrm>
            <a:off x="14582775" y="5219700"/>
            <a:ext cx="2838450" cy="219075"/>
          </a:xfrm>
          <a:custGeom>
            <a:avLst/>
            <a:gdLst/>
            <a:ahLst/>
            <a:cxnLst/>
            <a:rect l="l" t="t" r="r" b="b"/>
            <a:pathLst>
              <a:path w="2838450" h="219075">
                <a:moveTo>
                  <a:pt x="0" y="0"/>
                </a:moveTo>
                <a:lnTo>
                  <a:pt x="2838450" y="0"/>
                </a:lnTo>
                <a:lnTo>
                  <a:pt x="2838450" y="219075"/>
                </a:lnTo>
                <a:lnTo>
                  <a:pt x="0" y="219075"/>
                </a:lnTo>
                <a:lnTo>
                  <a:pt x="0" y="0"/>
                </a:lnTo>
                <a:close/>
              </a:path>
            </a:pathLst>
          </a:custGeom>
          <a:blipFill>
            <a:blip r:embed="rId18"/>
            <a:stretch>
              <a:fillRect/>
            </a:stretch>
          </a:blipFill>
        </p:spPr>
      </p:sp>
      <p:sp>
        <p:nvSpPr>
          <p:cNvPr id="42" name="Freeform 31">
            <a:extLst>
              <a:ext uri="{FF2B5EF4-FFF2-40B4-BE49-F238E27FC236}">
                <a16:creationId xmlns:a16="http://schemas.microsoft.com/office/drawing/2014/main" id="{5B1C95E7-F9C7-B19A-4F1A-C4C260E4D327}"/>
              </a:ext>
            </a:extLst>
          </p:cNvPr>
          <p:cNvSpPr/>
          <p:nvPr/>
        </p:nvSpPr>
        <p:spPr>
          <a:xfrm>
            <a:off x="14363700" y="5857875"/>
            <a:ext cx="3276600" cy="1504950"/>
          </a:xfrm>
          <a:custGeom>
            <a:avLst/>
            <a:gdLst/>
            <a:ahLst/>
            <a:cxnLst/>
            <a:rect l="l" t="t" r="r" b="b"/>
            <a:pathLst>
              <a:path w="3276600" h="1504950">
                <a:moveTo>
                  <a:pt x="0" y="0"/>
                </a:moveTo>
                <a:lnTo>
                  <a:pt x="3276600" y="0"/>
                </a:lnTo>
                <a:lnTo>
                  <a:pt x="3276600" y="1504950"/>
                </a:lnTo>
                <a:lnTo>
                  <a:pt x="0" y="1504950"/>
                </a:lnTo>
                <a:lnTo>
                  <a:pt x="0" y="0"/>
                </a:lnTo>
                <a:close/>
              </a:path>
            </a:pathLst>
          </a:custGeom>
          <a:blipFill>
            <a:blip r:embed="rId19"/>
            <a:stretch>
              <a:fillRect/>
            </a:stretch>
          </a:blipFill>
        </p:spPr>
      </p:sp>
      <p:sp>
        <p:nvSpPr>
          <p:cNvPr id="43" name="Freeform 32">
            <a:extLst>
              <a:ext uri="{FF2B5EF4-FFF2-40B4-BE49-F238E27FC236}">
                <a16:creationId xmlns:a16="http://schemas.microsoft.com/office/drawing/2014/main" id="{E2A10E48-CFEC-5ADB-A059-3EC0F08471D2}"/>
              </a:ext>
            </a:extLst>
          </p:cNvPr>
          <p:cNvSpPr/>
          <p:nvPr/>
        </p:nvSpPr>
        <p:spPr>
          <a:xfrm>
            <a:off x="0" y="9001125"/>
            <a:ext cx="18288000" cy="219075"/>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20"/>
            <a:stretch>
              <a:fillRect/>
            </a:stretch>
          </a:blipFill>
        </p:spPr>
      </p:sp>
      <p:sp>
        <p:nvSpPr>
          <p:cNvPr id="44" name="TextBox 33">
            <a:extLst>
              <a:ext uri="{FF2B5EF4-FFF2-40B4-BE49-F238E27FC236}">
                <a16:creationId xmlns:a16="http://schemas.microsoft.com/office/drawing/2014/main" id="{4CBFF4DB-9CDF-5B3C-A1D0-32739CBCB242}"/>
              </a:ext>
            </a:extLst>
          </p:cNvPr>
          <p:cNvSpPr txBox="1"/>
          <p:nvPr/>
        </p:nvSpPr>
        <p:spPr>
          <a:xfrm>
            <a:off x="1133856" y="9421654"/>
            <a:ext cx="1115568"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PACE OCI</a:t>
            </a:r>
          </a:p>
        </p:txBody>
      </p:sp>
      <p:sp>
        <p:nvSpPr>
          <p:cNvPr id="45" name="Freeform 34">
            <a:extLst>
              <a:ext uri="{FF2B5EF4-FFF2-40B4-BE49-F238E27FC236}">
                <a16:creationId xmlns:a16="http://schemas.microsoft.com/office/drawing/2014/main" id="{AC95B1BB-22A4-9DBD-E833-A402E7E11987}"/>
              </a:ext>
            </a:extLst>
          </p:cNvPr>
          <p:cNvSpPr/>
          <p:nvPr/>
        </p:nvSpPr>
        <p:spPr>
          <a:xfrm>
            <a:off x="2390775" y="9429750"/>
            <a:ext cx="447675" cy="219075"/>
          </a:xfrm>
          <a:custGeom>
            <a:avLst/>
            <a:gdLst/>
            <a:ahLst/>
            <a:cxnLst/>
            <a:rect l="l" t="t" r="r" b="b"/>
            <a:pathLst>
              <a:path w="447675" h="219075">
                <a:moveTo>
                  <a:pt x="0" y="0"/>
                </a:moveTo>
                <a:lnTo>
                  <a:pt x="447675" y="0"/>
                </a:lnTo>
                <a:lnTo>
                  <a:pt x="447675" y="219075"/>
                </a:lnTo>
                <a:lnTo>
                  <a:pt x="0" y="219075"/>
                </a:lnTo>
                <a:lnTo>
                  <a:pt x="0" y="0"/>
                </a:lnTo>
                <a:close/>
              </a:path>
            </a:pathLst>
          </a:custGeom>
          <a:blipFill>
            <a:blip r:embed="rId21"/>
            <a:stretch>
              <a:fillRect/>
            </a:stretch>
          </a:blipFill>
        </p:spPr>
      </p:sp>
      <p:sp>
        <p:nvSpPr>
          <p:cNvPr id="46" name="TextBox 35">
            <a:extLst>
              <a:ext uri="{FF2B5EF4-FFF2-40B4-BE49-F238E27FC236}">
                <a16:creationId xmlns:a16="http://schemas.microsoft.com/office/drawing/2014/main" id="{CB9D7600-5412-BAB2-C008-951F5CAF6B60}"/>
              </a:ext>
            </a:extLst>
          </p:cNvPr>
          <p:cNvSpPr txBox="1"/>
          <p:nvPr/>
        </p:nvSpPr>
        <p:spPr>
          <a:xfrm>
            <a:off x="3090672" y="9421654"/>
            <a:ext cx="1991868" cy="254365"/>
          </a:xfrm>
          <a:prstGeom prst="rect">
            <a:avLst/>
          </a:prstGeom>
        </p:spPr>
        <p:txBody>
          <a:bodyPr wrap="square"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AI DETECTION</a:t>
            </a:r>
          </a:p>
        </p:txBody>
      </p:sp>
      <p:sp>
        <p:nvSpPr>
          <p:cNvPr id="47" name="Freeform 36">
            <a:extLst>
              <a:ext uri="{FF2B5EF4-FFF2-40B4-BE49-F238E27FC236}">
                <a16:creationId xmlns:a16="http://schemas.microsoft.com/office/drawing/2014/main" id="{FA22126F-4A52-4FB4-59E4-009DBC1937D8}"/>
              </a:ext>
            </a:extLst>
          </p:cNvPr>
          <p:cNvSpPr/>
          <p:nvPr/>
        </p:nvSpPr>
        <p:spPr>
          <a:xfrm>
            <a:off x="4781550" y="9429750"/>
            <a:ext cx="666750" cy="219075"/>
          </a:xfrm>
          <a:custGeom>
            <a:avLst/>
            <a:gdLst/>
            <a:ahLst/>
            <a:cxnLst/>
            <a:rect l="l" t="t" r="r" b="b"/>
            <a:pathLst>
              <a:path w="666750" h="219075">
                <a:moveTo>
                  <a:pt x="0" y="0"/>
                </a:moveTo>
                <a:lnTo>
                  <a:pt x="666750" y="0"/>
                </a:lnTo>
                <a:lnTo>
                  <a:pt x="666750" y="219075"/>
                </a:lnTo>
                <a:lnTo>
                  <a:pt x="0" y="219075"/>
                </a:lnTo>
                <a:lnTo>
                  <a:pt x="0" y="0"/>
                </a:lnTo>
                <a:close/>
              </a:path>
            </a:pathLst>
          </a:custGeom>
          <a:blipFill>
            <a:blip r:embed="rId22"/>
            <a:stretch>
              <a:fillRect/>
            </a:stretch>
          </a:blipFill>
        </p:spPr>
      </p:sp>
      <p:sp>
        <p:nvSpPr>
          <p:cNvPr id="48" name="Freeform 37">
            <a:extLst>
              <a:ext uri="{FF2B5EF4-FFF2-40B4-BE49-F238E27FC236}">
                <a16:creationId xmlns:a16="http://schemas.microsoft.com/office/drawing/2014/main" id="{AC63CEA8-9A7A-54E6-CD51-98B4F932CD1E}"/>
              </a:ext>
            </a:extLst>
          </p:cNvPr>
          <p:cNvSpPr/>
          <p:nvPr/>
        </p:nvSpPr>
        <p:spPr>
          <a:xfrm>
            <a:off x="7829550" y="9429750"/>
            <a:ext cx="447675" cy="219075"/>
          </a:xfrm>
          <a:custGeom>
            <a:avLst/>
            <a:gdLst/>
            <a:ahLst/>
            <a:cxnLst/>
            <a:rect l="l" t="t" r="r" b="b"/>
            <a:pathLst>
              <a:path w="447675" h="219075">
                <a:moveTo>
                  <a:pt x="0" y="0"/>
                </a:moveTo>
                <a:lnTo>
                  <a:pt x="447675" y="0"/>
                </a:lnTo>
                <a:lnTo>
                  <a:pt x="447675" y="219075"/>
                </a:lnTo>
                <a:lnTo>
                  <a:pt x="0" y="219075"/>
                </a:lnTo>
                <a:lnTo>
                  <a:pt x="0" y="0"/>
                </a:lnTo>
                <a:close/>
              </a:path>
            </a:pathLst>
          </a:custGeom>
          <a:blipFill>
            <a:blip r:embed="rId23"/>
            <a:stretch>
              <a:fillRect/>
            </a:stretch>
          </a:blipFill>
        </p:spPr>
      </p:sp>
      <p:sp>
        <p:nvSpPr>
          <p:cNvPr id="49" name="TextBox 38">
            <a:extLst>
              <a:ext uri="{FF2B5EF4-FFF2-40B4-BE49-F238E27FC236}">
                <a16:creationId xmlns:a16="http://schemas.microsoft.com/office/drawing/2014/main" id="{72BA4DBB-B989-DAF4-9D2D-F95CEA0F1044}"/>
              </a:ext>
            </a:extLst>
          </p:cNvPr>
          <p:cNvSpPr txBox="1"/>
          <p:nvPr/>
        </p:nvSpPr>
        <p:spPr>
          <a:xfrm>
            <a:off x="8449056" y="9421655"/>
            <a:ext cx="2450592" cy="254365"/>
          </a:xfrm>
          <a:prstGeom prst="rect">
            <a:avLst/>
          </a:prstGeom>
        </p:spPr>
        <p:txBody>
          <a:bodyPr wrap="square"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DRIFT FORECAST</a:t>
            </a:r>
          </a:p>
        </p:txBody>
      </p:sp>
      <p:sp>
        <p:nvSpPr>
          <p:cNvPr id="50" name="Freeform 39">
            <a:extLst>
              <a:ext uri="{FF2B5EF4-FFF2-40B4-BE49-F238E27FC236}">
                <a16:creationId xmlns:a16="http://schemas.microsoft.com/office/drawing/2014/main" id="{F92D425D-DC92-B48C-C41F-C8ED9C2F203C}"/>
              </a:ext>
            </a:extLst>
          </p:cNvPr>
          <p:cNvSpPr/>
          <p:nvPr/>
        </p:nvSpPr>
        <p:spPr>
          <a:xfrm>
            <a:off x="10448925" y="9429750"/>
            <a:ext cx="657225" cy="219075"/>
          </a:xfrm>
          <a:custGeom>
            <a:avLst/>
            <a:gdLst/>
            <a:ahLst/>
            <a:cxnLst/>
            <a:rect l="l" t="t" r="r" b="b"/>
            <a:pathLst>
              <a:path w="657225" h="219075">
                <a:moveTo>
                  <a:pt x="0" y="0"/>
                </a:moveTo>
                <a:lnTo>
                  <a:pt x="657225" y="0"/>
                </a:lnTo>
                <a:lnTo>
                  <a:pt x="657225" y="219075"/>
                </a:lnTo>
                <a:lnTo>
                  <a:pt x="0" y="219075"/>
                </a:lnTo>
                <a:lnTo>
                  <a:pt x="0" y="0"/>
                </a:lnTo>
                <a:close/>
              </a:path>
            </a:pathLst>
          </a:custGeom>
          <a:blipFill>
            <a:blip r:embed="rId24"/>
            <a:stretch>
              <a:fillRect/>
            </a:stretch>
          </a:blipFill>
        </p:spPr>
      </p:sp>
      <p:sp>
        <p:nvSpPr>
          <p:cNvPr id="51" name="TextBox 40">
            <a:extLst>
              <a:ext uri="{FF2B5EF4-FFF2-40B4-BE49-F238E27FC236}">
                <a16:creationId xmlns:a16="http://schemas.microsoft.com/office/drawing/2014/main" id="{CE9DF4D7-3AB7-70B3-1D3E-E15874731E1D}"/>
              </a:ext>
            </a:extLst>
          </p:cNvPr>
          <p:cNvSpPr txBox="1"/>
          <p:nvPr/>
        </p:nvSpPr>
        <p:spPr>
          <a:xfrm>
            <a:off x="11173968" y="9421654"/>
            <a:ext cx="1426464"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RISK SCORE</a:t>
            </a:r>
          </a:p>
        </p:txBody>
      </p:sp>
      <p:sp>
        <p:nvSpPr>
          <p:cNvPr id="52" name="TextBox 41">
            <a:extLst>
              <a:ext uri="{FF2B5EF4-FFF2-40B4-BE49-F238E27FC236}">
                <a16:creationId xmlns:a16="http://schemas.microsoft.com/office/drawing/2014/main" id="{2970EC97-02B2-017A-E457-9A6BD5A8CE7B}"/>
              </a:ext>
            </a:extLst>
          </p:cNvPr>
          <p:cNvSpPr txBox="1"/>
          <p:nvPr/>
        </p:nvSpPr>
        <p:spPr>
          <a:xfrm>
            <a:off x="583060" y="3234717"/>
            <a:ext cx="384048" cy="360163"/>
          </a:xfrm>
          <a:prstGeom prst="rect">
            <a:avLst/>
          </a:prstGeom>
        </p:spPr>
        <p:txBody>
          <a:bodyPr lIns="0" tIns="0" rIns="0" bIns="0" rtlCol="0" anchor="t">
            <a:spAutoFit/>
          </a:bodyPr>
          <a:lstStyle/>
          <a:p>
            <a:pPr algn="ctr">
              <a:lnSpc>
                <a:spcPts val="2876"/>
              </a:lnSpc>
            </a:pPr>
            <a:r>
              <a:rPr lang="en-US" sz="2400" b="1" spc="-86" dirty="0">
                <a:solidFill>
                  <a:srgbClr val="00C2E4"/>
                </a:solidFill>
                <a:latin typeface="Montaser Arabic Bold"/>
                <a:ea typeface="Montaser Arabic Bold"/>
                <a:cs typeface="Montaser Arabic Bold"/>
                <a:sym typeface="Montaser Arabic Bold"/>
              </a:rPr>
              <a:t>01</a:t>
            </a:r>
          </a:p>
        </p:txBody>
      </p:sp>
      <p:sp>
        <p:nvSpPr>
          <p:cNvPr id="53" name="TextBox 42">
            <a:extLst>
              <a:ext uri="{FF2B5EF4-FFF2-40B4-BE49-F238E27FC236}">
                <a16:creationId xmlns:a16="http://schemas.microsoft.com/office/drawing/2014/main" id="{F05963D5-6594-7BE8-CD49-957F967BA7C6}"/>
              </a:ext>
            </a:extLst>
          </p:cNvPr>
          <p:cNvSpPr txBox="1"/>
          <p:nvPr/>
        </p:nvSpPr>
        <p:spPr>
          <a:xfrm>
            <a:off x="4023360" y="3289304"/>
            <a:ext cx="384048" cy="318254"/>
          </a:xfrm>
          <a:prstGeom prst="rect">
            <a:avLst/>
          </a:prstGeom>
        </p:spPr>
        <p:txBody>
          <a:bodyPr lIns="0" tIns="0" rIns="0" bIns="0" rtlCol="0" anchor="t">
            <a:spAutoFit/>
          </a:bodyPr>
          <a:lstStyle/>
          <a:p>
            <a:pPr algn="ctr">
              <a:lnSpc>
                <a:spcPts val="2404"/>
              </a:lnSpc>
            </a:pPr>
            <a:r>
              <a:rPr lang="en-US" sz="2404" b="1" spc="-72" dirty="0">
                <a:solidFill>
                  <a:srgbClr val="00C2E4"/>
                </a:solidFill>
                <a:latin typeface="Montaser Arabic Bold"/>
                <a:ea typeface="Montaser Arabic Bold"/>
                <a:cs typeface="Montaser Arabic Bold"/>
                <a:sym typeface="Montaser Arabic Bold"/>
              </a:rPr>
              <a:t>02</a:t>
            </a:r>
          </a:p>
        </p:txBody>
      </p:sp>
      <p:sp>
        <p:nvSpPr>
          <p:cNvPr id="54" name="TextBox 43">
            <a:extLst>
              <a:ext uri="{FF2B5EF4-FFF2-40B4-BE49-F238E27FC236}">
                <a16:creationId xmlns:a16="http://schemas.microsoft.com/office/drawing/2014/main" id="{AA4306DB-E79A-4F29-34C0-FC84C75B7FC3}"/>
              </a:ext>
            </a:extLst>
          </p:cNvPr>
          <p:cNvSpPr txBox="1"/>
          <p:nvPr/>
        </p:nvSpPr>
        <p:spPr>
          <a:xfrm>
            <a:off x="7461504" y="3289044"/>
            <a:ext cx="384048" cy="318775"/>
          </a:xfrm>
          <a:prstGeom prst="rect">
            <a:avLst/>
          </a:prstGeom>
        </p:spPr>
        <p:txBody>
          <a:bodyPr lIns="0" tIns="0" rIns="0" bIns="0" rtlCol="0" anchor="t">
            <a:spAutoFit/>
          </a:bodyPr>
          <a:lstStyle/>
          <a:p>
            <a:pPr algn="ctr">
              <a:lnSpc>
                <a:spcPts val="2425"/>
              </a:lnSpc>
            </a:pPr>
            <a:r>
              <a:rPr lang="en-US" sz="2400" b="1" spc="-72" dirty="0">
                <a:solidFill>
                  <a:srgbClr val="00C2E4"/>
                </a:solidFill>
                <a:latin typeface="Montaser Arabic Bold"/>
                <a:ea typeface="Montaser Arabic Bold"/>
                <a:cs typeface="Montaser Arabic Bold"/>
                <a:sym typeface="Montaser Arabic Bold"/>
              </a:rPr>
              <a:t>03</a:t>
            </a:r>
          </a:p>
        </p:txBody>
      </p:sp>
      <p:sp>
        <p:nvSpPr>
          <p:cNvPr id="55" name="TextBox 44">
            <a:extLst>
              <a:ext uri="{FF2B5EF4-FFF2-40B4-BE49-F238E27FC236}">
                <a16:creationId xmlns:a16="http://schemas.microsoft.com/office/drawing/2014/main" id="{38C90A7E-EAE9-EE5D-DFE6-67ABAFA8F0E8}"/>
              </a:ext>
            </a:extLst>
          </p:cNvPr>
          <p:cNvSpPr txBox="1"/>
          <p:nvPr/>
        </p:nvSpPr>
        <p:spPr>
          <a:xfrm>
            <a:off x="10899648" y="3289304"/>
            <a:ext cx="384048" cy="318254"/>
          </a:xfrm>
          <a:prstGeom prst="rect">
            <a:avLst/>
          </a:prstGeom>
        </p:spPr>
        <p:txBody>
          <a:bodyPr lIns="0" tIns="0" rIns="0" bIns="0" rtlCol="0" anchor="t">
            <a:spAutoFit/>
          </a:bodyPr>
          <a:lstStyle/>
          <a:p>
            <a:pPr algn="ctr">
              <a:lnSpc>
                <a:spcPts val="2404"/>
              </a:lnSpc>
            </a:pPr>
            <a:r>
              <a:rPr lang="en-US" sz="2404" b="1" spc="-72" dirty="0">
                <a:solidFill>
                  <a:srgbClr val="00C2E4"/>
                </a:solidFill>
                <a:latin typeface="Montaser Arabic Bold"/>
                <a:ea typeface="Montaser Arabic Bold"/>
                <a:cs typeface="Montaser Arabic Bold"/>
                <a:sym typeface="Montaser Arabic Bold"/>
              </a:rPr>
              <a:t>04</a:t>
            </a:r>
          </a:p>
        </p:txBody>
      </p:sp>
      <p:sp>
        <p:nvSpPr>
          <p:cNvPr id="56" name="TextBox 45">
            <a:extLst>
              <a:ext uri="{FF2B5EF4-FFF2-40B4-BE49-F238E27FC236}">
                <a16:creationId xmlns:a16="http://schemas.microsoft.com/office/drawing/2014/main" id="{1FA9A39C-892A-AA06-C34F-E3EF54AE5A48}"/>
              </a:ext>
            </a:extLst>
          </p:cNvPr>
          <p:cNvSpPr txBox="1"/>
          <p:nvPr/>
        </p:nvSpPr>
        <p:spPr>
          <a:xfrm>
            <a:off x="618595" y="5562791"/>
            <a:ext cx="2639187" cy="231217"/>
          </a:xfrm>
          <a:prstGeom prst="rect">
            <a:avLst/>
          </a:prstGeom>
        </p:spPr>
        <p:txBody>
          <a:bodyPr wrap="square" lIns="0" tIns="0" rIns="0" bIns="0" rtlCol="0" anchor="t">
            <a:spAutoFit/>
          </a:bodyPr>
          <a:lstStyle/>
          <a:p>
            <a:pPr algn="ctr">
              <a:lnSpc>
                <a:spcPts val="1679"/>
              </a:lnSpc>
            </a:pPr>
            <a:r>
              <a:rPr lang="en-US" sz="2000" b="1" spc="-41" dirty="0">
                <a:solidFill>
                  <a:srgbClr val="00C2E4"/>
                </a:solidFill>
                <a:latin typeface="Montaser Arabic Bold"/>
                <a:ea typeface="Montaser Arabic Bold"/>
                <a:cs typeface="Montaser Arabic Bold"/>
                <a:sym typeface="Montaser Arabic Bold"/>
              </a:rPr>
              <a:t>Satellite observation layer</a:t>
            </a:r>
          </a:p>
        </p:txBody>
      </p:sp>
      <p:sp>
        <p:nvSpPr>
          <p:cNvPr id="57" name="TextBox 46">
            <a:extLst>
              <a:ext uri="{FF2B5EF4-FFF2-40B4-BE49-F238E27FC236}">
                <a16:creationId xmlns:a16="http://schemas.microsoft.com/office/drawing/2014/main" id="{234061E9-A1E5-0E6D-AF21-7B7455BEDDDE}"/>
              </a:ext>
            </a:extLst>
          </p:cNvPr>
          <p:cNvSpPr txBox="1"/>
          <p:nvPr/>
        </p:nvSpPr>
        <p:spPr>
          <a:xfrm>
            <a:off x="7766114" y="5684327"/>
            <a:ext cx="2066544" cy="240835"/>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Movement forcing</a:t>
            </a:r>
          </a:p>
        </p:txBody>
      </p:sp>
      <p:sp>
        <p:nvSpPr>
          <p:cNvPr id="58" name="TextBox 47">
            <a:extLst>
              <a:ext uri="{FF2B5EF4-FFF2-40B4-BE49-F238E27FC236}">
                <a16:creationId xmlns:a16="http://schemas.microsoft.com/office/drawing/2014/main" id="{CBC79CAC-F584-430B-CCC7-9486F613E040}"/>
              </a:ext>
            </a:extLst>
          </p:cNvPr>
          <p:cNvSpPr txBox="1"/>
          <p:nvPr/>
        </p:nvSpPr>
        <p:spPr>
          <a:xfrm>
            <a:off x="11155680" y="3993642"/>
            <a:ext cx="475488"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NOW</a:t>
            </a:r>
          </a:p>
        </p:txBody>
      </p:sp>
      <p:sp>
        <p:nvSpPr>
          <p:cNvPr id="59" name="TextBox 48">
            <a:extLst>
              <a:ext uri="{FF2B5EF4-FFF2-40B4-BE49-F238E27FC236}">
                <a16:creationId xmlns:a16="http://schemas.microsoft.com/office/drawing/2014/main" id="{C765AD6C-42DF-0661-220C-1853B7CCF82E}"/>
              </a:ext>
            </a:extLst>
          </p:cNvPr>
          <p:cNvSpPr txBox="1"/>
          <p:nvPr/>
        </p:nvSpPr>
        <p:spPr>
          <a:xfrm>
            <a:off x="12088368" y="3993642"/>
            <a:ext cx="475488"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+24 H</a:t>
            </a:r>
          </a:p>
        </p:txBody>
      </p:sp>
      <p:sp>
        <p:nvSpPr>
          <p:cNvPr id="60" name="TextBox 49">
            <a:extLst>
              <a:ext uri="{FF2B5EF4-FFF2-40B4-BE49-F238E27FC236}">
                <a16:creationId xmlns:a16="http://schemas.microsoft.com/office/drawing/2014/main" id="{8DCC40DA-4466-6F2A-8163-BB40E5B811BA}"/>
              </a:ext>
            </a:extLst>
          </p:cNvPr>
          <p:cNvSpPr txBox="1"/>
          <p:nvPr/>
        </p:nvSpPr>
        <p:spPr>
          <a:xfrm>
            <a:off x="13021056" y="3993642"/>
            <a:ext cx="585216"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+48 H</a:t>
            </a:r>
          </a:p>
        </p:txBody>
      </p:sp>
      <p:sp>
        <p:nvSpPr>
          <p:cNvPr id="61" name="TextBox 50">
            <a:extLst>
              <a:ext uri="{FF2B5EF4-FFF2-40B4-BE49-F238E27FC236}">
                <a16:creationId xmlns:a16="http://schemas.microsoft.com/office/drawing/2014/main" id="{CD989B59-0F47-73C5-6169-876C71FD7FC4}"/>
              </a:ext>
            </a:extLst>
          </p:cNvPr>
          <p:cNvSpPr txBox="1"/>
          <p:nvPr/>
        </p:nvSpPr>
        <p:spPr>
          <a:xfrm>
            <a:off x="14532592" y="5615756"/>
            <a:ext cx="2866862" cy="240835"/>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Cleanup priority map</a:t>
            </a:r>
          </a:p>
        </p:txBody>
      </p:sp>
      <p:sp>
        <p:nvSpPr>
          <p:cNvPr id="64" name="TextBox 53">
            <a:extLst>
              <a:ext uri="{FF2B5EF4-FFF2-40B4-BE49-F238E27FC236}">
                <a16:creationId xmlns:a16="http://schemas.microsoft.com/office/drawing/2014/main" id="{B2344465-7228-CD1C-CCCA-CC30E2C4FA4B}"/>
              </a:ext>
            </a:extLst>
          </p:cNvPr>
          <p:cNvSpPr txBox="1"/>
          <p:nvPr/>
        </p:nvSpPr>
        <p:spPr>
          <a:xfrm>
            <a:off x="11289030" y="6331473"/>
            <a:ext cx="2317242" cy="471668"/>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Predicted trajectory</a:t>
            </a:r>
          </a:p>
          <a:p>
            <a:pPr algn="ctr">
              <a:lnSpc>
                <a:spcPts val="1766"/>
              </a:lnSpc>
            </a:pPr>
            <a:r>
              <a:rPr lang="en-US" sz="2000" b="1" spc="-44" dirty="0">
                <a:solidFill>
                  <a:srgbClr val="00C2E4"/>
                </a:solidFill>
                <a:latin typeface="Montaser Arabic Bold"/>
                <a:ea typeface="Montaser Arabic Bold"/>
                <a:cs typeface="Montaser Arabic Bold"/>
                <a:sym typeface="Montaser Arabic Bold"/>
              </a:rPr>
              <a:t>+ uncertainty</a:t>
            </a:r>
          </a:p>
        </p:txBody>
      </p:sp>
      <p:sp>
        <p:nvSpPr>
          <p:cNvPr id="65" name="TextBox 54">
            <a:extLst>
              <a:ext uri="{FF2B5EF4-FFF2-40B4-BE49-F238E27FC236}">
                <a16:creationId xmlns:a16="http://schemas.microsoft.com/office/drawing/2014/main" id="{EF89E8F0-7AAF-C643-B23D-B825C810B22A}"/>
              </a:ext>
            </a:extLst>
          </p:cNvPr>
          <p:cNvSpPr txBox="1"/>
          <p:nvPr/>
        </p:nvSpPr>
        <p:spPr>
          <a:xfrm>
            <a:off x="5504688" y="9421654"/>
            <a:ext cx="1115568"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OSCAR</a:t>
            </a:r>
          </a:p>
        </p:txBody>
      </p:sp>
      <p:sp>
        <p:nvSpPr>
          <p:cNvPr id="66" name="TextBox 55">
            <a:extLst>
              <a:ext uri="{FF2B5EF4-FFF2-40B4-BE49-F238E27FC236}">
                <a16:creationId xmlns:a16="http://schemas.microsoft.com/office/drawing/2014/main" id="{1EA4FFBB-0BDE-2BA3-57B2-B62F895DA6E4}"/>
              </a:ext>
            </a:extLst>
          </p:cNvPr>
          <p:cNvSpPr txBox="1"/>
          <p:nvPr/>
        </p:nvSpPr>
        <p:spPr>
          <a:xfrm>
            <a:off x="6492240" y="9421654"/>
            <a:ext cx="1353312"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 MERRA-2</a:t>
            </a:r>
          </a:p>
        </p:txBody>
      </p:sp>
      <p:sp>
        <p:nvSpPr>
          <p:cNvPr id="67" name="TextBox 56">
            <a:extLst>
              <a:ext uri="{FF2B5EF4-FFF2-40B4-BE49-F238E27FC236}">
                <a16:creationId xmlns:a16="http://schemas.microsoft.com/office/drawing/2014/main" id="{D30D2E77-CA28-0A52-B8E0-B1398900E36B}"/>
              </a:ext>
            </a:extLst>
          </p:cNvPr>
          <p:cNvSpPr txBox="1"/>
          <p:nvPr/>
        </p:nvSpPr>
        <p:spPr>
          <a:xfrm>
            <a:off x="13185648" y="9421654"/>
            <a:ext cx="877824" cy="225742"/>
          </a:xfrm>
          <a:prstGeom prst="rect">
            <a:avLst/>
          </a:prstGeom>
        </p:spPr>
        <p:txBody>
          <a:bodyPr lIns="0" tIns="0" rIns="0" bIns="0" rtlCol="0" anchor="t">
            <a:spAutoFit/>
          </a:bodyPr>
          <a:lstStyle/>
          <a:p>
            <a:pPr algn="l">
              <a:lnSpc>
                <a:spcPts val="1762"/>
              </a:lnSpc>
            </a:pPr>
            <a:r>
              <a:rPr lang="en-US" sz="1762" b="1" spc="-52">
                <a:solidFill>
                  <a:srgbClr val="FFFFFF"/>
                </a:solidFill>
                <a:latin typeface="Montaser Arabic Bold"/>
                <a:ea typeface="Montaser Arabic Bold"/>
                <a:cs typeface="Montaser Arabic Bold"/>
                <a:sym typeface="Montaser Arabic Bold"/>
              </a:rPr>
              <a:t>ACTION</a:t>
            </a:r>
          </a:p>
        </p:txBody>
      </p:sp>
      <p:sp>
        <p:nvSpPr>
          <p:cNvPr id="68" name="TextBox 57">
            <a:extLst>
              <a:ext uri="{FF2B5EF4-FFF2-40B4-BE49-F238E27FC236}">
                <a16:creationId xmlns:a16="http://schemas.microsoft.com/office/drawing/2014/main" id="{7672170F-61FF-DF67-9E37-DC1A9CC213ED}"/>
              </a:ext>
            </a:extLst>
          </p:cNvPr>
          <p:cNvSpPr txBox="1"/>
          <p:nvPr/>
        </p:nvSpPr>
        <p:spPr>
          <a:xfrm>
            <a:off x="13131336" y="9354195"/>
            <a:ext cx="5308854" cy="589905"/>
          </a:xfrm>
          <a:prstGeom prst="rect">
            <a:avLst/>
          </a:prstGeom>
        </p:spPr>
        <p:txBody>
          <a:bodyPr wrap="square" lIns="0" tIns="0" rIns="0" bIns="0" rtlCol="0" anchor="t">
            <a:spAutoFit/>
          </a:bodyPr>
          <a:lstStyle/>
          <a:p>
            <a:pPr algn="l">
              <a:lnSpc>
                <a:spcPts val="1545"/>
              </a:lnSpc>
            </a:pPr>
            <a:r>
              <a:rPr lang="en-US" b="1" spc="-27" dirty="0">
                <a:latin typeface="Montaser Arabic"/>
                <a:ea typeface="Montaser Arabic"/>
                <a:cs typeface="Montaser Arabic"/>
                <a:sym typeface="Montaser Arabic"/>
              </a:rPr>
              <a:t>Satellite observations indicate potential marine debris hotspots; supervised training and validation require appropriate marine debris ground-truth observations.</a:t>
            </a:r>
          </a:p>
        </p:txBody>
      </p:sp>
    </p:spTree>
    <p:extLst>
      <p:ext uri="{BB962C8B-B14F-4D97-AF65-F5344CB8AC3E}">
        <p14:creationId xmlns:p14="http://schemas.microsoft.com/office/powerpoint/2010/main" val="3065653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325901" y="-9371021"/>
            <a:chExt cx="24384000" cy="13716000"/>
          </a:xfrm>
        </p:grpSpPr>
        <p:sp>
          <p:nvSpPr>
            <p:cNvPr id="3" name="Freeform 3" descr="A bright light in a room  AI-generated content may be incorrect."/>
            <p:cNvSpPr/>
            <p:nvPr/>
          </p:nvSpPr>
          <p:spPr>
            <a:xfrm>
              <a:off x="325901" y="-9371021"/>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solidFill>
                  <a:srgbClr val="8064A2"/>
                </a:solidFill>
              </a:endParaRPr>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pPr algn="ctr"/>
              <a:endParaRPr lang="en-IN"/>
            </a:p>
          </p:txBody>
        </p:sp>
      </p:grpSp>
      <p:grpSp>
        <p:nvGrpSpPr>
          <p:cNvPr id="6" name="Group 6"/>
          <p:cNvGrpSpPr/>
          <p:nvPr/>
        </p:nvGrpSpPr>
        <p:grpSpPr>
          <a:xfrm>
            <a:off x="7128300" y="408394"/>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pPr algn="ctr"/>
              <a:endParaRPr lang="en-IN"/>
            </a:p>
          </p:txBody>
        </p:sp>
      </p:grpSp>
      <p:sp>
        <p:nvSpPr>
          <p:cNvPr id="12" name="Freeform 3">
            <a:extLst>
              <a:ext uri="{FF2B5EF4-FFF2-40B4-BE49-F238E27FC236}">
                <a16:creationId xmlns:a16="http://schemas.microsoft.com/office/drawing/2014/main" id="{5CEE7A8A-E108-5B60-9130-587C8C0580D9}"/>
              </a:ext>
            </a:extLst>
          </p:cNvPr>
          <p:cNvSpPr/>
          <p:nvPr/>
        </p:nvSpPr>
        <p:spPr>
          <a:xfrm>
            <a:off x="13395960" y="2836501"/>
            <a:ext cx="4800600" cy="2362200"/>
          </a:xfrm>
          <a:custGeom>
            <a:avLst/>
            <a:gdLst/>
            <a:ahLst/>
            <a:cxnLst/>
            <a:rect l="l" t="t" r="r" b="b"/>
            <a:pathLst>
              <a:path w="4800600" h="2362200">
                <a:moveTo>
                  <a:pt x="0" y="0"/>
                </a:moveTo>
                <a:lnTo>
                  <a:pt x="4800600" y="0"/>
                </a:lnTo>
                <a:lnTo>
                  <a:pt x="4800600" y="2362200"/>
                </a:lnTo>
                <a:lnTo>
                  <a:pt x="0" y="2362200"/>
                </a:lnTo>
                <a:lnTo>
                  <a:pt x="0" y="0"/>
                </a:lnTo>
                <a:close/>
              </a:path>
            </a:pathLst>
          </a:custGeom>
          <a:blipFill>
            <a:blip r:embed="rId5"/>
            <a:stretch>
              <a:fillRect/>
            </a:stretch>
          </a:blipFill>
        </p:spPr>
      </p:sp>
      <p:sp>
        <p:nvSpPr>
          <p:cNvPr id="13" name="TextBox 4">
            <a:extLst>
              <a:ext uri="{FF2B5EF4-FFF2-40B4-BE49-F238E27FC236}">
                <a16:creationId xmlns:a16="http://schemas.microsoft.com/office/drawing/2014/main" id="{0F124229-454E-F1D2-C4F2-4E79D1C0E442}"/>
              </a:ext>
            </a:extLst>
          </p:cNvPr>
          <p:cNvSpPr txBox="1"/>
          <p:nvPr/>
        </p:nvSpPr>
        <p:spPr>
          <a:xfrm>
            <a:off x="0" y="1562100"/>
            <a:ext cx="18379440" cy="846899"/>
          </a:xfrm>
          <a:prstGeom prst="rect">
            <a:avLst/>
          </a:prstGeom>
        </p:spPr>
        <p:txBody>
          <a:bodyPr wrap="square" lIns="0" tIns="0" rIns="0" bIns="0" numCol="1" rtlCol="0" anchor="t">
            <a:spAutoFit/>
          </a:bodyPr>
          <a:lstStyle/>
          <a:p>
            <a:pPr algn="ctr">
              <a:lnSpc>
                <a:spcPts val="6924"/>
              </a:lnSpc>
            </a:pPr>
            <a:r>
              <a:rPr lang="en-US" sz="5170" b="1" dirty="0">
                <a:latin typeface="Roboto Bold"/>
                <a:ea typeface="Roboto Bold"/>
                <a:cs typeface="Roboto Bold"/>
                <a:sym typeface="Roboto Bold"/>
              </a:rPr>
              <a:t>TECHNOLOGY STACK</a:t>
            </a:r>
          </a:p>
        </p:txBody>
      </p:sp>
      <p:sp>
        <p:nvSpPr>
          <p:cNvPr id="15" name="TextBox 6">
            <a:extLst>
              <a:ext uri="{FF2B5EF4-FFF2-40B4-BE49-F238E27FC236}">
                <a16:creationId xmlns:a16="http://schemas.microsoft.com/office/drawing/2014/main" id="{686D2B7D-62FF-4391-C1AC-305912A61B65}"/>
              </a:ext>
            </a:extLst>
          </p:cNvPr>
          <p:cNvSpPr txBox="1"/>
          <p:nvPr/>
        </p:nvSpPr>
        <p:spPr>
          <a:xfrm>
            <a:off x="1524000" y="2310481"/>
            <a:ext cx="15796260" cy="307777"/>
          </a:xfrm>
          <a:prstGeom prst="rect">
            <a:avLst/>
          </a:prstGeom>
        </p:spPr>
        <p:txBody>
          <a:bodyPr wrap="square" lIns="0" tIns="0" rIns="0" bIns="0" rtlCol="0" anchor="t">
            <a:spAutoFit/>
          </a:bodyPr>
          <a:lstStyle/>
          <a:p>
            <a:pPr algn="ctr">
              <a:lnSpc>
                <a:spcPts val="2390"/>
              </a:lnSpc>
            </a:pPr>
            <a:r>
              <a:rPr lang="en-US" sz="2400" dirty="0">
                <a:solidFill>
                  <a:schemeClr val="accent4"/>
                </a:solidFill>
                <a:latin typeface="Roboto"/>
                <a:ea typeface="Roboto"/>
                <a:cs typeface="Roboto"/>
                <a:sym typeface="Roboto"/>
              </a:rPr>
              <a:t>Purpose-built technologies for Earth observation, AI detection, ocean-drift forecasting and actionable mapping</a:t>
            </a:r>
          </a:p>
        </p:txBody>
      </p:sp>
      <p:sp>
        <p:nvSpPr>
          <p:cNvPr id="16" name="TextBox 7">
            <a:extLst>
              <a:ext uri="{FF2B5EF4-FFF2-40B4-BE49-F238E27FC236}">
                <a16:creationId xmlns:a16="http://schemas.microsoft.com/office/drawing/2014/main" id="{A48DAA72-75EB-A69F-3318-8AD1D4DCC197}"/>
              </a:ext>
            </a:extLst>
          </p:cNvPr>
          <p:cNvSpPr txBox="1"/>
          <p:nvPr/>
        </p:nvSpPr>
        <p:spPr>
          <a:xfrm>
            <a:off x="640080" y="2923142"/>
            <a:ext cx="1261872" cy="627995"/>
          </a:xfrm>
          <a:prstGeom prst="rect">
            <a:avLst/>
          </a:prstGeom>
        </p:spPr>
        <p:txBody>
          <a:bodyPr lIns="0" tIns="0" rIns="0" bIns="0" rtlCol="0" anchor="t">
            <a:spAutoFit/>
          </a:bodyPr>
          <a:lstStyle/>
          <a:p>
            <a:pPr algn="ctr">
              <a:lnSpc>
                <a:spcPts val="2418"/>
              </a:lnSpc>
            </a:pPr>
            <a:r>
              <a:rPr lang="en-US" sz="2400" b="1" spc="-109" dirty="0">
                <a:solidFill>
                  <a:schemeClr val="accent4"/>
                </a:solidFill>
                <a:latin typeface="Roboto Bold"/>
                <a:ea typeface="Roboto Bold"/>
                <a:cs typeface="Roboto Bold"/>
                <a:sym typeface="Roboto Bold"/>
              </a:rPr>
              <a:t>SATELLITE DATA</a:t>
            </a:r>
          </a:p>
        </p:txBody>
      </p:sp>
      <p:sp>
        <p:nvSpPr>
          <p:cNvPr id="17" name="Freeform 8">
            <a:extLst>
              <a:ext uri="{FF2B5EF4-FFF2-40B4-BE49-F238E27FC236}">
                <a16:creationId xmlns:a16="http://schemas.microsoft.com/office/drawing/2014/main" id="{54B7B545-1C27-EC50-57FA-EE6924090138}"/>
              </a:ext>
            </a:extLst>
          </p:cNvPr>
          <p:cNvSpPr/>
          <p:nvPr/>
        </p:nvSpPr>
        <p:spPr>
          <a:xfrm>
            <a:off x="1085850" y="3489933"/>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6"/>
            <a:stretch>
              <a:fillRect/>
            </a:stretch>
          </a:blipFill>
        </p:spPr>
      </p:sp>
      <p:sp>
        <p:nvSpPr>
          <p:cNvPr id="18" name="TextBox 9">
            <a:extLst>
              <a:ext uri="{FF2B5EF4-FFF2-40B4-BE49-F238E27FC236}">
                <a16:creationId xmlns:a16="http://schemas.microsoft.com/office/drawing/2014/main" id="{06F47141-A968-6C1E-F674-225612203EE8}"/>
              </a:ext>
            </a:extLst>
          </p:cNvPr>
          <p:cNvSpPr txBox="1"/>
          <p:nvPr/>
        </p:nvSpPr>
        <p:spPr>
          <a:xfrm>
            <a:off x="530733" y="4255671"/>
            <a:ext cx="1428750" cy="597408"/>
          </a:xfrm>
          <a:prstGeom prst="rect">
            <a:avLst/>
          </a:prstGeom>
        </p:spPr>
        <p:txBody>
          <a:bodyPr wrap="square" lIns="0" tIns="0" rIns="0" bIns="0" rtlCol="0" anchor="t">
            <a:spAutoFit/>
          </a:bodyPr>
          <a:lstStyle/>
          <a:p>
            <a:pPr algn="ctr">
              <a:lnSpc>
                <a:spcPts val="2276"/>
              </a:lnSpc>
            </a:pPr>
            <a:r>
              <a:rPr lang="en-US" sz="2400" b="1" spc="-103" dirty="0">
                <a:solidFill>
                  <a:schemeClr val="accent4"/>
                </a:solidFill>
                <a:latin typeface="Roboto Bold"/>
                <a:ea typeface="Roboto Bold"/>
                <a:cs typeface="Roboto Bold"/>
                <a:sym typeface="Roboto Bold"/>
              </a:rPr>
              <a:t>AI DETECTION</a:t>
            </a:r>
          </a:p>
        </p:txBody>
      </p:sp>
      <p:sp>
        <p:nvSpPr>
          <p:cNvPr id="19" name="Freeform 10">
            <a:extLst>
              <a:ext uri="{FF2B5EF4-FFF2-40B4-BE49-F238E27FC236}">
                <a16:creationId xmlns:a16="http://schemas.microsoft.com/office/drawing/2014/main" id="{33DE8F16-ABA3-C799-E013-651F9D069DA5}"/>
              </a:ext>
            </a:extLst>
          </p:cNvPr>
          <p:cNvSpPr/>
          <p:nvPr/>
        </p:nvSpPr>
        <p:spPr>
          <a:xfrm>
            <a:off x="1085850" y="47758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7"/>
            <a:stretch>
              <a:fillRect/>
            </a:stretch>
          </a:blipFill>
        </p:spPr>
      </p:sp>
      <p:sp>
        <p:nvSpPr>
          <p:cNvPr id="20" name="TextBox 11">
            <a:extLst>
              <a:ext uri="{FF2B5EF4-FFF2-40B4-BE49-F238E27FC236}">
                <a16:creationId xmlns:a16="http://schemas.microsoft.com/office/drawing/2014/main" id="{DC3300E0-71A5-7470-9583-2276FA2D37D4}"/>
              </a:ext>
            </a:extLst>
          </p:cNvPr>
          <p:cNvSpPr txBox="1"/>
          <p:nvPr/>
        </p:nvSpPr>
        <p:spPr>
          <a:xfrm>
            <a:off x="640080" y="5494728"/>
            <a:ext cx="1170432" cy="628323"/>
          </a:xfrm>
          <a:prstGeom prst="rect">
            <a:avLst/>
          </a:prstGeom>
        </p:spPr>
        <p:txBody>
          <a:bodyPr lIns="0" tIns="0" rIns="0" bIns="0" rtlCol="0" anchor="t">
            <a:spAutoFit/>
          </a:bodyPr>
          <a:lstStyle/>
          <a:p>
            <a:pPr algn="ctr">
              <a:lnSpc>
                <a:spcPts val="2446"/>
              </a:lnSpc>
            </a:pPr>
            <a:r>
              <a:rPr lang="en-US" sz="2400" b="1" spc="-111" dirty="0">
                <a:solidFill>
                  <a:schemeClr val="accent4"/>
                </a:solidFill>
                <a:latin typeface="Roboto Bold"/>
                <a:ea typeface="Roboto Bold"/>
                <a:cs typeface="Roboto Bold"/>
                <a:sym typeface="Roboto Bold"/>
              </a:rPr>
              <a:t>CURRENT + WIND</a:t>
            </a:r>
          </a:p>
        </p:txBody>
      </p:sp>
      <p:sp>
        <p:nvSpPr>
          <p:cNvPr id="21" name="Freeform 12">
            <a:extLst>
              <a:ext uri="{FF2B5EF4-FFF2-40B4-BE49-F238E27FC236}">
                <a16:creationId xmlns:a16="http://schemas.microsoft.com/office/drawing/2014/main" id="{DEFBB327-9F06-8A6D-521D-D69943D4B986}"/>
              </a:ext>
            </a:extLst>
          </p:cNvPr>
          <p:cNvSpPr/>
          <p:nvPr/>
        </p:nvSpPr>
        <p:spPr>
          <a:xfrm>
            <a:off x="1085850" y="6061683"/>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8"/>
            <a:stretch>
              <a:fillRect/>
            </a:stretch>
          </a:blipFill>
        </p:spPr>
      </p:sp>
      <p:sp>
        <p:nvSpPr>
          <p:cNvPr id="22" name="TextBox 13">
            <a:extLst>
              <a:ext uri="{FF2B5EF4-FFF2-40B4-BE49-F238E27FC236}">
                <a16:creationId xmlns:a16="http://schemas.microsoft.com/office/drawing/2014/main" id="{4BF9F9C0-9D38-7638-48E7-C55DE905AFDA}"/>
              </a:ext>
            </a:extLst>
          </p:cNvPr>
          <p:cNvSpPr txBox="1"/>
          <p:nvPr/>
        </p:nvSpPr>
        <p:spPr>
          <a:xfrm>
            <a:off x="530733" y="6728777"/>
            <a:ext cx="1379220" cy="574966"/>
          </a:xfrm>
          <a:prstGeom prst="rect">
            <a:avLst/>
          </a:prstGeom>
        </p:spPr>
        <p:txBody>
          <a:bodyPr wrap="square" lIns="0" tIns="0" rIns="0" bIns="0" rtlCol="0" anchor="t">
            <a:spAutoFit/>
          </a:bodyPr>
          <a:lstStyle/>
          <a:p>
            <a:pPr algn="ctr">
              <a:lnSpc>
                <a:spcPts val="2191"/>
              </a:lnSpc>
            </a:pPr>
            <a:r>
              <a:rPr lang="en-US" sz="2400" b="1" spc="-99" dirty="0">
                <a:solidFill>
                  <a:schemeClr val="accent4"/>
                </a:solidFill>
                <a:latin typeface="Roboto Bold"/>
                <a:ea typeface="Roboto Bold"/>
                <a:cs typeface="Roboto Bold"/>
                <a:sym typeface="Roboto Bold"/>
              </a:rPr>
              <a:t>DRIFT FORECAST</a:t>
            </a:r>
          </a:p>
        </p:txBody>
      </p:sp>
      <p:sp>
        <p:nvSpPr>
          <p:cNvPr id="23" name="Freeform 14">
            <a:extLst>
              <a:ext uri="{FF2B5EF4-FFF2-40B4-BE49-F238E27FC236}">
                <a16:creationId xmlns:a16="http://schemas.microsoft.com/office/drawing/2014/main" id="{314ECFF7-092D-2FE2-3D08-C16C5C243DD9}"/>
              </a:ext>
            </a:extLst>
          </p:cNvPr>
          <p:cNvSpPr/>
          <p:nvPr/>
        </p:nvSpPr>
        <p:spPr>
          <a:xfrm>
            <a:off x="1085850" y="71380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9"/>
            <a:stretch>
              <a:fillRect/>
            </a:stretch>
          </a:blipFill>
        </p:spPr>
      </p:sp>
      <p:sp>
        <p:nvSpPr>
          <p:cNvPr id="24" name="TextBox 15">
            <a:extLst>
              <a:ext uri="{FF2B5EF4-FFF2-40B4-BE49-F238E27FC236}">
                <a16:creationId xmlns:a16="http://schemas.microsoft.com/office/drawing/2014/main" id="{F3C92756-D8AB-2E0C-4988-997D5A6B4C4F}"/>
              </a:ext>
            </a:extLst>
          </p:cNvPr>
          <p:cNvSpPr txBox="1"/>
          <p:nvPr/>
        </p:nvSpPr>
        <p:spPr>
          <a:xfrm>
            <a:off x="640080" y="7880433"/>
            <a:ext cx="1170432" cy="301660"/>
          </a:xfrm>
          <a:prstGeom prst="rect">
            <a:avLst/>
          </a:prstGeom>
        </p:spPr>
        <p:txBody>
          <a:bodyPr lIns="0" tIns="0" rIns="0" bIns="0" rtlCol="0" anchor="t">
            <a:spAutoFit/>
          </a:bodyPr>
          <a:lstStyle/>
          <a:p>
            <a:pPr algn="ctr">
              <a:lnSpc>
                <a:spcPts val="2203"/>
              </a:lnSpc>
            </a:pPr>
            <a:r>
              <a:rPr lang="en-US" sz="2400" b="1" spc="-100" dirty="0">
                <a:solidFill>
                  <a:schemeClr val="accent4"/>
                </a:solidFill>
                <a:latin typeface="Roboto Bold"/>
                <a:ea typeface="Roboto Bold"/>
                <a:cs typeface="Roboto Bold"/>
                <a:sym typeface="Roboto Bold"/>
              </a:rPr>
              <a:t>RISK MAP</a:t>
            </a:r>
          </a:p>
        </p:txBody>
      </p:sp>
      <p:sp>
        <p:nvSpPr>
          <p:cNvPr id="25" name="Freeform 16">
            <a:extLst>
              <a:ext uri="{FF2B5EF4-FFF2-40B4-BE49-F238E27FC236}">
                <a16:creationId xmlns:a16="http://schemas.microsoft.com/office/drawing/2014/main" id="{4F5E318A-F775-698F-ADCD-861240283DE1}"/>
              </a:ext>
            </a:extLst>
          </p:cNvPr>
          <p:cNvSpPr/>
          <p:nvPr/>
        </p:nvSpPr>
        <p:spPr>
          <a:xfrm>
            <a:off x="1085850" y="82048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10"/>
            <a:stretch>
              <a:fillRect/>
            </a:stretch>
          </a:blipFill>
        </p:spPr>
      </p:sp>
      <p:sp>
        <p:nvSpPr>
          <p:cNvPr id="26" name="TextBox 17">
            <a:extLst>
              <a:ext uri="{FF2B5EF4-FFF2-40B4-BE49-F238E27FC236}">
                <a16:creationId xmlns:a16="http://schemas.microsoft.com/office/drawing/2014/main" id="{7BC2E1CA-FB6E-4778-3B3A-627DE4E965FD}"/>
              </a:ext>
            </a:extLst>
          </p:cNvPr>
          <p:cNvSpPr txBox="1"/>
          <p:nvPr/>
        </p:nvSpPr>
        <p:spPr>
          <a:xfrm>
            <a:off x="640080" y="8858577"/>
            <a:ext cx="1170432" cy="628323"/>
          </a:xfrm>
          <a:prstGeom prst="rect">
            <a:avLst/>
          </a:prstGeom>
        </p:spPr>
        <p:txBody>
          <a:bodyPr lIns="0" tIns="0" rIns="0" bIns="0" rtlCol="0" anchor="t">
            <a:spAutoFit/>
          </a:bodyPr>
          <a:lstStyle/>
          <a:p>
            <a:pPr algn="ctr">
              <a:lnSpc>
                <a:spcPts val="2446"/>
              </a:lnSpc>
            </a:pPr>
            <a:r>
              <a:rPr lang="en-US" sz="2400" b="1" spc="-111" dirty="0">
                <a:solidFill>
                  <a:schemeClr val="accent4"/>
                </a:solidFill>
                <a:latin typeface="Roboto Bold"/>
                <a:ea typeface="Roboto Bold"/>
                <a:cs typeface="Roboto Bold"/>
                <a:sym typeface="Roboto Bold"/>
              </a:rPr>
              <a:t>CLEANUP ACTION</a:t>
            </a:r>
          </a:p>
        </p:txBody>
      </p:sp>
      <p:sp>
        <p:nvSpPr>
          <p:cNvPr id="27" name="Freeform 18">
            <a:extLst>
              <a:ext uri="{FF2B5EF4-FFF2-40B4-BE49-F238E27FC236}">
                <a16:creationId xmlns:a16="http://schemas.microsoft.com/office/drawing/2014/main" id="{CE22E8AB-EDD5-E68E-016D-86BA6C63FF0A}"/>
              </a:ext>
            </a:extLst>
          </p:cNvPr>
          <p:cNvSpPr/>
          <p:nvPr/>
        </p:nvSpPr>
        <p:spPr>
          <a:xfrm>
            <a:off x="2159308" y="27241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1"/>
            <a:stretch>
              <a:fillRect/>
            </a:stretch>
          </a:blipFill>
        </p:spPr>
        <p:txBody>
          <a:bodyPr/>
          <a:lstStyle/>
          <a:p>
            <a:endParaRPr lang="en-IN" dirty="0">
              <a:solidFill>
                <a:srgbClr val="CFD0D7"/>
              </a:solidFill>
            </a:endParaRPr>
          </a:p>
        </p:txBody>
      </p:sp>
      <p:sp>
        <p:nvSpPr>
          <p:cNvPr id="28" name="Freeform 19">
            <a:extLst>
              <a:ext uri="{FF2B5EF4-FFF2-40B4-BE49-F238E27FC236}">
                <a16:creationId xmlns:a16="http://schemas.microsoft.com/office/drawing/2014/main" id="{C1A954EA-F6EA-E3D0-7467-948E6CEFF0EA}"/>
              </a:ext>
            </a:extLst>
          </p:cNvPr>
          <p:cNvSpPr/>
          <p:nvPr/>
        </p:nvSpPr>
        <p:spPr>
          <a:xfrm>
            <a:off x="2609850" y="2851758"/>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2"/>
            <a:stretch>
              <a:fillRect/>
            </a:stretch>
          </a:blipFill>
        </p:spPr>
        <p:txBody>
          <a:bodyPr/>
          <a:lstStyle/>
          <a:p>
            <a:endParaRPr lang="en-IN" dirty="0"/>
          </a:p>
        </p:txBody>
      </p:sp>
      <p:sp>
        <p:nvSpPr>
          <p:cNvPr id="29" name="TextBox 20">
            <a:extLst>
              <a:ext uri="{FF2B5EF4-FFF2-40B4-BE49-F238E27FC236}">
                <a16:creationId xmlns:a16="http://schemas.microsoft.com/office/drawing/2014/main" id="{E82C83BD-16DF-CF77-312B-8A46ED828C9F}"/>
              </a:ext>
            </a:extLst>
          </p:cNvPr>
          <p:cNvSpPr txBox="1"/>
          <p:nvPr/>
        </p:nvSpPr>
        <p:spPr>
          <a:xfrm>
            <a:off x="4652331" y="3314700"/>
            <a:ext cx="2792409" cy="263983"/>
          </a:xfrm>
          <a:prstGeom prst="rect">
            <a:avLst/>
          </a:prstGeom>
        </p:spPr>
        <p:txBody>
          <a:bodyPr wrap="square" lIns="0" tIns="0" rIns="0" bIns="0" rtlCol="0" anchor="t">
            <a:spAutoFit/>
          </a:bodyPr>
          <a:lstStyle/>
          <a:p>
            <a:pPr algn="l">
              <a:lnSpc>
                <a:spcPts val="1938"/>
              </a:lnSpc>
            </a:pPr>
            <a:r>
              <a:rPr lang="en-US" sz="2400" b="1" spc="-88" dirty="0">
                <a:latin typeface="Roboto Bold"/>
                <a:ea typeface="Roboto Bold"/>
                <a:cs typeface="Roboto Bold"/>
                <a:sym typeface="Roboto Bold"/>
              </a:rPr>
              <a:t>EARTH OBSERVATION</a:t>
            </a:r>
          </a:p>
        </p:txBody>
      </p:sp>
      <p:sp>
        <p:nvSpPr>
          <p:cNvPr id="30" name="TextBox 21">
            <a:extLst>
              <a:ext uri="{FF2B5EF4-FFF2-40B4-BE49-F238E27FC236}">
                <a16:creationId xmlns:a16="http://schemas.microsoft.com/office/drawing/2014/main" id="{A279C3A9-FD9E-FDAF-F08B-E16B638D553B}"/>
              </a:ext>
            </a:extLst>
          </p:cNvPr>
          <p:cNvSpPr txBox="1"/>
          <p:nvPr/>
        </p:nvSpPr>
        <p:spPr>
          <a:xfrm>
            <a:off x="7730731" y="2924555"/>
            <a:ext cx="2462603" cy="492443"/>
          </a:xfrm>
          <a:prstGeom prst="rect">
            <a:avLst/>
          </a:prstGeom>
        </p:spPr>
        <p:txBody>
          <a:bodyPr wrap="square" lIns="0" tIns="0" rIns="0" bIns="0" rtlCol="0" anchor="t">
            <a:spAutoFit/>
          </a:bodyPr>
          <a:lstStyle/>
          <a:p>
            <a:pPr algn="just"/>
            <a:r>
              <a:rPr lang="en-US" sz="1600" dirty="0">
                <a:latin typeface="Roboto"/>
                <a:ea typeface="Roboto"/>
                <a:cs typeface="Roboto"/>
                <a:sym typeface="Roboto"/>
              </a:rPr>
              <a:t>NASA Pace OCI – Surface Reflectance</a:t>
            </a:r>
          </a:p>
        </p:txBody>
      </p:sp>
      <p:sp>
        <p:nvSpPr>
          <p:cNvPr id="31" name="Freeform 22">
            <a:extLst>
              <a:ext uri="{FF2B5EF4-FFF2-40B4-BE49-F238E27FC236}">
                <a16:creationId xmlns:a16="http://schemas.microsoft.com/office/drawing/2014/main" id="{15BD11AB-8EA3-2404-E336-00081C4408D0}"/>
              </a:ext>
            </a:extLst>
          </p:cNvPr>
          <p:cNvSpPr/>
          <p:nvPr/>
        </p:nvSpPr>
        <p:spPr>
          <a:xfrm>
            <a:off x="7400925" y="2851758"/>
            <a:ext cx="219075" cy="1076325"/>
          </a:xfrm>
          <a:custGeom>
            <a:avLst/>
            <a:gdLst/>
            <a:ahLst/>
            <a:cxnLst/>
            <a:rect l="l" t="t" r="r" b="b"/>
            <a:pathLst>
              <a:path w="219075" h="1076325">
                <a:moveTo>
                  <a:pt x="0" y="0"/>
                </a:moveTo>
                <a:lnTo>
                  <a:pt x="219075" y="0"/>
                </a:lnTo>
                <a:lnTo>
                  <a:pt x="219075" y="1076325"/>
                </a:lnTo>
                <a:lnTo>
                  <a:pt x="0" y="1076325"/>
                </a:lnTo>
                <a:lnTo>
                  <a:pt x="0" y="0"/>
                </a:lnTo>
                <a:close/>
              </a:path>
            </a:pathLst>
          </a:custGeom>
          <a:blipFill>
            <a:blip r:embed="rId13"/>
            <a:stretch>
              <a:fillRect/>
            </a:stretch>
          </a:blipFill>
        </p:spPr>
      </p:sp>
      <p:sp>
        <p:nvSpPr>
          <p:cNvPr id="33" name="Freeform 24">
            <a:extLst>
              <a:ext uri="{FF2B5EF4-FFF2-40B4-BE49-F238E27FC236}">
                <a16:creationId xmlns:a16="http://schemas.microsoft.com/office/drawing/2014/main" id="{4337F324-19ED-9292-2974-7F26C2185F8A}"/>
              </a:ext>
            </a:extLst>
          </p:cNvPr>
          <p:cNvSpPr/>
          <p:nvPr/>
        </p:nvSpPr>
        <p:spPr>
          <a:xfrm>
            <a:off x="10010775" y="2851758"/>
            <a:ext cx="228600" cy="1076325"/>
          </a:xfrm>
          <a:custGeom>
            <a:avLst/>
            <a:gdLst/>
            <a:ahLst/>
            <a:cxnLst/>
            <a:rect l="l" t="t" r="r" b="b"/>
            <a:pathLst>
              <a:path w="228600" h="1076325">
                <a:moveTo>
                  <a:pt x="0" y="0"/>
                </a:moveTo>
                <a:lnTo>
                  <a:pt x="228600" y="0"/>
                </a:lnTo>
                <a:lnTo>
                  <a:pt x="228600" y="1076325"/>
                </a:lnTo>
                <a:lnTo>
                  <a:pt x="0" y="1076325"/>
                </a:lnTo>
                <a:lnTo>
                  <a:pt x="0" y="0"/>
                </a:lnTo>
                <a:close/>
              </a:path>
            </a:pathLst>
          </a:custGeom>
          <a:blipFill>
            <a:blip r:embed="rId14"/>
            <a:stretch>
              <a:fillRect/>
            </a:stretch>
          </a:blipFill>
        </p:spPr>
      </p:sp>
      <p:sp>
        <p:nvSpPr>
          <p:cNvPr id="35" name="Freeform 26">
            <a:extLst>
              <a:ext uri="{FF2B5EF4-FFF2-40B4-BE49-F238E27FC236}">
                <a16:creationId xmlns:a16="http://schemas.microsoft.com/office/drawing/2014/main" id="{D217719D-558E-E3AA-BAC4-52A575F53D6C}"/>
              </a:ext>
            </a:extLst>
          </p:cNvPr>
          <p:cNvSpPr/>
          <p:nvPr/>
        </p:nvSpPr>
        <p:spPr>
          <a:xfrm>
            <a:off x="2171700" y="39433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5"/>
            <a:stretch>
              <a:fillRect/>
            </a:stretch>
          </a:blipFill>
        </p:spPr>
      </p:sp>
      <p:sp>
        <p:nvSpPr>
          <p:cNvPr id="36" name="Freeform 27">
            <a:extLst>
              <a:ext uri="{FF2B5EF4-FFF2-40B4-BE49-F238E27FC236}">
                <a16:creationId xmlns:a16="http://schemas.microsoft.com/office/drawing/2014/main" id="{D38E5AEE-46F5-F925-6E16-391B90CB5626}"/>
              </a:ext>
            </a:extLst>
          </p:cNvPr>
          <p:cNvSpPr/>
          <p:nvPr/>
        </p:nvSpPr>
        <p:spPr>
          <a:xfrm>
            <a:off x="2609850" y="4137633"/>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6"/>
            <a:stretch>
              <a:fillRect/>
            </a:stretch>
          </a:blipFill>
        </p:spPr>
      </p:sp>
      <p:sp>
        <p:nvSpPr>
          <p:cNvPr id="37" name="TextBox 28">
            <a:extLst>
              <a:ext uri="{FF2B5EF4-FFF2-40B4-BE49-F238E27FC236}">
                <a16:creationId xmlns:a16="http://schemas.microsoft.com/office/drawing/2014/main" id="{92820E7E-1605-217D-D009-93827F0279BE}"/>
              </a:ext>
            </a:extLst>
          </p:cNvPr>
          <p:cNvSpPr txBox="1"/>
          <p:nvPr/>
        </p:nvSpPr>
        <p:spPr>
          <a:xfrm>
            <a:off x="4646802" y="4381500"/>
            <a:ext cx="2797937" cy="738664"/>
          </a:xfrm>
          <a:prstGeom prst="rect">
            <a:avLst/>
          </a:prstGeom>
        </p:spPr>
        <p:txBody>
          <a:bodyPr wrap="square" lIns="0" tIns="0" rIns="0" bIns="0" rtlCol="0" anchor="t">
            <a:spAutoFit/>
          </a:bodyPr>
          <a:lstStyle/>
          <a:p>
            <a:pPr algn="l"/>
            <a:r>
              <a:rPr lang="en-US" sz="2400" b="1" spc="-84" dirty="0">
                <a:latin typeface="Roboto Bold"/>
                <a:ea typeface="Roboto Bold"/>
                <a:cs typeface="Roboto Bold"/>
                <a:sym typeface="Roboto Bold"/>
              </a:rPr>
              <a:t>OCEAN &amp; ATMOSPHERIC DATA</a:t>
            </a:r>
          </a:p>
        </p:txBody>
      </p:sp>
      <p:sp>
        <p:nvSpPr>
          <p:cNvPr id="38" name="TextBox 29">
            <a:extLst>
              <a:ext uri="{FF2B5EF4-FFF2-40B4-BE49-F238E27FC236}">
                <a16:creationId xmlns:a16="http://schemas.microsoft.com/office/drawing/2014/main" id="{E0001048-E016-BBF8-D0C8-EF910A3554DE}"/>
              </a:ext>
            </a:extLst>
          </p:cNvPr>
          <p:cNvSpPr txBox="1"/>
          <p:nvPr/>
        </p:nvSpPr>
        <p:spPr>
          <a:xfrm>
            <a:off x="7730731" y="4230192"/>
            <a:ext cx="2453754" cy="663643"/>
          </a:xfrm>
          <a:prstGeom prst="rect">
            <a:avLst/>
          </a:prstGeom>
        </p:spPr>
        <p:txBody>
          <a:bodyPr wrap="square" lIns="0" tIns="0" rIns="0" bIns="0" rtlCol="0" anchor="t">
            <a:spAutoFit/>
          </a:bodyPr>
          <a:lstStyle/>
          <a:p>
            <a:pPr algn="just">
              <a:lnSpc>
                <a:spcPts val="1743"/>
              </a:lnSpc>
            </a:pPr>
            <a:r>
              <a:rPr lang="en-US" sz="1600" dirty="0">
                <a:latin typeface="Roboto"/>
                <a:ea typeface="Roboto"/>
                <a:cs typeface="Roboto"/>
                <a:sym typeface="Roboto"/>
              </a:rPr>
              <a:t>NASA OSCAR – Surface Currents NASA Merra-2 – 10 m Wind</a:t>
            </a:r>
          </a:p>
        </p:txBody>
      </p:sp>
      <p:sp>
        <p:nvSpPr>
          <p:cNvPr id="39" name="Freeform 30">
            <a:extLst>
              <a:ext uri="{FF2B5EF4-FFF2-40B4-BE49-F238E27FC236}">
                <a16:creationId xmlns:a16="http://schemas.microsoft.com/office/drawing/2014/main" id="{E839FE9E-96CA-0890-0E33-F7A460FC75BF}"/>
              </a:ext>
            </a:extLst>
          </p:cNvPr>
          <p:cNvSpPr/>
          <p:nvPr/>
        </p:nvSpPr>
        <p:spPr>
          <a:xfrm>
            <a:off x="7400925" y="4137633"/>
            <a:ext cx="219075" cy="1076325"/>
          </a:xfrm>
          <a:custGeom>
            <a:avLst/>
            <a:gdLst/>
            <a:ahLst/>
            <a:cxnLst/>
            <a:rect l="l" t="t" r="r" b="b"/>
            <a:pathLst>
              <a:path w="219075" h="1076325">
                <a:moveTo>
                  <a:pt x="0" y="0"/>
                </a:moveTo>
                <a:lnTo>
                  <a:pt x="219075" y="0"/>
                </a:lnTo>
                <a:lnTo>
                  <a:pt x="219075" y="1076325"/>
                </a:lnTo>
                <a:lnTo>
                  <a:pt x="0" y="1076325"/>
                </a:lnTo>
                <a:lnTo>
                  <a:pt x="0" y="0"/>
                </a:lnTo>
                <a:close/>
              </a:path>
            </a:pathLst>
          </a:custGeom>
          <a:blipFill>
            <a:blip r:embed="rId17"/>
            <a:stretch>
              <a:fillRect/>
            </a:stretch>
          </a:blipFill>
        </p:spPr>
      </p:sp>
      <p:sp>
        <p:nvSpPr>
          <p:cNvPr id="40" name="TextBox 31">
            <a:extLst>
              <a:ext uri="{FF2B5EF4-FFF2-40B4-BE49-F238E27FC236}">
                <a16:creationId xmlns:a16="http://schemas.microsoft.com/office/drawing/2014/main" id="{D72CA1A9-803F-84C6-E5B3-F54B9673F526}"/>
              </a:ext>
            </a:extLst>
          </p:cNvPr>
          <p:cNvSpPr txBox="1"/>
          <p:nvPr/>
        </p:nvSpPr>
        <p:spPr>
          <a:xfrm>
            <a:off x="7772399" y="4312878"/>
            <a:ext cx="2238375" cy="230832"/>
          </a:xfrm>
          <a:prstGeom prst="rect">
            <a:avLst/>
          </a:prstGeom>
        </p:spPr>
        <p:txBody>
          <a:bodyPr wrap="square" lIns="0" tIns="0" rIns="0" bIns="0" rtlCol="0" anchor="t">
            <a:spAutoFit/>
          </a:bodyPr>
          <a:lstStyle/>
          <a:p>
            <a:pPr algn="l">
              <a:lnSpc>
                <a:spcPts val="1751"/>
              </a:lnSpc>
            </a:pPr>
            <a:endParaRPr lang="en-US" sz="1600" dirty="0">
              <a:latin typeface="Roboto"/>
              <a:ea typeface="Roboto"/>
              <a:cs typeface="Roboto"/>
              <a:sym typeface="Roboto"/>
            </a:endParaRPr>
          </a:p>
        </p:txBody>
      </p:sp>
      <p:sp>
        <p:nvSpPr>
          <p:cNvPr id="41" name="Freeform 32">
            <a:extLst>
              <a:ext uri="{FF2B5EF4-FFF2-40B4-BE49-F238E27FC236}">
                <a16:creationId xmlns:a16="http://schemas.microsoft.com/office/drawing/2014/main" id="{4976943C-C767-25A1-4198-FF88D824985B}"/>
              </a:ext>
            </a:extLst>
          </p:cNvPr>
          <p:cNvSpPr/>
          <p:nvPr/>
        </p:nvSpPr>
        <p:spPr>
          <a:xfrm>
            <a:off x="10010775" y="4137633"/>
            <a:ext cx="228600" cy="1076325"/>
          </a:xfrm>
          <a:custGeom>
            <a:avLst/>
            <a:gdLst/>
            <a:ahLst/>
            <a:cxnLst/>
            <a:rect l="l" t="t" r="r" b="b"/>
            <a:pathLst>
              <a:path w="228600" h="1076325">
                <a:moveTo>
                  <a:pt x="0" y="0"/>
                </a:moveTo>
                <a:lnTo>
                  <a:pt x="228600" y="0"/>
                </a:lnTo>
                <a:lnTo>
                  <a:pt x="228600" y="1076325"/>
                </a:lnTo>
                <a:lnTo>
                  <a:pt x="0" y="1076325"/>
                </a:lnTo>
                <a:lnTo>
                  <a:pt x="0" y="0"/>
                </a:lnTo>
                <a:close/>
              </a:path>
            </a:pathLst>
          </a:custGeom>
          <a:blipFill>
            <a:blip r:embed="rId18"/>
            <a:stretch>
              <a:fillRect/>
            </a:stretch>
          </a:blipFill>
        </p:spPr>
      </p:sp>
      <p:sp>
        <p:nvSpPr>
          <p:cNvPr id="42" name="TextBox 33">
            <a:extLst>
              <a:ext uri="{FF2B5EF4-FFF2-40B4-BE49-F238E27FC236}">
                <a16:creationId xmlns:a16="http://schemas.microsoft.com/office/drawing/2014/main" id="{8843FABE-ABE3-43CC-D682-A3EE0C643453}"/>
              </a:ext>
            </a:extLst>
          </p:cNvPr>
          <p:cNvSpPr txBox="1"/>
          <p:nvPr/>
        </p:nvSpPr>
        <p:spPr>
          <a:xfrm>
            <a:off x="10332719" y="4152900"/>
            <a:ext cx="2343151" cy="1477328"/>
          </a:xfrm>
          <a:prstGeom prst="rect">
            <a:avLst/>
          </a:prstGeom>
        </p:spPr>
        <p:txBody>
          <a:bodyPr wrap="square" lIns="0" tIns="0" rIns="0" bIns="0" rtlCol="0" anchor="t">
            <a:spAutoFit/>
          </a:bodyPr>
          <a:lstStyle/>
          <a:p>
            <a:pPr algn="just"/>
            <a:r>
              <a:rPr lang="en-GB" sz="1600" dirty="0">
                <a:latin typeface="Roboto" panose="02000000000000000000" pitchFamily="2" charset="0"/>
                <a:ea typeface="Roboto" panose="02000000000000000000" pitchFamily="2" charset="0"/>
                <a:cs typeface="Roboto" panose="02000000000000000000" pitchFamily="2" charset="0"/>
              </a:rPr>
              <a:t>Earth-system datasets provide consistent environmental data to model and predict debris movement.</a:t>
            </a:r>
          </a:p>
          <a:p>
            <a:pPr algn="just"/>
            <a:endParaRPr lang="en-US" sz="1600" dirty="0">
              <a:latin typeface="Roboto"/>
              <a:ea typeface="Roboto"/>
              <a:cs typeface="Roboto"/>
              <a:sym typeface="Roboto"/>
            </a:endParaRPr>
          </a:p>
        </p:txBody>
      </p:sp>
      <p:sp>
        <p:nvSpPr>
          <p:cNvPr id="43" name="Freeform 34">
            <a:extLst>
              <a:ext uri="{FF2B5EF4-FFF2-40B4-BE49-F238E27FC236}">
                <a16:creationId xmlns:a16="http://schemas.microsoft.com/office/drawing/2014/main" id="{8E317616-25EB-3F2B-05E4-C8828C416CDD}"/>
              </a:ext>
            </a:extLst>
          </p:cNvPr>
          <p:cNvSpPr/>
          <p:nvPr/>
        </p:nvSpPr>
        <p:spPr>
          <a:xfrm>
            <a:off x="2171700" y="51625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sp>
      <p:sp>
        <p:nvSpPr>
          <p:cNvPr id="44" name="Freeform 35">
            <a:extLst>
              <a:ext uri="{FF2B5EF4-FFF2-40B4-BE49-F238E27FC236}">
                <a16:creationId xmlns:a16="http://schemas.microsoft.com/office/drawing/2014/main" id="{FB33E8DD-544A-FAC0-BEC5-C7DB1BBC1CE6}"/>
              </a:ext>
            </a:extLst>
          </p:cNvPr>
          <p:cNvSpPr/>
          <p:nvPr/>
        </p:nvSpPr>
        <p:spPr>
          <a:xfrm>
            <a:off x="2701413" y="5380389"/>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20"/>
            <a:stretch>
              <a:fillRect/>
            </a:stretch>
          </a:blipFill>
        </p:spPr>
      </p:sp>
      <p:sp>
        <p:nvSpPr>
          <p:cNvPr id="45" name="TextBox 36">
            <a:extLst>
              <a:ext uri="{FF2B5EF4-FFF2-40B4-BE49-F238E27FC236}">
                <a16:creationId xmlns:a16="http://schemas.microsoft.com/office/drawing/2014/main" id="{363124E7-A4F3-CFBF-7F48-9F94CA62F0F6}"/>
              </a:ext>
            </a:extLst>
          </p:cNvPr>
          <p:cNvSpPr txBox="1"/>
          <p:nvPr/>
        </p:nvSpPr>
        <p:spPr>
          <a:xfrm>
            <a:off x="4608576" y="5676900"/>
            <a:ext cx="2836163" cy="738664"/>
          </a:xfrm>
          <a:prstGeom prst="rect">
            <a:avLst/>
          </a:prstGeom>
        </p:spPr>
        <p:txBody>
          <a:bodyPr wrap="square" lIns="0" tIns="0" rIns="0" bIns="0" rtlCol="0" anchor="t">
            <a:spAutoFit/>
          </a:bodyPr>
          <a:lstStyle/>
          <a:p>
            <a:pPr algn="l"/>
            <a:r>
              <a:rPr lang="en-US" sz="2400" b="1" spc="-88" dirty="0">
                <a:latin typeface="Roboto Bold"/>
                <a:ea typeface="Roboto Bold"/>
                <a:cs typeface="Roboto Bold"/>
                <a:sym typeface="Roboto Bold"/>
              </a:rPr>
              <a:t>AI / MACHINE LEARNING</a:t>
            </a:r>
          </a:p>
        </p:txBody>
      </p:sp>
      <p:sp>
        <p:nvSpPr>
          <p:cNvPr id="46" name="TextBox 37">
            <a:extLst>
              <a:ext uri="{FF2B5EF4-FFF2-40B4-BE49-F238E27FC236}">
                <a16:creationId xmlns:a16="http://schemas.microsoft.com/office/drawing/2014/main" id="{5295F828-07B0-3131-972F-CA22AEC5023F}"/>
              </a:ext>
            </a:extLst>
          </p:cNvPr>
          <p:cNvSpPr txBox="1"/>
          <p:nvPr/>
        </p:nvSpPr>
        <p:spPr>
          <a:xfrm>
            <a:off x="7737052" y="5565933"/>
            <a:ext cx="2372401" cy="467028"/>
          </a:xfrm>
          <a:prstGeom prst="rect">
            <a:avLst/>
          </a:prstGeom>
        </p:spPr>
        <p:txBody>
          <a:bodyPr wrap="square" lIns="0" tIns="0" rIns="0" bIns="0" rtlCol="0" anchor="t">
            <a:spAutoFit/>
          </a:bodyPr>
          <a:lstStyle/>
          <a:p>
            <a:pPr algn="just">
              <a:lnSpc>
                <a:spcPts val="1783"/>
              </a:lnSpc>
            </a:pPr>
            <a:r>
              <a:rPr lang="en-US" sz="1600" dirty="0">
                <a:latin typeface="Roboto"/>
                <a:ea typeface="Roboto"/>
                <a:cs typeface="Roboto"/>
                <a:sym typeface="Roboto"/>
              </a:rPr>
              <a:t>Python + scikit-learn / </a:t>
            </a:r>
            <a:r>
              <a:rPr lang="en-US" sz="1600" dirty="0" err="1">
                <a:latin typeface="Roboto"/>
                <a:ea typeface="Roboto"/>
                <a:cs typeface="Roboto"/>
                <a:sym typeface="Roboto"/>
              </a:rPr>
              <a:t>Pytorch</a:t>
            </a:r>
            <a:endParaRPr lang="en-US" sz="1600" dirty="0">
              <a:latin typeface="Roboto"/>
              <a:ea typeface="Roboto"/>
              <a:cs typeface="Roboto"/>
              <a:sym typeface="Roboto"/>
            </a:endParaRPr>
          </a:p>
        </p:txBody>
      </p:sp>
      <p:sp>
        <p:nvSpPr>
          <p:cNvPr id="47" name="Freeform 38">
            <a:extLst>
              <a:ext uri="{FF2B5EF4-FFF2-40B4-BE49-F238E27FC236}">
                <a16:creationId xmlns:a16="http://schemas.microsoft.com/office/drawing/2014/main" id="{B0D2FE83-5029-D835-406C-F7CA13B88631}"/>
              </a:ext>
            </a:extLst>
          </p:cNvPr>
          <p:cNvSpPr/>
          <p:nvPr/>
        </p:nvSpPr>
        <p:spPr>
          <a:xfrm>
            <a:off x="7400925" y="5423508"/>
            <a:ext cx="219075" cy="1285875"/>
          </a:xfrm>
          <a:custGeom>
            <a:avLst/>
            <a:gdLst/>
            <a:ahLst/>
            <a:cxnLst/>
            <a:rect l="l" t="t" r="r" b="b"/>
            <a:pathLst>
              <a:path w="219075" h="1285875">
                <a:moveTo>
                  <a:pt x="0" y="0"/>
                </a:moveTo>
                <a:lnTo>
                  <a:pt x="219075" y="0"/>
                </a:lnTo>
                <a:lnTo>
                  <a:pt x="219075" y="1285875"/>
                </a:lnTo>
                <a:lnTo>
                  <a:pt x="0" y="1285875"/>
                </a:lnTo>
                <a:lnTo>
                  <a:pt x="0" y="0"/>
                </a:lnTo>
                <a:close/>
              </a:path>
            </a:pathLst>
          </a:custGeom>
          <a:blipFill>
            <a:blip r:embed="rId21"/>
            <a:stretch>
              <a:fillRect/>
            </a:stretch>
          </a:blipFill>
        </p:spPr>
      </p:sp>
      <p:sp>
        <p:nvSpPr>
          <p:cNvPr id="48" name="TextBox 39">
            <a:extLst>
              <a:ext uri="{FF2B5EF4-FFF2-40B4-BE49-F238E27FC236}">
                <a16:creationId xmlns:a16="http://schemas.microsoft.com/office/drawing/2014/main" id="{32C5CFCC-7FA3-C361-8AC9-BC15157D4DEF}"/>
              </a:ext>
            </a:extLst>
          </p:cNvPr>
          <p:cNvSpPr txBox="1"/>
          <p:nvPr/>
        </p:nvSpPr>
        <p:spPr>
          <a:xfrm>
            <a:off x="7772400" y="5450517"/>
            <a:ext cx="2267712" cy="230832"/>
          </a:xfrm>
          <a:prstGeom prst="rect">
            <a:avLst/>
          </a:prstGeom>
        </p:spPr>
        <p:txBody>
          <a:bodyPr wrap="square" lIns="0" tIns="0" rIns="0" bIns="0" rtlCol="0" anchor="t">
            <a:spAutoFit/>
          </a:bodyPr>
          <a:lstStyle/>
          <a:p>
            <a:pPr algn="l">
              <a:lnSpc>
                <a:spcPts val="1818"/>
              </a:lnSpc>
            </a:pPr>
            <a:r>
              <a:rPr lang="en-US" sz="1600" dirty="0">
                <a:latin typeface="Roboto"/>
                <a:ea typeface="Roboto"/>
                <a:cs typeface="Roboto"/>
                <a:sym typeface="Roboto"/>
              </a:rPr>
              <a:t>.</a:t>
            </a:r>
          </a:p>
        </p:txBody>
      </p:sp>
      <p:sp>
        <p:nvSpPr>
          <p:cNvPr id="49" name="Freeform 40">
            <a:extLst>
              <a:ext uri="{FF2B5EF4-FFF2-40B4-BE49-F238E27FC236}">
                <a16:creationId xmlns:a16="http://schemas.microsoft.com/office/drawing/2014/main" id="{A4BAD4EB-A26B-2287-CA3C-30F25D7CA4FF}"/>
              </a:ext>
            </a:extLst>
          </p:cNvPr>
          <p:cNvSpPr/>
          <p:nvPr/>
        </p:nvSpPr>
        <p:spPr>
          <a:xfrm>
            <a:off x="10010775" y="5423508"/>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50" name="TextBox 41">
            <a:extLst>
              <a:ext uri="{FF2B5EF4-FFF2-40B4-BE49-F238E27FC236}">
                <a16:creationId xmlns:a16="http://schemas.microsoft.com/office/drawing/2014/main" id="{3FBDFAD4-0046-1A40-9A3B-927C034B6222}"/>
              </a:ext>
            </a:extLst>
          </p:cNvPr>
          <p:cNvSpPr txBox="1"/>
          <p:nvPr/>
        </p:nvSpPr>
        <p:spPr>
          <a:xfrm>
            <a:off x="10332720" y="5512404"/>
            <a:ext cx="2512314" cy="1150718"/>
          </a:xfrm>
          <a:prstGeom prst="rect">
            <a:avLst/>
          </a:prstGeom>
        </p:spPr>
        <p:txBody>
          <a:bodyPr wrap="square" lIns="0" tIns="0" rIns="0" bIns="0" rtlCol="0" anchor="t">
            <a:spAutoFit/>
          </a:bodyPr>
          <a:lstStyle/>
          <a:p>
            <a:pPr algn="just">
              <a:lnSpc>
                <a:spcPts val="1818"/>
              </a:lnSpc>
            </a:pPr>
            <a:r>
              <a:rPr lang="en-GB" sz="1600" dirty="0">
                <a:latin typeface="Roboto" panose="02000000000000000000" pitchFamily="2" charset="0"/>
                <a:ea typeface="Roboto" panose="02000000000000000000" pitchFamily="2" charset="0"/>
                <a:cs typeface="Roboto" panose="02000000000000000000" pitchFamily="2" charset="0"/>
              </a:rPr>
              <a:t>Geospatial ML tools extract key features to detect debris hotspots and estimate confidence.</a:t>
            </a:r>
          </a:p>
          <a:p>
            <a:pPr algn="just">
              <a:lnSpc>
                <a:spcPts val="1818"/>
              </a:lnSpc>
            </a:pPr>
            <a:r>
              <a:rPr lang="en-US" sz="1600" dirty="0">
                <a:latin typeface="Roboto"/>
                <a:ea typeface="Roboto"/>
                <a:cs typeface="Roboto"/>
                <a:sym typeface="Roboto"/>
              </a:rPr>
              <a:t>.</a:t>
            </a:r>
          </a:p>
        </p:txBody>
      </p:sp>
      <p:sp>
        <p:nvSpPr>
          <p:cNvPr id="52" name="Freeform 43">
            <a:extLst>
              <a:ext uri="{FF2B5EF4-FFF2-40B4-BE49-F238E27FC236}">
                <a16:creationId xmlns:a16="http://schemas.microsoft.com/office/drawing/2014/main" id="{63926252-62BF-1FB7-13EA-0E44D45A2236}"/>
              </a:ext>
            </a:extLst>
          </p:cNvPr>
          <p:cNvSpPr/>
          <p:nvPr/>
        </p:nvSpPr>
        <p:spPr>
          <a:xfrm>
            <a:off x="2609850" y="7138008"/>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23"/>
            <a:stretch>
              <a:fillRect/>
            </a:stretch>
          </a:blipFill>
        </p:spPr>
      </p:sp>
      <p:sp>
        <p:nvSpPr>
          <p:cNvPr id="53" name="TextBox 44">
            <a:extLst>
              <a:ext uri="{FF2B5EF4-FFF2-40B4-BE49-F238E27FC236}">
                <a16:creationId xmlns:a16="http://schemas.microsoft.com/office/drawing/2014/main" id="{7C67F61F-0ECC-15F3-DD2D-6FD28C042243}"/>
              </a:ext>
            </a:extLst>
          </p:cNvPr>
          <p:cNvSpPr txBox="1"/>
          <p:nvPr/>
        </p:nvSpPr>
        <p:spPr>
          <a:xfrm>
            <a:off x="4621079" y="7200900"/>
            <a:ext cx="2681152" cy="263983"/>
          </a:xfrm>
          <a:prstGeom prst="rect">
            <a:avLst/>
          </a:prstGeom>
        </p:spPr>
        <p:txBody>
          <a:bodyPr wrap="square" lIns="0" tIns="0" rIns="0" bIns="0" rtlCol="0" anchor="t">
            <a:spAutoFit/>
          </a:bodyPr>
          <a:lstStyle/>
          <a:p>
            <a:pPr algn="l">
              <a:lnSpc>
                <a:spcPts val="1938"/>
              </a:lnSpc>
            </a:pPr>
            <a:r>
              <a:rPr lang="en-US" sz="2400" b="1" spc="-88" dirty="0">
                <a:latin typeface="Roboto Bold"/>
                <a:ea typeface="Roboto Bold"/>
                <a:cs typeface="Roboto Bold"/>
                <a:sym typeface="Roboto Bold"/>
              </a:rPr>
              <a:t>DRIFT FORECASTING</a:t>
            </a:r>
          </a:p>
        </p:txBody>
      </p:sp>
      <p:sp>
        <p:nvSpPr>
          <p:cNvPr id="54" name="TextBox 45">
            <a:extLst>
              <a:ext uri="{FF2B5EF4-FFF2-40B4-BE49-F238E27FC236}">
                <a16:creationId xmlns:a16="http://schemas.microsoft.com/office/drawing/2014/main" id="{9DA539CB-B466-0D9D-44D5-E0C2635B9003}"/>
              </a:ext>
            </a:extLst>
          </p:cNvPr>
          <p:cNvSpPr txBox="1"/>
          <p:nvPr/>
        </p:nvSpPr>
        <p:spPr>
          <a:xfrm>
            <a:off x="7696200" y="6896100"/>
            <a:ext cx="1986918" cy="492443"/>
          </a:xfrm>
          <a:prstGeom prst="rect">
            <a:avLst/>
          </a:prstGeom>
        </p:spPr>
        <p:txBody>
          <a:bodyPr wrap="square" lIns="0" tIns="0" rIns="0" bIns="0" rtlCol="0" anchor="t">
            <a:spAutoFit/>
          </a:bodyPr>
          <a:lstStyle/>
          <a:p>
            <a:pPr algn="just"/>
            <a:r>
              <a:rPr lang="en-US" sz="1600" dirty="0" err="1">
                <a:latin typeface="Roboto"/>
                <a:ea typeface="Roboto"/>
                <a:cs typeface="Roboto"/>
                <a:sym typeface="Roboto"/>
              </a:rPr>
              <a:t>Lagrangian</a:t>
            </a:r>
            <a:r>
              <a:rPr lang="en-US" sz="1600" dirty="0">
                <a:latin typeface="Roboto"/>
                <a:ea typeface="Roboto"/>
                <a:cs typeface="Roboto"/>
                <a:sym typeface="Roboto"/>
              </a:rPr>
              <a:t> Particle Advection Model</a:t>
            </a:r>
          </a:p>
        </p:txBody>
      </p:sp>
      <p:sp>
        <p:nvSpPr>
          <p:cNvPr id="55" name="Freeform 46">
            <a:extLst>
              <a:ext uri="{FF2B5EF4-FFF2-40B4-BE49-F238E27FC236}">
                <a16:creationId xmlns:a16="http://schemas.microsoft.com/office/drawing/2014/main" id="{392B62CF-951F-644B-039C-F3439241FE65}"/>
              </a:ext>
            </a:extLst>
          </p:cNvPr>
          <p:cNvSpPr/>
          <p:nvPr/>
        </p:nvSpPr>
        <p:spPr>
          <a:xfrm>
            <a:off x="7400925" y="6709383"/>
            <a:ext cx="219075" cy="1285875"/>
          </a:xfrm>
          <a:custGeom>
            <a:avLst/>
            <a:gdLst/>
            <a:ahLst/>
            <a:cxnLst/>
            <a:rect l="l" t="t" r="r" b="b"/>
            <a:pathLst>
              <a:path w="219075" h="1285875">
                <a:moveTo>
                  <a:pt x="0" y="0"/>
                </a:moveTo>
                <a:lnTo>
                  <a:pt x="219075" y="0"/>
                </a:lnTo>
                <a:lnTo>
                  <a:pt x="219075" y="1285875"/>
                </a:lnTo>
                <a:lnTo>
                  <a:pt x="0" y="1285875"/>
                </a:lnTo>
                <a:lnTo>
                  <a:pt x="0" y="0"/>
                </a:lnTo>
                <a:close/>
              </a:path>
            </a:pathLst>
          </a:custGeom>
          <a:blipFill>
            <a:blip r:embed="rId24"/>
            <a:stretch>
              <a:fillRect/>
            </a:stretch>
          </a:blipFill>
        </p:spPr>
      </p:sp>
      <p:sp>
        <p:nvSpPr>
          <p:cNvPr id="56" name="TextBox 47">
            <a:extLst>
              <a:ext uri="{FF2B5EF4-FFF2-40B4-BE49-F238E27FC236}">
                <a16:creationId xmlns:a16="http://schemas.microsoft.com/office/drawing/2014/main" id="{58CFE4E2-4584-BE28-7EDF-88852F77BAAE}"/>
              </a:ext>
            </a:extLst>
          </p:cNvPr>
          <p:cNvSpPr txBox="1"/>
          <p:nvPr/>
        </p:nvSpPr>
        <p:spPr>
          <a:xfrm>
            <a:off x="4608576" y="8255148"/>
            <a:ext cx="2633472" cy="738664"/>
          </a:xfrm>
          <a:prstGeom prst="rect">
            <a:avLst/>
          </a:prstGeom>
        </p:spPr>
        <p:txBody>
          <a:bodyPr lIns="0" tIns="0" rIns="0" bIns="0" rtlCol="0" anchor="t">
            <a:spAutoFit/>
          </a:bodyPr>
          <a:lstStyle/>
          <a:p>
            <a:pPr algn="l"/>
            <a:r>
              <a:rPr lang="en-US" sz="2400" b="1" spc="-88" dirty="0">
                <a:latin typeface="Roboto Bold"/>
                <a:ea typeface="Roboto Bold"/>
                <a:cs typeface="Roboto Bold"/>
                <a:sym typeface="Roboto Bold"/>
              </a:rPr>
              <a:t>GEOSPATIAL APPLICATION</a:t>
            </a:r>
          </a:p>
        </p:txBody>
      </p:sp>
      <p:sp>
        <p:nvSpPr>
          <p:cNvPr id="59" name="TextBox 50">
            <a:extLst>
              <a:ext uri="{FF2B5EF4-FFF2-40B4-BE49-F238E27FC236}">
                <a16:creationId xmlns:a16="http://schemas.microsoft.com/office/drawing/2014/main" id="{A26D8679-5672-01C4-9828-01DBCD59295F}"/>
              </a:ext>
            </a:extLst>
          </p:cNvPr>
          <p:cNvSpPr txBox="1"/>
          <p:nvPr/>
        </p:nvSpPr>
        <p:spPr>
          <a:xfrm>
            <a:off x="10318426" y="6738171"/>
            <a:ext cx="2523744" cy="1384995"/>
          </a:xfrm>
          <a:prstGeom prst="rect">
            <a:avLst/>
          </a:prstGeom>
        </p:spPr>
        <p:txBody>
          <a:bodyPr wrap="square" lIns="0" tIns="0" rIns="0" bIns="0" rtlCol="0" anchor="t">
            <a:spAutoFit/>
          </a:bodyPr>
          <a:lstStyle/>
          <a:p>
            <a:pPr algn="just">
              <a:lnSpc>
                <a:spcPts val="1818"/>
              </a:lnSpc>
            </a:pPr>
            <a:r>
              <a:rPr lang="en-GB" sz="1600" dirty="0">
                <a:latin typeface="Roboto" panose="02000000000000000000" pitchFamily="2" charset="0"/>
                <a:ea typeface="Roboto" panose="02000000000000000000" pitchFamily="2" charset="0"/>
                <a:cs typeface="Roboto" panose="02000000000000000000" pitchFamily="2" charset="0"/>
              </a:rPr>
              <a:t>Simulates debris movement using ocean currents and wind to predict 24–48-hour trajectories</a:t>
            </a:r>
            <a:r>
              <a:rPr lang="en-GB" sz="1600" dirty="0"/>
              <a:t>.</a:t>
            </a:r>
          </a:p>
          <a:p>
            <a:pPr algn="just">
              <a:lnSpc>
                <a:spcPts val="1818"/>
              </a:lnSpc>
            </a:pPr>
            <a:r>
              <a:rPr lang="en-US" sz="1600" dirty="0">
                <a:latin typeface="Roboto"/>
                <a:ea typeface="Roboto"/>
                <a:cs typeface="Roboto"/>
                <a:sym typeface="Roboto"/>
              </a:rPr>
              <a:t>.</a:t>
            </a:r>
          </a:p>
        </p:txBody>
      </p:sp>
      <p:sp>
        <p:nvSpPr>
          <p:cNvPr id="60" name="TextBox 51">
            <a:extLst>
              <a:ext uri="{FF2B5EF4-FFF2-40B4-BE49-F238E27FC236}">
                <a16:creationId xmlns:a16="http://schemas.microsoft.com/office/drawing/2014/main" id="{223F72AC-6259-D187-EC06-45032D999D41}"/>
              </a:ext>
            </a:extLst>
          </p:cNvPr>
          <p:cNvSpPr txBox="1"/>
          <p:nvPr/>
        </p:nvSpPr>
        <p:spPr>
          <a:xfrm>
            <a:off x="10332719" y="8039100"/>
            <a:ext cx="2238375" cy="1384995"/>
          </a:xfrm>
          <a:prstGeom prst="rect">
            <a:avLst/>
          </a:prstGeom>
        </p:spPr>
        <p:txBody>
          <a:bodyPr wrap="square" lIns="0" tIns="0" rIns="0" bIns="0" rtlCol="0" anchor="t">
            <a:spAutoFit/>
          </a:bodyPr>
          <a:lstStyle/>
          <a:p>
            <a:pPr algn="just">
              <a:lnSpc>
                <a:spcPts val="1818"/>
              </a:lnSpc>
            </a:pPr>
            <a:r>
              <a:rPr lang="en-US" sz="1600" dirty="0">
                <a:latin typeface="Roboto"/>
                <a:ea typeface="Roboto"/>
                <a:cs typeface="Roboto"/>
                <a:sym typeface="Roboto"/>
              </a:rPr>
              <a:t>Processes multidimensional Earth data and delivers interactive forecast and cleanup priority maps.</a:t>
            </a:r>
          </a:p>
          <a:p>
            <a:pPr algn="l">
              <a:lnSpc>
                <a:spcPts val="1818"/>
              </a:lnSpc>
            </a:pPr>
            <a:endParaRPr lang="en-US" sz="1600" dirty="0">
              <a:latin typeface="Roboto"/>
              <a:ea typeface="Roboto"/>
              <a:cs typeface="Roboto"/>
              <a:sym typeface="Roboto"/>
            </a:endParaRPr>
          </a:p>
        </p:txBody>
      </p:sp>
      <p:sp>
        <p:nvSpPr>
          <p:cNvPr id="61" name="TextBox 52">
            <a:extLst>
              <a:ext uri="{FF2B5EF4-FFF2-40B4-BE49-F238E27FC236}">
                <a16:creationId xmlns:a16="http://schemas.microsoft.com/office/drawing/2014/main" id="{1B58FF2B-85E7-E7BE-8E54-C3A88C0AE36C}"/>
              </a:ext>
            </a:extLst>
          </p:cNvPr>
          <p:cNvSpPr txBox="1"/>
          <p:nvPr/>
        </p:nvSpPr>
        <p:spPr>
          <a:xfrm>
            <a:off x="4169664" y="3137768"/>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1</a:t>
            </a:r>
          </a:p>
        </p:txBody>
      </p:sp>
      <p:sp>
        <p:nvSpPr>
          <p:cNvPr id="62" name="TextBox 53">
            <a:extLst>
              <a:ext uri="{FF2B5EF4-FFF2-40B4-BE49-F238E27FC236}">
                <a16:creationId xmlns:a16="http://schemas.microsoft.com/office/drawing/2014/main" id="{A647C9E2-079E-BB52-28AD-6908F9BA0660}"/>
              </a:ext>
            </a:extLst>
          </p:cNvPr>
          <p:cNvSpPr txBox="1"/>
          <p:nvPr/>
        </p:nvSpPr>
        <p:spPr>
          <a:xfrm>
            <a:off x="4169664" y="4478953"/>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2</a:t>
            </a:r>
          </a:p>
        </p:txBody>
      </p:sp>
      <p:sp>
        <p:nvSpPr>
          <p:cNvPr id="63" name="TextBox 54">
            <a:extLst>
              <a:ext uri="{FF2B5EF4-FFF2-40B4-BE49-F238E27FC236}">
                <a16:creationId xmlns:a16="http://schemas.microsoft.com/office/drawing/2014/main" id="{5EFE3293-C11E-4F1C-4B3A-6B7D49C26361}"/>
              </a:ext>
            </a:extLst>
          </p:cNvPr>
          <p:cNvSpPr txBox="1"/>
          <p:nvPr/>
        </p:nvSpPr>
        <p:spPr>
          <a:xfrm>
            <a:off x="4142232" y="5698153"/>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3</a:t>
            </a:r>
          </a:p>
        </p:txBody>
      </p:sp>
      <p:sp>
        <p:nvSpPr>
          <p:cNvPr id="64" name="TextBox 55">
            <a:extLst>
              <a:ext uri="{FF2B5EF4-FFF2-40B4-BE49-F238E27FC236}">
                <a16:creationId xmlns:a16="http://schemas.microsoft.com/office/drawing/2014/main" id="{47074C82-EF16-A6E8-5334-1180E40E86B6}"/>
              </a:ext>
            </a:extLst>
          </p:cNvPr>
          <p:cNvSpPr txBox="1"/>
          <p:nvPr/>
        </p:nvSpPr>
        <p:spPr>
          <a:xfrm>
            <a:off x="4169664" y="7048500"/>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4</a:t>
            </a:r>
          </a:p>
        </p:txBody>
      </p:sp>
      <p:sp>
        <p:nvSpPr>
          <p:cNvPr id="65" name="TextBox 56">
            <a:extLst>
              <a:ext uri="{FF2B5EF4-FFF2-40B4-BE49-F238E27FC236}">
                <a16:creationId xmlns:a16="http://schemas.microsoft.com/office/drawing/2014/main" id="{D3ADE414-6125-647B-5EA0-DF190D88C957}"/>
              </a:ext>
            </a:extLst>
          </p:cNvPr>
          <p:cNvSpPr txBox="1"/>
          <p:nvPr/>
        </p:nvSpPr>
        <p:spPr>
          <a:xfrm>
            <a:off x="4169664" y="8231817"/>
            <a:ext cx="201168" cy="512147"/>
          </a:xfrm>
          <a:prstGeom prst="rect">
            <a:avLst/>
          </a:prstGeom>
        </p:spPr>
        <p:txBody>
          <a:bodyPr lIns="0" tIns="0" rIns="0" bIns="0" rtlCol="0" anchor="t">
            <a:spAutoFit/>
          </a:bodyPr>
          <a:lstStyle/>
          <a:p>
            <a:pPr algn="ctr">
              <a:lnSpc>
                <a:spcPts val="3934"/>
              </a:lnSpc>
            </a:pPr>
            <a:r>
              <a:rPr lang="en-US" sz="3576" b="1" spc="-178">
                <a:latin typeface="Roboto Bold"/>
                <a:ea typeface="Roboto Bold"/>
                <a:cs typeface="Roboto Bold"/>
                <a:sym typeface="Roboto Bold"/>
              </a:rPr>
              <a:t>5</a:t>
            </a:r>
          </a:p>
        </p:txBody>
      </p:sp>
      <p:sp>
        <p:nvSpPr>
          <p:cNvPr id="66" name="TextBox 57">
            <a:extLst>
              <a:ext uri="{FF2B5EF4-FFF2-40B4-BE49-F238E27FC236}">
                <a16:creationId xmlns:a16="http://schemas.microsoft.com/office/drawing/2014/main" id="{08EB95B0-F961-501A-AA31-DADDFEF7EEBB}"/>
              </a:ext>
            </a:extLst>
          </p:cNvPr>
          <p:cNvSpPr txBox="1"/>
          <p:nvPr/>
        </p:nvSpPr>
        <p:spPr>
          <a:xfrm>
            <a:off x="7696200" y="8157473"/>
            <a:ext cx="2413253" cy="738664"/>
          </a:xfrm>
          <a:prstGeom prst="rect">
            <a:avLst/>
          </a:prstGeom>
        </p:spPr>
        <p:txBody>
          <a:bodyPr wrap="square" lIns="0" tIns="0" rIns="0" bIns="0" rtlCol="0" anchor="t">
            <a:spAutoFit/>
          </a:bodyPr>
          <a:lstStyle/>
          <a:p>
            <a:pPr algn="just"/>
            <a:r>
              <a:rPr lang="en-US" sz="1600" dirty="0" err="1">
                <a:latin typeface="Roboto"/>
                <a:ea typeface="Roboto"/>
                <a:cs typeface="Roboto"/>
                <a:sym typeface="Roboto"/>
              </a:rPr>
              <a:t>xarray</a:t>
            </a:r>
            <a:r>
              <a:rPr lang="en-US" sz="1600" dirty="0">
                <a:latin typeface="Roboto"/>
                <a:ea typeface="Roboto"/>
                <a:cs typeface="Roboto"/>
                <a:sym typeface="Roboto"/>
              </a:rPr>
              <a:t> + NumPy + </a:t>
            </a:r>
            <a:r>
              <a:rPr lang="en-US" sz="1600" dirty="0" err="1">
                <a:latin typeface="Roboto"/>
                <a:ea typeface="Roboto"/>
                <a:cs typeface="Roboto"/>
                <a:sym typeface="Roboto"/>
              </a:rPr>
              <a:t>GeoPandas</a:t>
            </a:r>
            <a:r>
              <a:rPr lang="en-US" sz="1600" dirty="0">
                <a:latin typeface="Roboto"/>
                <a:ea typeface="Roboto"/>
                <a:cs typeface="Roboto"/>
                <a:sym typeface="Roboto"/>
              </a:rPr>
              <a:t> </a:t>
            </a:r>
            <a:r>
              <a:rPr lang="en-US" sz="1600" dirty="0" err="1">
                <a:latin typeface="Roboto"/>
                <a:ea typeface="Roboto"/>
                <a:cs typeface="Roboto"/>
                <a:sym typeface="Roboto"/>
              </a:rPr>
              <a:t>FastAPI</a:t>
            </a:r>
            <a:r>
              <a:rPr lang="en-US" sz="1600" dirty="0">
                <a:latin typeface="Roboto"/>
                <a:ea typeface="Roboto"/>
                <a:cs typeface="Roboto"/>
                <a:sym typeface="Roboto"/>
              </a:rPr>
              <a:t> + React + Leaflet</a:t>
            </a:r>
          </a:p>
        </p:txBody>
      </p:sp>
      <p:sp>
        <p:nvSpPr>
          <p:cNvPr id="67" name="TextBox 58">
            <a:extLst>
              <a:ext uri="{FF2B5EF4-FFF2-40B4-BE49-F238E27FC236}">
                <a16:creationId xmlns:a16="http://schemas.microsoft.com/office/drawing/2014/main" id="{BC9C4531-A088-5A42-90C8-3A5551CE1F15}"/>
              </a:ext>
            </a:extLst>
          </p:cNvPr>
          <p:cNvSpPr txBox="1"/>
          <p:nvPr/>
        </p:nvSpPr>
        <p:spPr>
          <a:xfrm>
            <a:off x="13913358" y="5212017"/>
            <a:ext cx="3529584" cy="396904"/>
          </a:xfrm>
          <a:prstGeom prst="rect">
            <a:avLst/>
          </a:prstGeom>
        </p:spPr>
        <p:txBody>
          <a:bodyPr wrap="square" lIns="0" tIns="0" rIns="0" bIns="0" rtlCol="0" anchor="t">
            <a:spAutoFit/>
          </a:bodyPr>
          <a:lstStyle/>
          <a:p>
            <a:pPr algn="l">
              <a:lnSpc>
                <a:spcPts val="3018"/>
              </a:lnSpc>
            </a:pPr>
            <a:r>
              <a:rPr lang="en-US" sz="3200" b="1" spc="-54" dirty="0">
                <a:latin typeface="Roboto Bold"/>
                <a:ea typeface="Roboto Bold"/>
                <a:cs typeface="Roboto Bold"/>
                <a:sym typeface="Roboto Bold"/>
              </a:rPr>
              <a:t>WHY THIS STACK?</a:t>
            </a:r>
          </a:p>
        </p:txBody>
      </p:sp>
      <p:sp>
        <p:nvSpPr>
          <p:cNvPr id="68" name="TextBox 59">
            <a:extLst>
              <a:ext uri="{FF2B5EF4-FFF2-40B4-BE49-F238E27FC236}">
                <a16:creationId xmlns:a16="http://schemas.microsoft.com/office/drawing/2014/main" id="{7F8EC0C1-AC6B-2FF1-577D-BC7D52B9B494}"/>
              </a:ext>
            </a:extLst>
          </p:cNvPr>
          <p:cNvSpPr txBox="1"/>
          <p:nvPr/>
        </p:nvSpPr>
        <p:spPr>
          <a:xfrm>
            <a:off x="13981176" y="5744643"/>
            <a:ext cx="3163824" cy="538994"/>
          </a:xfrm>
          <a:prstGeom prst="rect">
            <a:avLst/>
          </a:prstGeom>
        </p:spPr>
        <p:txBody>
          <a:bodyPr lIns="0" tIns="0" rIns="0" bIns="0" rtlCol="0" anchor="t">
            <a:spAutoFit/>
          </a:bodyPr>
          <a:lstStyle/>
          <a:p>
            <a:pPr algn="l">
              <a:lnSpc>
                <a:spcPts val="2109"/>
              </a:lnSpc>
            </a:pPr>
            <a:r>
              <a:rPr lang="en-US" sz="2100" b="1" spc="-35" dirty="0">
                <a:solidFill>
                  <a:srgbClr val="8064A2"/>
                </a:solidFill>
                <a:latin typeface="Roboto Bold"/>
                <a:ea typeface="Roboto Bold"/>
                <a:cs typeface="Roboto Bold"/>
                <a:sym typeface="Roboto Bold"/>
              </a:rPr>
              <a:t>Open-source &amp; research-friendly</a:t>
            </a:r>
          </a:p>
        </p:txBody>
      </p:sp>
      <p:sp>
        <p:nvSpPr>
          <p:cNvPr id="69" name="TextBox 60">
            <a:extLst>
              <a:ext uri="{FF2B5EF4-FFF2-40B4-BE49-F238E27FC236}">
                <a16:creationId xmlns:a16="http://schemas.microsoft.com/office/drawing/2014/main" id="{7BBBA0B5-9298-C978-5294-6EE3BE3936BB}"/>
              </a:ext>
            </a:extLst>
          </p:cNvPr>
          <p:cNvSpPr txBox="1"/>
          <p:nvPr/>
        </p:nvSpPr>
        <p:spPr>
          <a:xfrm>
            <a:off x="13981176" y="6433307"/>
            <a:ext cx="2744724" cy="542393"/>
          </a:xfrm>
          <a:prstGeom prst="rect">
            <a:avLst/>
          </a:prstGeom>
        </p:spPr>
        <p:txBody>
          <a:bodyPr wrap="square"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NASA Earth-observation data compatible</a:t>
            </a:r>
          </a:p>
        </p:txBody>
      </p:sp>
      <p:sp>
        <p:nvSpPr>
          <p:cNvPr id="70" name="TextBox 61">
            <a:extLst>
              <a:ext uri="{FF2B5EF4-FFF2-40B4-BE49-F238E27FC236}">
                <a16:creationId xmlns:a16="http://schemas.microsoft.com/office/drawing/2014/main" id="{0CECB3C9-61F4-D32A-6CB0-E05889989EBD}"/>
              </a:ext>
            </a:extLst>
          </p:cNvPr>
          <p:cNvSpPr txBox="1"/>
          <p:nvPr/>
        </p:nvSpPr>
        <p:spPr>
          <a:xfrm>
            <a:off x="13981176" y="7138531"/>
            <a:ext cx="2744724" cy="542393"/>
          </a:xfrm>
          <a:prstGeom prst="rect">
            <a:avLst/>
          </a:prstGeom>
        </p:spPr>
        <p:txBody>
          <a:bodyPr wrap="square"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Geospatial + AI capabilities</a:t>
            </a:r>
          </a:p>
        </p:txBody>
      </p:sp>
      <p:sp>
        <p:nvSpPr>
          <p:cNvPr id="71" name="TextBox 62">
            <a:extLst>
              <a:ext uri="{FF2B5EF4-FFF2-40B4-BE49-F238E27FC236}">
                <a16:creationId xmlns:a16="http://schemas.microsoft.com/office/drawing/2014/main" id="{B20267DD-3F88-6145-3641-8361D309FA59}"/>
              </a:ext>
            </a:extLst>
          </p:cNvPr>
          <p:cNvSpPr txBox="1"/>
          <p:nvPr/>
        </p:nvSpPr>
        <p:spPr>
          <a:xfrm>
            <a:off x="13981176" y="7791376"/>
            <a:ext cx="2871216" cy="552524"/>
          </a:xfrm>
          <a:prstGeom prst="rect">
            <a:avLst/>
          </a:prstGeom>
        </p:spPr>
        <p:txBody>
          <a:bodyPr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Scalable from regional pilot to larger areas</a:t>
            </a:r>
          </a:p>
        </p:txBody>
      </p:sp>
      <p:sp>
        <p:nvSpPr>
          <p:cNvPr id="72" name="TextBox 63">
            <a:extLst>
              <a:ext uri="{FF2B5EF4-FFF2-40B4-BE49-F238E27FC236}">
                <a16:creationId xmlns:a16="http://schemas.microsoft.com/office/drawing/2014/main" id="{EF3816B4-0CD9-0FE7-75FC-FC31AA998E04}"/>
              </a:ext>
            </a:extLst>
          </p:cNvPr>
          <p:cNvSpPr txBox="1"/>
          <p:nvPr/>
        </p:nvSpPr>
        <p:spPr>
          <a:xfrm>
            <a:off x="13981176" y="8553376"/>
            <a:ext cx="2999232" cy="552524"/>
          </a:xfrm>
          <a:prstGeom prst="rect">
            <a:avLst/>
          </a:prstGeom>
        </p:spPr>
        <p:txBody>
          <a:bodyPr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Designed for rapid prototype deployment</a:t>
            </a:r>
          </a:p>
        </p:txBody>
      </p:sp>
      <p:sp>
        <p:nvSpPr>
          <p:cNvPr id="73" name="TextBox 64">
            <a:extLst>
              <a:ext uri="{FF2B5EF4-FFF2-40B4-BE49-F238E27FC236}">
                <a16:creationId xmlns:a16="http://schemas.microsoft.com/office/drawing/2014/main" id="{2CE016D8-6E9C-2B9A-F86B-FCE96BDFDE20}"/>
              </a:ext>
            </a:extLst>
          </p:cNvPr>
          <p:cNvSpPr txBox="1"/>
          <p:nvPr/>
        </p:nvSpPr>
        <p:spPr>
          <a:xfrm>
            <a:off x="2249424" y="9638162"/>
            <a:ext cx="9985248" cy="512147"/>
          </a:xfrm>
          <a:prstGeom prst="rect">
            <a:avLst/>
          </a:prstGeom>
        </p:spPr>
        <p:txBody>
          <a:bodyPr lIns="0" tIns="0" rIns="0" bIns="0" rtlCol="0" anchor="t">
            <a:spAutoFit/>
          </a:bodyPr>
          <a:lstStyle/>
          <a:p>
            <a:pPr algn="r">
              <a:lnSpc>
                <a:spcPts val="3934"/>
              </a:lnSpc>
            </a:pPr>
            <a:r>
              <a:rPr lang="en-US" sz="3576" b="1" spc="-71" dirty="0">
                <a:solidFill>
                  <a:schemeClr val="accent4"/>
                </a:solidFill>
                <a:latin typeface="Roboto Bold"/>
                <a:ea typeface="Roboto Bold"/>
                <a:cs typeface="Roboto Bold"/>
                <a:sym typeface="Roboto Bold"/>
              </a:rPr>
              <a:t>DATA</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INTELLIGENCE</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FORECAST</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ACTION</a:t>
            </a:r>
          </a:p>
        </p:txBody>
      </p:sp>
      <p:sp>
        <p:nvSpPr>
          <p:cNvPr id="76" name="Freeform 40">
            <a:extLst>
              <a:ext uri="{FF2B5EF4-FFF2-40B4-BE49-F238E27FC236}">
                <a16:creationId xmlns:a16="http://schemas.microsoft.com/office/drawing/2014/main" id="{878BF312-7A27-894C-5CAA-C0B8ADF954DA}"/>
              </a:ext>
            </a:extLst>
          </p:cNvPr>
          <p:cNvSpPr/>
          <p:nvPr/>
        </p:nvSpPr>
        <p:spPr>
          <a:xfrm>
            <a:off x="10033635" y="6762083"/>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7" name="Freeform 40">
            <a:extLst>
              <a:ext uri="{FF2B5EF4-FFF2-40B4-BE49-F238E27FC236}">
                <a16:creationId xmlns:a16="http://schemas.microsoft.com/office/drawing/2014/main" id="{ED8DB2FF-0E67-9246-EC8B-3EAEBF2FD05B}"/>
              </a:ext>
            </a:extLst>
          </p:cNvPr>
          <p:cNvSpPr/>
          <p:nvPr/>
        </p:nvSpPr>
        <p:spPr>
          <a:xfrm>
            <a:off x="7385304" y="8061519"/>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8" name="Freeform 40">
            <a:extLst>
              <a:ext uri="{FF2B5EF4-FFF2-40B4-BE49-F238E27FC236}">
                <a16:creationId xmlns:a16="http://schemas.microsoft.com/office/drawing/2014/main" id="{0D5A71E2-7CEB-1EA3-2D3B-DD88DD087E90}"/>
              </a:ext>
            </a:extLst>
          </p:cNvPr>
          <p:cNvSpPr/>
          <p:nvPr/>
        </p:nvSpPr>
        <p:spPr>
          <a:xfrm>
            <a:off x="10010775" y="8115728"/>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9" name="Freeform 34">
            <a:extLst>
              <a:ext uri="{FF2B5EF4-FFF2-40B4-BE49-F238E27FC236}">
                <a16:creationId xmlns:a16="http://schemas.microsoft.com/office/drawing/2014/main" id="{30575BEB-4423-9FF9-2752-359877EF516B}"/>
              </a:ext>
            </a:extLst>
          </p:cNvPr>
          <p:cNvSpPr/>
          <p:nvPr/>
        </p:nvSpPr>
        <p:spPr>
          <a:xfrm>
            <a:off x="2133600" y="643890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txBody>
          <a:bodyPr/>
          <a:lstStyle/>
          <a:p>
            <a:endParaRPr lang="en-US" dirty="0"/>
          </a:p>
        </p:txBody>
      </p:sp>
      <p:sp>
        <p:nvSpPr>
          <p:cNvPr id="80" name="Freeform 34">
            <a:extLst>
              <a:ext uri="{FF2B5EF4-FFF2-40B4-BE49-F238E27FC236}">
                <a16:creationId xmlns:a16="http://schemas.microsoft.com/office/drawing/2014/main" id="{324D0044-E08D-E66A-9864-2C28012BB144}"/>
              </a:ext>
            </a:extLst>
          </p:cNvPr>
          <p:cNvSpPr/>
          <p:nvPr/>
        </p:nvSpPr>
        <p:spPr>
          <a:xfrm>
            <a:off x="2133600" y="773430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txBody>
          <a:bodyPr/>
          <a:lstStyle/>
          <a:p>
            <a:endParaRPr lang="en-IN" dirty="0"/>
          </a:p>
        </p:txBody>
      </p:sp>
      <p:sp>
        <p:nvSpPr>
          <p:cNvPr id="81" name="Freeform 43">
            <a:extLst>
              <a:ext uri="{FF2B5EF4-FFF2-40B4-BE49-F238E27FC236}">
                <a16:creationId xmlns:a16="http://schemas.microsoft.com/office/drawing/2014/main" id="{47901549-C92D-E82B-8F77-5027D430246A}"/>
              </a:ext>
            </a:extLst>
          </p:cNvPr>
          <p:cNvSpPr/>
          <p:nvPr/>
        </p:nvSpPr>
        <p:spPr>
          <a:xfrm>
            <a:off x="2609850" y="71474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23"/>
            <a:stretch>
              <a:fillRect/>
            </a:stretch>
          </a:blipFill>
        </p:spPr>
      </p:sp>
      <p:sp>
        <p:nvSpPr>
          <p:cNvPr id="82" name="Freeform 19">
            <a:extLst>
              <a:ext uri="{FF2B5EF4-FFF2-40B4-BE49-F238E27FC236}">
                <a16:creationId xmlns:a16="http://schemas.microsoft.com/office/drawing/2014/main" id="{E089D8DD-3F47-D096-63E3-02B5DAD6ABE7}"/>
              </a:ext>
            </a:extLst>
          </p:cNvPr>
          <p:cNvSpPr/>
          <p:nvPr/>
        </p:nvSpPr>
        <p:spPr>
          <a:xfrm>
            <a:off x="2609850" y="8123002"/>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2"/>
            <a:stretch>
              <a:fillRect/>
            </a:stretch>
          </a:blipFill>
        </p:spPr>
      </p:sp>
      <p:sp>
        <p:nvSpPr>
          <p:cNvPr id="8" name="TextBox 7">
            <a:extLst>
              <a:ext uri="{FF2B5EF4-FFF2-40B4-BE49-F238E27FC236}">
                <a16:creationId xmlns:a16="http://schemas.microsoft.com/office/drawing/2014/main" id="{247F62A8-9961-2B7D-4C50-982B7A9D3FD6}"/>
              </a:ext>
            </a:extLst>
          </p:cNvPr>
          <p:cNvSpPr txBox="1"/>
          <p:nvPr/>
        </p:nvSpPr>
        <p:spPr>
          <a:xfrm>
            <a:off x="10299954" y="2847082"/>
            <a:ext cx="2545080" cy="1077218"/>
          </a:xfrm>
          <a:prstGeom prst="rect">
            <a:avLst/>
          </a:prstGeom>
          <a:noFill/>
        </p:spPr>
        <p:txBody>
          <a:bodyPr wrap="square" rtlCol="0">
            <a:spAutoFit/>
          </a:bodyPr>
          <a:lstStyle/>
          <a:p>
            <a:pPr algn="just"/>
            <a:r>
              <a:rPr lang="en-GB" sz="1600" dirty="0">
                <a:latin typeface="Roboto" panose="02000000000000000000" pitchFamily="2" charset="0"/>
                <a:ea typeface="Roboto" panose="02000000000000000000" pitchFamily="2" charset="0"/>
                <a:cs typeface="Roboto" panose="02000000000000000000" pitchFamily="2" charset="0"/>
              </a:rPr>
              <a:t>Hyperspectral ocean data provides rich spectral features to detect potential floating debris.</a:t>
            </a:r>
            <a:endParaRPr lang="en-IN" sz="16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B983F-CC9E-3397-FB00-2037472C06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F0A1C2-5082-A659-5821-F67D8D4432B6}"/>
              </a:ext>
            </a:extLst>
          </p:cNvPr>
          <p:cNvGrpSpPr/>
          <p:nvPr/>
        </p:nvGrpSpPr>
        <p:grpSpPr>
          <a:xfrm>
            <a:off x="-1" y="-19390"/>
            <a:ext cx="18288000" cy="10287000"/>
            <a:chOff x="0" y="0"/>
            <a:chExt cx="24384000" cy="13716000"/>
          </a:xfrm>
        </p:grpSpPr>
        <p:sp>
          <p:nvSpPr>
            <p:cNvPr id="3" name="Freeform 3" descr="A bright light in a room  AI-generated content may be incorrect.">
              <a:extLst>
                <a:ext uri="{FF2B5EF4-FFF2-40B4-BE49-F238E27FC236}">
                  <a16:creationId xmlns:a16="http://schemas.microsoft.com/office/drawing/2014/main" id="{012E2A47-968B-0A18-B427-019C3A87C04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a:extLst>
              <a:ext uri="{FF2B5EF4-FFF2-40B4-BE49-F238E27FC236}">
                <a16:creationId xmlns:a16="http://schemas.microsoft.com/office/drawing/2014/main" id="{3B8A736E-E1D8-082F-3B70-0967EEFA4AF9}"/>
              </a:ext>
            </a:extLst>
          </p:cNvPr>
          <p:cNvGrpSpPr/>
          <p:nvPr/>
        </p:nvGrpSpPr>
        <p:grpSpPr>
          <a:xfrm>
            <a:off x="5781894" y="-75248"/>
            <a:ext cx="1451134" cy="1408748"/>
            <a:chOff x="0" y="0"/>
            <a:chExt cx="1934845" cy="1878330"/>
          </a:xfrm>
        </p:grpSpPr>
        <p:sp>
          <p:nvSpPr>
            <p:cNvPr id="5" name="Freeform 5">
              <a:extLst>
                <a:ext uri="{FF2B5EF4-FFF2-40B4-BE49-F238E27FC236}">
                  <a16:creationId xmlns:a16="http://schemas.microsoft.com/office/drawing/2014/main" id="{3F6A3BF9-937B-5159-5601-EDA77A462473}"/>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dirty="0"/>
            </a:p>
          </p:txBody>
        </p:sp>
      </p:grpSp>
      <p:grpSp>
        <p:nvGrpSpPr>
          <p:cNvPr id="6" name="Group 6">
            <a:extLst>
              <a:ext uri="{FF2B5EF4-FFF2-40B4-BE49-F238E27FC236}">
                <a16:creationId xmlns:a16="http://schemas.microsoft.com/office/drawing/2014/main" id="{D746DF6F-19EA-44EA-564F-17AF5633E79D}"/>
              </a:ext>
            </a:extLst>
          </p:cNvPr>
          <p:cNvGrpSpPr/>
          <p:nvPr/>
        </p:nvGrpSpPr>
        <p:grpSpPr>
          <a:xfrm>
            <a:off x="7137825" y="441065"/>
            <a:ext cx="4053078" cy="1175271"/>
            <a:chOff x="0" y="0"/>
            <a:chExt cx="5404104" cy="1567028"/>
          </a:xfrm>
        </p:grpSpPr>
        <p:sp>
          <p:nvSpPr>
            <p:cNvPr id="7" name="Freeform 7">
              <a:extLst>
                <a:ext uri="{FF2B5EF4-FFF2-40B4-BE49-F238E27FC236}">
                  <a16:creationId xmlns:a16="http://schemas.microsoft.com/office/drawing/2014/main" id="{7DD027C8-0E95-990F-4205-C5431E18FD99}"/>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54" name="Freeform 4">
            <a:extLst>
              <a:ext uri="{FF2B5EF4-FFF2-40B4-BE49-F238E27FC236}">
                <a16:creationId xmlns:a16="http://schemas.microsoft.com/office/drawing/2014/main" id="{648CC7AD-20F5-E554-6C49-1491CA57EE1C}"/>
              </a:ext>
            </a:extLst>
          </p:cNvPr>
          <p:cNvSpPr/>
          <p:nvPr/>
        </p:nvSpPr>
        <p:spPr>
          <a:xfrm>
            <a:off x="428625" y="2143125"/>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5"/>
            <a:stretch>
              <a:fillRect/>
            </a:stretch>
          </a:blipFill>
        </p:spPr>
      </p:sp>
      <p:sp>
        <p:nvSpPr>
          <p:cNvPr id="55" name="Freeform 5">
            <a:extLst>
              <a:ext uri="{FF2B5EF4-FFF2-40B4-BE49-F238E27FC236}">
                <a16:creationId xmlns:a16="http://schemas.microsoft.com/office/drawing/2014/main" id="{5BD3990A-6174-011C-3557-EA56DAC517E1}"/>
              </a:ext>
            </a:extLst>
          </p:cNvPr>
          <p:cNvSpPr/>
          <p:nvPr/>
        </p:nvSpPr>
        <p:spPr>
          <a:xfrm>
            <a:off x="1085850" y="2352675"/>
            <a:ext cx="1314450" cy="866775"/>
          </a:xfrm>
          <a:custGeom>
            <a:avLst/>
            <a:gdLst/>
            <a:ahLst/>
            <a:cxnLst/>
            <a:rect l="l" t="t" r="r" b="b"/>
            <a:pathLst>
              <a:path w="1314450" h="866775">
                <a:moveTo>
                  <a:pt x="0" y="0"/>
                </a:moveTo>
                <a:lnTo>
                  <a:pt x="1314450" y="0"/>
                </a:lnTo>
                <a:lnTo>
                  <a:pt x="1314450" y="866775"/>
                </a:lnTo>
                <a:lnTo>
                  <a:pt x="0" y="866775"/>
                </a:lnTo>
                <a:lnTo>
                  <a:pt x="0" y="0"/>
                </a:lnTo>
                <a:close/>
              </a:path>
            </a:pathLst>
          </a:custGeom>
          <a:blipFill>
            <a:blip r:embed="rId6"/>
            <a:stretch>
              <a:fillRect/>
            </a:stretch>
          </a:blipFill>
        </p:spPr>
      </p:sp>
      <p:sp>
        <p:nvSpPr>
          <p:cNvPr id="56" name="Freeform 6">
            <a:extLst>
              <a:ext uri="{FF2B5EF4-FFF2-40B4-BE49-F238E27FC236}">
                <a16:creationId xmlns:a16="http://schemas.microsoft.com/office/drawing/2014/main" id="{ADBB7875-D320-7E7C-A0E2-8E512E67C3A2}"/>
              </a:ext>
            </a:extLst>
          </p:cNvPr>
          <p:cNvSpPr/>
          <p:nvPr/>
        </p:nvSpPr>
        <p:spPr>
          <a:xfrm>
            <a:off x="428625" y="428625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7"/>
            <a:stretch>
              <a:fillRect/>
            </a:stretch>
          </a:blipFill>
        </p:spPr>
      </p:sp>
      <p:sp>
        <p:nvSpPr>
          <p:cNvPr id="57" name="Freeform 7">
            <a:extLst>
              <a:ext uri="{FF2B5EF4-FFF2-40B4-BE49-F238E27FC236}">
                <a16:creationId xmlns:a16="http://schemas.microsoft.com/office/drawing/2014/main" id="{ACC32DFE-157A-9652-B80B-97191D9DE7F8}"/>
              </a:ext>
            </a:extLst>
          </p:cNvPr>
          <p:cNvSpPr/>
          <p:nvPr/>
        </p:nvSpPr>
        <p:spPr>
          <a:xfrm>
            <a:off x="1085850" y="4714875"/>
            <a:ext cx="1314450" cy="647700"/>
          </a:xfrm>
          <a:custGeom>
            <a:avLst/>
            <a:gdLst/>
            <a:ahLst/>
            <a:cxnLst/>
            <a:rect l="l" t="t" r="r" b="b"/>
            <a:pathLst>
              <a:path w="1314450" h="647700">
                <a:moveTo>
                  <a:pt x="0" y="0"/>
                </a:moveTo>
                <a:lnTo>
                  <a:pt x="1314450" y="0"/>
                </a:lnTo>
                <a:lnTo>
                  <a:pt x="1314450" y="647700"/>
                </a:lnTo>
                <a:lnTo>
                  <a:pt x="0" y="647700"/>
                </a:lnTo>
                <a:lnTo>
                  <a:pt x="0" y="0"/>
                </a:lnTo>
                <a:close/>
              </a:path>
            </a:pathLst>
          </a:custGeom>
          <a:blipFill>
            <a:blip r:embed="rId8"/>
            <a:stretch>
              <a:fillRect/>
            </a:stretch>
          </a:blipFill>
        </p:spPr>
      </p:sp>
      <p:sp>
        <p:nvSpPr>
          <p:cNvPr id="58" name="Freeform 8">
            <a:extLst>
              <a:ext uri="{FF2B5EF4-FFF2-40B4-BE49-F238E27FC236}">
                <a16:creationId xmlns:a16="http://schemas.microsoft.com/office/drawing/2014/main" id="{86FA8111-313D-B94A-6994-6659574097BB}"/>
              </a:ext>
            </a:extLst>
          </p:cNvPr>
          <p:cNvSpPr/>
          <p:nvPr/>
        </p:nvSpPr>
        <p:spPr>
          <a:xfrm>
            <a:off x="15240000" y="2143125"/>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9"/>
            <a:stretch>
              <a:fillRect/>
            </a:stretch>
          </a:blipFill>
        </p:spPr>
      </p:sp>
      <p:sp>
        <p:nvSpPr>
          <p:cNvPr id="59" name="Freeform 9">
            <a:extLst>
              <a:ext uri="{FF2B5EF4-FFF2-40B4-BE49-F238E27FC236}">
                <a16:creationId xmlns:a16="http://schemas.microsoft.com/office/drawing/2014/main" id="{A850B20B-A0E5-8986-294E-A5D43EC5C180}"/>
              </a:ext>
            </a:extLst>
          </p:cNvPr>
          <p:cNvSpPr/>
          <p:nvPr/>
        </p:nvSpPr>
        <p:spPr>
          <a:xfrm>
            <a:off x="15887700" y="2352675"/>
            <a:ext cx="1095375" cy="866775"/>
          </a:xfrm>
          <a:custGeom>
            <a:avLst/>
            <a:gdLst/>
            <a:ahLst/>
            <a:cxnLst/>
            <a:rect l="l" t="t" r="r" b="b"/>
            <a:pathLst>
              <a:path w="1095375" h="866775">
                <a:moveTo>
                  <a:pt x="0" y="0"/>
                </a:moveTo>
                <a:lnTo>
                  <a:pt x="1095375" y="0"/>
                </a:lnTo>
                <a:lnTo>
                  <a:pt x="1095375" y="866775"/>
                </a:lnTo>
                <a:lnTo>
                  <a:pt x="0" y="866775"/>
                </a:lnTo>
                <a:lnTo>
                  <a:pt x="0" y="0"/>
                </a:lnTo>
                <a:close/>
              </a:path>
            </a:pathLst>
          </a:custGeom>
          <a:blipFill>
            <a:blip r:embed="rId10"/>
            <a:stretch>
              <a:fillRect/>
            </a:stretch>
          </a:blipFill>
        </p:spPr>
      </p:sp>
      <p:sp>
        <p:nvSpPr>
          <p:cNvPr id="60" name="Freeform 10">
            <a:extLst>
              <a:ext uri="{FF2B5EF4-FFF2-40B4-BE49-F238E27FC236}">
                <a16:creationId xmlns:a16="http://schemas.microsoft.com/office/drawing/2014/main" id="{2C5CFF99-BCBA-06C7-3E4C-8AAE8584549A}"/>
              </a:ext>
            </a:extLst>
          </p:cNvPr>
          <p:cNvSpPr/>
          <p:nvPr/>
        </p:nvSpPr>
        <p:spPr>
          <a:xfrm>
            <a:off x="15240000" y="428625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11"/>
            <a:stretch>
              <a:fillRect/>
            </a:stretch>
          </a:blipFill>
        </p:spPr>
      </p:sp>
      <p:sp>
        <p:nvSpPr>
          <p:cNvPr id="61" name="Freeform 11">
            <a:extLst>
              <a:ext uri="{FF2B5EF4-FFF2-40B4-BE49-F238E27FC236}">
                <a16:creationId xmlns:a16="http://schemas.microsoft.com/office/drawing/2014/main" id="{2518D924-B40F-F2A6-F031-181561478234}"/>
              </a:ext>
            </a:extLst>
          </p:cNvPr>
          <p:cNvSpPr/>
          <p:nvPr/>
        </p:nvSpPr>
        <p:spPr>
          <a:xfrm>
            <a:off x="15887700" y="449580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12"/>
            <a:stretch>
              <a:fillRect t="-16911" b="-16911"/>
            </a:stretch>
          </a:blipFill>
        </p:spPr>
      </p:sp>
      <p:sp>
        <p:nvSpPr>
          <p:cNvPr id="62" name="Freeform 12">
            <a:extLst>
              <a:ext uri="{FF2B5EF4-FFF2-40B4-BE49-F238E27FC236}">
                <a16:creationId xmlns:a16="http://schemas.microsoft.com/office/drawing/2014/main" id="{3D2EC07C-7F5D-F054-F3C0-D11977130ADB}"/>
              </a:ext>
            </a:extLst>
          </p:cNvPr>
          <p:cNvSpPr/>
          <p:nvPr/>
        </p:nvSpPr>
        <p:spPr>
          <a:xfrm>
            <a:off x="3019425" y="2143125"/>
            <a:ext cx="12220575" cy="3857625"/>
          </a:xfrm>
          <a:custGeom>
            <a:avLst/>
            <a:gdLst/>
            <a:ahLst/>
            <a:cxnLst/>
            <a:rect l="l" t="t" r="r" b="b"/>
            <a:pathLst>
              <a:path w="12630150" h="3857625">
                <a:moveTo>
                  <a:pt x="0" y="0"/>
                </a:moveTo>
                <a:lnTo>
                  <a:pt x="12630150" y="0"/>
                </a:lnTo>
                <a:lnTo>
                  <a:pt x="12630150" y="3857625"/>
                </a:lnTo>
                <a:lnTo>
                  <a:pt x="0" y="3857625"/>
                </a:lnTo>
                <a:lnTo>
                  <a:pt x="0" y="0"/>
                </a:lnTo>
                <a:close/>
              </a:path>
            </a:pathLst>
          </a:custGeom>
          <a:blipFill>
            <a:blip r:embed="rId13"/>
            <a:stretch>
              <a:fillRect l="-70" r="-70"/>
            </a:stretch>
          </a:blipFill>
        </p:spPr>
      </p:sp>
      <p:sp>
        <p:nvSpPr>
          <p:cNvPr id="63" name="Freeform 13">
            <a:extLst>
              <a:ext uri="{FF2B5EF4-FFF2-40B4-BE49-F238E27FC236}">
                <a16:creationId xmlns:a16="http://schemas.microsoft.com/office/drawing/2014/main" id="{6C5C6220-9FA1-2DD1-378B-107554632A58}"/>
              </a:ext>
            </a:extLst>
          </p:cNvPr>
          <p:cNvSpPr/>
          <p:nvPr/>
        </p:nvSpPr>
        <p:spPr>
          <a:xfrm>
            <a:off x="3048000" y="5781675"/>
            <a:ext cx="12192000" cy="1076325"/>
          </a:xfrm>
          <a:custGeom>
            <a:avLst/>
            <a:gdLst/>
            <a:ahLst/>
            <a:cxnLst/>
            <a:rect l="l" t="t" r="r" b="b"/>
            <a:pathLst>
              <a:path w="12192000" h="1076325">
                <a:moveTo>
                  <a:pt x="0" y="0"/>
                </a:moveTo>
                <a:lnTo>
                  <a:pt x="12192000" y="0"/>
                </a:lnTo>
                <a:lnTo>
                  <a:pt x="12192000" y="1076325"/>
                </a:lnTo>
                <a:lnTo>
                  <a:pt x="0" y="1076325"/>
                </a:lnTo>
                <a:lnTo>
                  <a:pt x="0" y="0"/>
                </a:lnTo>
                <a:close/>
              </a:path>
            </a:pathLst>
          </a:custGeom>
          <a:blipFill>
            <a:blip r:embed="rId14"/>
            <a:stretch>
              <a:fillRect l="-446" r="-446"/>
            </a:stretch>
          </a:blipFill>
        </p:spPr>
      </p:sp>
      <p:sp>
        <p:nvSpPr>
          <p:cNvPr id="64" name="Freeform 14">
            <a:extLst>
              <a:ext uri="{FF2B5EF4-FFF2-40B4-BE49-F238E27FC236}">
                <a16:creationId xmlns:a16="http://schemas.microsoft.com/office/drawing/2014/main" id="{58BD41BD-75F6-ECA9-D6F0-08B808F12AA8}"/>
              </a:ext>
            </a:extLst>
          </p:cNvPr>
          <p:cNvSpPr/>
          <p:nvPr/>
        </p:nvSpPr>
        <p:spPr>
          <a:xfrm>
            <a:off x="3476625" y="60007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15"/>
            <a:stretch>
              <a:fillRect/>
            </a:stretch>
          </a:blipFill>
        </p:spPr>
      </p:sp>
      <p:sp>
        <p:nvSpPr>
          <p:cNvPr id="65" name="Freeform 15">
            <a:extLst>
              <a:ext uri="{FF2B5EF4-FFF2-40B4-BE49-F238E27FC236}">
                <a16:creationId xmlns:a16="http://schemas.microsoft.com/office/drawing/2014/main" id="{692718E0-6806-7299-1F48-4AF734566AAA}"/>
              </a:ext>
            </a:extLst>
          </p:cNvPr>
          <p:cNvSpPr/>
          <p:nvPr/>
        </p:nvSpPr>
        <p:spPr>
          <a:xfrm>
            <a:off x="5438775"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16"/>
            <a:stretch>
              <a:fillRect/>
            </a:stretch>
          </a:blipFill>
        </p:spPr>
      </p:sp>
      <p:sp>
        <p:nvSpPr>
          <p:cNvPr id="66" name="Freeform 16">
            <a:extLst>
              <a:ext uri="{FF2B5EF4-FFF2-40B4-BE49-F238E27FC236}">
                <a16:creationId xmlns:a16="http://schemas.microsoft.com/office/drawing/2014/main" id="{115BEB65-51DA-1D17-1421-201C6753507B}"/>
              </a:ext>
            </a:extLst>
          </p:cNvPr>
          <p:cNvSpPr/>
          <p:nvPr/>
        </p:nvSpPr>
        <p:spPr>
          <a:xfrm>
            <a:off x="6096000" y="60007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7"/>
            <a:stretch>
              <a:fillRect/>
            </a:stretch>
          </a:blipFill>
        </p:spPr>
      </p:sp>
      <p:sp>
        <p:nvSpPr>
          <p:cNvPr id="67" name="Freeform 17">
            <a:extLst>
              <a:ext uri="{FF2B5EF4-FFF2-40B4-BE49-F238E27FC236}">
                <a16:creationId xmlns:a16="http://schemas.microsoft.com/office/drawing/2014/main" id="{E7A47956-EA61-C210-6B97-72024020781C}"/>
              </a:ext>
            </a:extLst>
          </p:cNvPr>
          <p:cNvSpPr/>
          <p:nvPr/>
        </p:nvSpPr>
        <p:spPr>
          <a:xfrm>
            <a:off x="8048625" y="6210300"/>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18"/>
            <a:stretch>
              <a:fillRect/>
            </a:stretch>
          </a:blipFill>
        </p:spPr>
      </p:sp>
      <p:sp>
        <p:nvSpPr>
          <p:cNvPr id="68" name="Freeform 18">
            <a:extLst>
              <a:ext uri="{FF2B5EF4-FFF2-40B4-BE49-F238E27FC236}">
                <a16:creationId xmlns:a16="http://schemas.microsoft.com/office/drawing/2014/main" id="{1D536BAD-55B4-C9D4-D001-BA14FB246D80}"/>
              </a:ext>
            </a:extLst>
          </p:cNvPr>
          <p:cNvSpPr/>
          <p:nvPr/>
        </p:nvSpPr>
        <p:spPr>
          <a:xfrm>
            <a:off x="8705850" y="600075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19"/>
            <a:stretch>
              <a:fillRect/>
            </a:stretch>
          </a:blipFill>
        </p:spPr>
      </p:sp>
      <p:sp>
        <p:nvSpPr>
          <p:cNvPr id="69" name="Freeform 19">
            <a:extLst>
              <a:ext uri="{FF2B5EF4-FFF2-40B4-BE49-F238E27FC236}">
                <a16:creationId xmlns:a16="http://schemas.microsoft.com/office/drawing/2014/main" id="{7A9BE8A1-C28A-0D60-79FD-4F53864501C5}"/>
              </a:ext>
            </a:extLst>
          </p:cNvPr>
          <p:cNvSpPr/>
          <p:nvPr/>
        </p:nvSpPr>
        <p:spPr>
          <a:xfrm>
            <a:off x="10668000"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0"/>
            <a:stretch>
              <a:fillRect/>
            </a:stretch>
          </a:blipFill>
        </p:spPr>
      </p:sp>
      <p:sp>
        <p:nvSpPr>
          <p:cNvPr id="70" name="Freeform 20">
            <a:extLst>
              <a:ext uri="{FF2B5EF4-FFF2-40B4-BE49-F238E27FC236}">
                <a16:creationId xmlns:a16="http://schemas.microsoft.com/office/drawing/2014/main" id="{469B0736-1FDC-391C-9F90-9635C727ED9A}"/>
              </a:ext>
            </a:extLst>
          </p:cNvPr>
          <p:cNvSpPr/>
          <p:nvPr/>
        </p:nvSpPr>
        <p:spPr>
          <a:xfrm>
            <a:off x="11315700" y="60007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1"/>
            <a:stretch>
              <a:fillRect/>
            </a:stretch>
          </a:blipFill>
        </p:spPr>
      </p:sp>
      <p:sp>
        <p:nvSpPr>
          <p:cNvPr id="71" name="Freeform 21">
            <a:extLst>
              <a:ext uri="{FF2B5EF4-FFF2-40B4-BE49-F238E27FC236}">
                <a16:creationId xmlns:a16="http://schemas.microsoft.com/office/drawing/2014/main" id="{3B2F9368-3475-78A2-7F13-1DFE0E8DC719}"/>
              </a:ext>
            </a:extLst>
          </p:cNvPr>
          <p:cNvSpPr/>
          <p:nvPr/>
        </p:nvSpPr>
        <p:spPr>
          <a:xfrm>
            <a:off x="13058775"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2"/>
            <a:stretch>
              <a:fillRect/>
            </a:stretch>
          </a:blipFill>
        </p:spPr>
      </p:sp>
      <p:sp>
        <p:nvSpPr>
          <p:cNvPr id="72" name="Freeform 22">
            <a:extLst>
              <a:ext uri="{FF2B5EF4-FFF2-40B4-BE49-F238E27FC236}">
                <a16:creationId xmlns:a16="http://schemas.microsoft.com/office/drawing/2014/main" id="{2CA5C6A0-B991-2703-12FF-B1EE95CEFD9E}"/>
              </a:ext>
            </a:extLst>
          </p:cNvPr>
          <p:cNvSpPr/>
          <p:nvPr/>
        </p:nvSpPr>
        <p:spPr>
          <a:xfrm>
            <a:off x="13716000" y="600075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23"/>
            <a:stretch>
              <a:fillRect/>
            </a:stretch>
          </a:blipFill>
        </p:spPr>
      </p:sp>
      <p:sp>
        <p:nvSpPr>
          <p:cNvPr id="73" name="Freeform 23">
            <a:extLst>
              <a:ext uri="{FF2B5EF4-FFF2-40B4-BE49-F238E27FC236}">
                <a16:creationId xmlns:a16="http://schemas.microsoft.com/office/drawing/2014/main" id="{50ECFA38-A134-72DE-248A-1A00202F210B}"/>
              </a:ext>
            </a:extLst>
          </p:cNvPr>
          <p:cNvSpPr/>
          <p:nvPr/>
        </p:nvSpPr>
        <p:spPr>
          <a:xfrm>
            <a:off x="400050" y="6858000"/>
            <a:ext cx="17430750" cy="1504950"/>
          </a:xfrm>
          <a:custGeom>
            <a:avLst/>
            <a:gdLst/>
            <a:ahLst/>
            <a:cxnLst/>
            <a:rect l="l" t="t" r="r" b="b"/>
            <a:pathLst>
              <a:path w="17430750" h="1504950">
                <a:moveTo>
                  <a:pt x="0" y="0"/>
                </a:moveTo>
                <a:lnTo>
                  <a:pt x="17430750" y="0"/>
                </a:lnTo>
                <a:lnTo>
                  <a:pt x="17430750" y="1504950"/>
                </a:lnTo>
                <a:lnTo>
                  <a:pt x="0" y="1504950"/>
                </a:lnTo>
                <a:lnTo>
                  <a:pt x="0" y="0"/>
                </a:lnTo>
                <a:close/>
              </a:path>
            </a:pathLst>
          </a:custGeom>
          <a:blipFill>
            <a:blip r:embed="rId24"/>
            <a:stretch>
              <a:fillRect l="-51" r="-51"/>
            </a:stretch>
          </a:blipFill>
        </p:spPr>
      </p:sp>
      <p:sp>
        <p:nvSpPr>
          <p:cNvPr id="74" name="Freeform 24">
            <a:extLst>
              <a:ext uri="{FF2B5EF4-FFF2-40B4-BE49-F238E27FC236}">
                <a16:creationId xmlns:a16="http://schemas.microsoft.com/office/drawing/2014/main" id="{38C672F5-AF53-7758-EE21-24CDBCBF7EBA}"/>
              </a:ext>
            </a:extLst>
          </p:cNvPr>
          <p:cNvSpPr/>
          <p:nvPr/>
        </p:nvSpPr>
        <p:spPr>
          <a:xfrm>
            <a:off x="1085850" y="7286625"/>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5"/>
            <a:stretch>
              <a:fillRect/>
            </a:stretch>
          </a:blipFill>
        </p:spPr>
      </p:sp>
      <p:sp>
        <p:nvSpPr>
          <p:cNvPr id="75" name="Freeform 25">
            <a:extLst>
              <a:ext uri="{FF2B5EF4-FFF2-40B4-BE49-F238E27FC236}">
                <a16:creationId xmlns:a16="http://schemas.microsoft.com/office/drawing/2014/main" id="{5754542D-F904-CFD1-35FC-41AC04AC175A}"/>
              </a:ext>
            </a:extLst>
          </p:cNvPr>
          <p:cNvSpPr/>
          <p:nvPr/>
        </p:nvSpPr>
        <p:spPr>
          <a:xfrm>
            <a:off x="4352925" y="7286625"/>
            <a:ext cx="657225" cy="647700"/>
          </a:xfrm>
          <a:custGeom>
            <a:avLst/>
            <a:gdLst/>
            <a:ahLst/>
            <a:cxnLst/>
            <a:rect l="l" t="t" r="r" b="b"/>
            <a:pathLst>
              <a:path w="657225" h="647700">
                <a:moveTo>
                  <a:pt x="0" y="0"/>
                </a:moveTo>
                <a:lnTo>
                  <a:pt x="657225" y="0"/>
                </a:lnTo>
                <a:lnTo>
                  <a:pt x="657225" y="647700"/>
                </a:lnTo>
                <a:lnTo>
                  <a:pt x="0" y="647700"/>
                </a:lnTo>
                <a:lnTo>
                  <a:pt x="0" y="0"/>
                </a:lnTo>
                <a:close/>
              </a:path>
            </a:pathLst>
          </a:custGeom>
          <a:blipFill>
            <a:blip r:embed="rId26"/>
            <a:stretch>
              <a:fillRect/>
            </a:stretch>
          </a:blipFill>
        </p:spPr>
      </p:sp>
      <p:sp>
        <p:nvSpPr>
          <p:cNvPr id="76" name="Freeform 26">
            <a:extLst>
              <a:ext uri="{FF2B5EF4-FFF2-40B4-BE49-F238E27FC236}">
                <a16:creationId xmlns:a16="http://schemas.microsoft.com/office/drawing/2014/main" id="{D8BA5B1B-32E8-D7CD-AA6A-4ECFA3634E73}"/>
              </a:ext>
            </a:extLst>
          </p:cNvPr>
          <p:cNvSpPr/>
          <p:nvPr/>
        </p:nvSpPr>
        <p:spPr>
          <a:xfrm>
            <a:off x="7620000" y="7286625"/>
            <a:ext cx="657225" cy="647700"/>
          </a:xfrm>
          <a:custGeom>
            <a:avLst/>
            <a:gdLst/>
            <a:ahLst/>
            <a:cxnLst/>
            <a:rect l="l" t="t" r="r" b="b"/>
            <a:pathLst>
              <a:path w="657225" h="647700">
                <a:moveTo>
                  <a:pt x="0" y="0"/>
                </a:moveTo>
                <a:lnTo>
                  <a:pt x="657225" y="0"/>
                </a:lnTo>
                <a:lnTo>
                  <a:pt x="657225" y="647700"/>
                </a:lnTo>
                <a:lnTo>
                  <a:pt x="0" y="647700"/>
                </a:lnTo>
                <a:lnTo>
                  <a:pt x="0" y="0"/>
                </a:lnTo>
                <a:close/>
              </a:path>
            </a:pathLst>
          </a:custGeom>
          <a:blipFill>
            <a:blip r:embed="rId27"/>
            <a:stretch>
              <a:fillRect/>
            </a:stretch>
          </a:blipFill>
        </p:spPr>
      </p:sp>
      <p:sp>
        <p:nvSpPr>
          <p:cNvPr id="77" name="Freeform 27">
            <a:extLst>
              <a:ext uri="{FF2B5EF4-FFF2-40B4-BE49-F238E27FC236}">
                <a16:creationId xmlns:a16="http://schemas.microsoft.com/office/drawing/2014/main" id="{87268676-003F-A05D-9646-660F3F196938}"/>
              </a:ext>
            </a:extLst>
          </p:cNvPr>
          <p:cNvSpPr/>
          <p:nvPr/>
        </p:nvSpPr>
        <p:spPr>
          <a:xfrm>
            <a:off x="10448925" y="7286625"/>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8"/>
            <a:stretch>
              <a:fillRect/>
            </a:stretch>
          </a:blipFill>
        </p:spPr>
      </p:sp>
      <p:sp>
        <p:nvSpPr>
          <p:cNvPr id="78" name="Freeform 28">
            <a:extLst>
              <a:ext uri="{FF2B5EF4-FFF2-40B4-BE49-F238E27FC236}">
                <a16:creationId xmlns:a16="http://schemas.microsoft.com/office/drawing/2014/main" id="{3BA0F0D2-B8E3-C536-573F-294F9D96A6C9}"/>
              </a:ext>
            </a:extLst>
          </p:cNvPr>
          <p:cNvSpPr/>
          <p:nvPr/>
        </p:nvSpPr>
        <p:spPr>
          <a:xfrm>
            <a:off x="13944600" y="7067550"/>
            <a:ext cx="885825" cy="866775"/>
          </a:xfrm>
          <a:custGeom>
            <a:avLst/>
            <a:gdLst/>
            <a:ahLst/>
            <a:cxnLst/>
            <a:rect l="l" t="t" r="r" b="b"/>
            <a:pathLst>
              <a:path w="885825" h="866775">
                <a:moveTo>
                  <a:pt x="0" y="0"/>
                </a:moveTo>
                <a:lnTo>
                  <a:pt x="885825" y="0"/>
                </a:lnTo>
                <a:lnTo>
                  <a:pt x="885825" y="866775"/>
                </a:lnTo>
                <a:lnTo>
                  <a:pt x="0" y="866775"/>
                </a:lnTo>
                <a:lnTo>
                  <a:pt x="0" y="0"/>
                </a:lnTo>
                <a:close/>
              </a:path>
            </a:pathLst>
          </a:custGeom>
          <a:blipFill>
            <a:blip r:embed="rId29"/>
            <a:stretch>
              <a:fillRect/>
            </a:stretch>
          </a:blipFill>
        </p:spPr>
      </p:sp>
      <p:sp>
        <p:nvSpPr>
          <p:cNvPr id="79" name="TextBox 31">
            <a:extLst>
              <a:ext uri="{FF2B5EF4-FFF2-40B4-BE49-F238E27FC236}">
                <a16:creationId xmlns:a16="http://schemas.microsoft.com/office/drawing/2014/main" id="{4BDBC35F-5144-8F37-F7FC-F5807BF8D178}"/>
              </a:ext>
            </a:extLst>
          </p:cNvPr>
          <p:cNvSpPr txBox="1"/>
          <p:nvPr/>
        </p:nvSpPr>
        <p:spPr>
          <a:xfrm>
            <a:off x="5686425" y="1908810"/>
            <a:ext cx="7115175" cy="397032"/>
          </a:xfrm>
          <a:prstGeom prst="rect">
            <a:avLst/>
          </a:prstGeom>
        </p:spPr>
        <p:txBody>
          <a:bodyPr lIns="0" tIns="0" rIns="0" bIns="0" rtlCol="0" anchor="t">
            <a:spAutoFit/>
          </a:bodyPr>
          <a:lstStyle/>
          <a:p>
            <a:pPr algn="ctr">
              <a:lnSpc>
                <a:spcPts val="3359"/>
              </a:lnSpc>
            </a:pPr>
            <a:r>
              <a:rPr lang="en-US" sz="2400" dirty="0">
                <a:solidFill>
                  <a:schemeClr val="accent4">
                    <a:lumMod val="50000"/>
                  </a:schemeClr>
                </a:solidFill>
                <a:latin typeface="Arial"/>
                <a:ea typeface="Arial"/>
                <a:cs typeface="Arial"/>
                <a:sym typeface="Arial"/>
              </a:rPr>
              <a:t>From prediction to actionable marine intelligence</a:t>
            </a:r>
          </a:p>
        </p:txBody>
      </p:sp>
      <p:sp>
        <p:nvSpPr>
          <p:cNvPr id="80" name="TextBox 32">
            <a:extLst>
              <a:ext uri="{FF2B5EF4-FFF2-40B4-BE49-F238E27FC236}">
                <a16:creationId xmlns:a16="http://schemas.microsoft.com/office/drawing/2014/main" id="{9C03B366-4F51-F128-7AB7-101876580E49}"/>
              </a:ext>
            </a:extLst>
          </p:cNvPr>
          <p:cNvSpPr txBox="1"/>
          <p:nvPr/>
        </p:nvSpPr>
        <p:spPr>
          <a:xfrm>
            <a:off x="7038975" y="6153150"/>
            <a:ext cx="952500" cy="246221"/>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Detection</a:t>
            </a:r>
          </a:p>
        </p:txBody>
      </p:sp>
      <p:sp>
        <p:nvSpPr>
          <p:cNvPr id="81" name="TextBox 33">
            <a:extLst>
              <a:ext uri="{FF2B5EF4-FFF2-40B4-BE49-F238E27FC236}">
                <a16:creationId xmlns:a16="http://schemas.microsoft.com/office/drawing/2014/main" id="{6BEECF48-8CAA-E088-E65C-18D4E2CAA68E}"/>
              </a:ext>
            </a:extLst>
          </p:cNvPr>
          <p:cNvSpPr txBox="1"/>
          <p:nvPr/>
        </p:nvSpPr>
        <p:spPr>
          <a:xfrm>
            <a:off x="1085851" y="3197316"/>
            <a:ext cx="1314450"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Coastal authorities</a:t>
            </a:r>
          </a:p>
        </p:txBody>
      </p:sp>
      <p:sp>
        <p:nvSpPr>
          <p:cNvPr id="82" name="TextBox 34">
            <a:extLst>
              <a:ext uri="{FF2B5EF4-FFF2-40B4-BE49-F238E27FC236}">
                <a16:creationId xmlns:a16="http://schemas.microsoft.com/office/drawing/2014/main" id="{41F98C38-1603-E7E2-0620-97950504F6E1}"/>
              </a:ext>
            </a:extLst>
          </p:cNvPr>
          <p:cNvSpPr txBox="1"/>
          <p:nvPr/>
        </p:nvSpPr>
        <p:spPr>
          <a:xfrm>
            <a:off x="1028699" y="3838575"/>
            <a:ext cx="1590675"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Priority Patrol &amp; Cleanup Zones</a:t>
            </a:r>
          </a:p>
        </p:txBody>
      </p:sp>
      <p:sp>
        <p:nvSpPr>
          <p:cNvPr id="83" name="TextBox 35">
            <a:extLst>
              <a:ext uri="{FF2B5EF4-FFF2-40B4-BE49-F238E27FC236}">
                <a16:creationId xmlns:a16="http://schemas.microsoft.com/office/drawing/2014/main" id="{8080174E-D15B-888B-FF01-0863F8671549}"/>
              </a:ext>
            </a:extLst>
          </p:cNvPr>
          <p:cNvSpPr txBox="1"/>
          <p:nvPr/>
        </p:nvSpPr>
        <p:spPr>
          <a:xfrm>
            <a:off x="838201" y="5407771"/>
            <a:ext cx="1781174"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Marine Clean-Up Operators</a:t>
            </a:r>
          </a:p>
        </p:txBody>
      </p:sp>
      <p:sp>
        <p:nvSpPr>
          <p:cNvPr id="84" name="TextBox 36">
            <a:extLst>
              <a:ext uri="{FF2B5EF4-FFF2-40B4-BE49-F238E27FC236}">
                <a16:creationId xmlns:a16="http://schemas.microsoft.com/office/drawing/2014/main" id="{540D7B5A-53B3-E767-8676-FA64FDF24666}"/>
              </a:ext>
            </a:extLst>
          </p:cNvPr>
          <p:cNvSpPr txBox="1"/>
          <p:nvPr/>
        </p:nvSpPr>
        <p:spPr>
          <a:xfrm>
            <a:off x="990600" y="6048147"/>
            <a:ext cx="1619250" cy="492443"/>
          </a:xfrm>
          <a:prstGeom prst="rect">
            <a:avLst/>
          </a:prstGeom>
        </p:spPr>
        <p:txBody>
          <a:bodyPr wrap="square" lIns="0" tIns="0" rIns="0" bIns="0" rtlCol="0" anchor="t">
            <a:spAutoFit/>
          </a:bodyPr>
          <a:lstStyle/>
          <a:p>
            <a:pPr algn="ctr"/>
            <a:r>
              <a:rPr lang="en-US" sz="1600" dirty="0">
                <a:solidFill>
                  <a:schemeClr val="accent4">
                    <a:lumMod val="50000"/>
                  </a:schemeClr>
                </a:solidFill>
                <a:latin typeface="+mj-lt"/>
                <a:ea typeface="Arial"/>
                <a:cs typeface="Arial"/>
                <a:sym typeface="Arial"/>
              </a:rPr>
              <a:t>Where &amp; When to Deploy</a:t>
            </a:r>
          </a:p>
        </p:txBody>
      </p:sp>
      <p:sp>
        <p:nvSpPr>
          <p:cNvPr id="85" name="TextBox 37">
            <a:extLst>
              <a:ext uri="{FF2B5EF4-FFF2-40B4-BE49-F238E27FC236}">
                <a16:creationId xmlns:a16="http://schemas.microsoft.com/office/drawing/2014/main" id="{ED1F4DF5-64C6-6E0D-44C3-BA2A7E27A551}"/>
              </a:ext>
            </a:extLst>
          </p:cNvPr>
          <p:cNvSpPr txBox="1"/>
          <p:nvPr/>
        </p:nvSpPr>
        <p:spPr>
          <a:xfrm>
            <a:off x="15763875" y="3209925"/>
            <a:ext cx="1571624"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Environmental Agencies</a:t>
            </a:r>
          </a:p>
        </p:txBody>
      </p:sp>
      <p:sp>
        <p:nvSpPr>
          <p:cNvPr id="86" name="TextBox 38">
            <a:extLst>
              <a:ext uri="{FF2B5EF4-FFF2-40B4-BE49-F238E27FC236}">
                <a16:creationId xmlns:a16="http://schemas.microsoft.com/office/drawing/2014/main" id="{C43BC71D-F493-9D94-0364-811C83562946}"/>
              </a:ext>
            </a:extLst>
          </p:cNvPr>
          <p:cNvSpPr txBox="1"/>
          <p:nvPr/>
        </p:nvSpPr>
        <p:spPr>
          <a:xfrm>
            <a:off x="15859125" y="3848100"/>
            <a:ext cx="1571624"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Track Recurring Hotspots</a:t>
            </a:r>
          </a:p>
        </p:txBody>
      </p:sp>
      <p:sp>
        <p:nvSpPr>
          <p:cNvPr id="87" name="TextBox 39">
            <a:extLst>
              <a:ext uri="{FF2B5EF4-FFF2-40B4-BE49-F238E27FC236}">
                <a16:creationId xmlns:a16="http://schemas.microsoft.com/office/drawing/2014/main" id="{1AA874B6-F290-A272-62D5-1F2D36382EC3}"/>
              </a:ext>
            </a:extLst>
          </p:cNvPr>
          <p:cNvSpPr txBox="1"/>
          <p:nvPr/>
        </p:nvSpPr>
        <p:spPr>
          <a:xfrm>
            <a:off x="16011525" y="5340668"/>
            <a:ext cx="1285875"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Marine Researchers</a:t>
            </a:r>
          </a:p>
        </p:txBody>
      </p:sp>
      <p:sp>
        <p:nvSpPr>
          <p:cNvPr id="88" name="TextBox 40">
            <a:extLst>
              <a:ext uri="{FF2B5EF4-FFF2-40B4-BE49-F238E27FC236}">
                <a16:creationId xmlns:a16="http://schemas.microsoft.com/office/drawing/2014/main" id="{9CA39E66-9E65-20CD-E373-EA62693B6CD4}"/>
              </a:ext>
            </a:extLst>
          </p:cNvPr>
          <p:cNvSpPr txBox="1"/>
          <p:nvPr/>
        </p:nvSpPr>
        <p:spPr>
          <a:xfrm>
            <a:off x="15792451" y="6048147"/>
            <a:ext cx="1419224"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Study Debris Transport</a:t>
            </a:r>
          </a:p>
        </p:txBody>
      </p:sp>
      <p:sp>
        <p:nvSpPr>
          <p:cNvPr id="89" name="TextBox 41">
            <a:extLst>
              <a:ext uri="{FF2B5EF4-FFF2-40B4-BE49-F238E27FC236}">
                <a16:creationId xmlns:a16="http://schemas.microsoft.com/office/drawing/2014/main" id="{EA4017B4-16C5-B672-3060-723090452AE6}"/>
              </a:ext>
            </a:extLst>
          </p:cNvPr>
          <p:cNvSpPr txBox="1"/>
          <p:nvPr/>
        </p:nvSpPr>
        <p:spPr>
          <a:xfrm>
            <a:off x="4457700" y="6162675"/>
            <a:ext cx="87630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Satellite Data</a:t>
            </a:r>
          </a:p>
        </p:txBody>
      </p:sp>
      <p:sp>
        <p:nvSpPr>
          <p:cNvPr id="90" name="TextBox 42">
            <a:extLst>
              <a:ext uri="{FF2B5EF4-FFF2-40B4-BE49-F238E27FC236}">
                <a16:creationId xmlns:a16="http://schemas.microsoft.com/office/drawing/2014/main" id="{24C975DE-75BE-9E4E-A807-03A2DA707967}"/>
              </a:ext>
            </a:extLst>
          </p:cNvPr>
          <p:cNvSpPr txBox="1"/>
          <p:nvPr/>
        </p:nvSpPr>
        <p:spPr>
          <a:xfrm>
            <a:off x="9877425" y="6162675"/>
            <a:ext cx="87630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Drift Forecast</a:t>
            </a:r>
          </a:p>
        </p:txBody>
      </p:sp>
      <p:sp>
        <p:nvSpPr>
          <p:cNvPr id="91" name="TextBox 43">
            <a:extLst>
              <a:ext uri="{FF2B5EF4-FFF2-40B4-BE49-F238E27FC236}">
                <a16:creationId xmlns:a16="http://schemas.microsoft.com/office/drawing/2014/main" id="{5D151D9E-33C1-04B4-BDDC-541313F7D960}"/>
              </a:ext>
            </a:extLst>
          </p:cNvPr>
          <p:cNvSpPr txBox="1"/>
          <p:nvPr/>
        </p:nvSpPr>
        <p:spPr>
          <a:xfrm>
            <a:off x="12268200" y="6162675"/>
            <a:ext cx="51435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Risk Map</a:t>
            </a:r>
          </a:p>
        </p:txBody>
      </p:sp>
      <p:sp>
        <p:nvSpPr>
          <p:cNvPr id="92" name="TextBox 44">
            <a:extLst>
              <a:ext uri="{FF2B5EF4-FFF2-40B4-BE49-F238E27FC236}">
                <a16:creationId xmlns:a16="http://schemas.microsoft.com/office/drawing/2014/main" id="{19C358F9-4636-E3CB-284E-92F1F7F8E7BA}"/>
              </a:ext>
            </a:extLst>
          </p:cNvPr>
          <p:cNvSpPr txBox="1"/>
          <p:nvPr/>
        </p:nvSpPr>
        <p:spPr>
          <a:xfrm>
            <a:off x="13991498" y="6508470"/>
            <a:ext cx="581025" cy="246221"/>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Action</a:t>
            </a:r>
          </a:p>
        </p:txBody>
      </p:sp>
      <p:sp>
        <p:nvSpPr>
          <p:cNvPr id="93" name="TextBox 45">
            <a:extLst>
              <a:ext uri="{FF2B5EF4-FFF2-40B4-BE49-F238E27FC236}">
                <a16:creationId xmlns:a16="http://schemas.microsoft.com/office/drawing/2014/main" id="{95794BD7-BD11-C20D-B978-5AB4DD1F1EB1}"/>
              </a:ext>
            </a:extLst>
          </p:cNvPr>
          <p:cNvSpPr txBox="1"/>
          <p:nvPr/>
        </p:nvSpPr>
        <p:spPr>
          <a:xfrm>
            <a:off x="14935200" y="7534277"/>
            <a:ext cx="2895600"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Precision → Forecast Error → Ranking → Calibration</a:t>
            </a:r>
          </a:p>
        </p:txBody>
      </p:sp>
      <p:sp>
        <p:nvSpPr>
          <p:cNvPr id="94" name="TextBox 46">
            <a:extLst>
              <a:ext uri="{FF2B5EF4-FFF2-40B4-BE49-F238E27FC236}">
                <a16:creationId xmlns:a16="http://schemas.microsoft.com/office/drawing/2014/main" id="{9DE2B023-1569-A730-B93A-FEC1208A5B88}"/>
              </a:ext>
            </a:extLst>
          </p:cNvPr>
          <p:cNvSpPr txBox="1"/>
          <p:nvPr/>
        </p:nvSpPr>
        <p:spPr>
          <a:xfrm>
            <a:off x="1952624" y="7277100"/>
            <a:ext cx="1666875"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NASA Dataset</a:t>
            </a:r>
          </a:p>
        </p:txBody>
      </p:sp>
      <p:sp>
        <p:nvSpPr>
          <p:cNvPr id="95" name="TextBox 47">
            <a:extLst>
              <a:ext uri="{FF2B5EF4-FFF2-40B4-BE49-F238E27FC236}">
                <a16:creationId xmlns:a16="http://schemas.microsoft.com/office/drawing/2014/main" id="{52B0AAF8-006E-3FAF-CE80-18CCC86A7B22}"/>
              </a:ext>
            </a:extLst>
          </p:cNvPr>
          <p:cNvSpPr txBox="1"/>
          <p:nvPr/>
        </p:nvSpPr>
        <p:spPr>
          <a:xfrm>
            <a:off x="1952623" y="7534276"/>
            <a:ext cx="2100497"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Machine-readable EO Data</a:t>
            </a:r>
          </a:p>
        </p:txBody>
      </p:sp>
      <p:sp>
        <p:nvSpPr>
          <p:cNvPr id="96" name="TextBox 48">
            <a:extLst>
              <a:ext uri="{FF2B5EF4-FFF2-40B4-BE49-F238E27FC236}">
                <a16:creationId xmlns:a16="http://schemas.microsoft.com/office/drawing/2014/main" id="{066FC3DE-879E-1132-2399-ED83E065D0E8}"/>
              </a:ext>
            </a:extLst>
          </p:cNvPr>
          <p:cNvSpPr txBox="1"/>
          <p:nvPr/>
        </p:nvSpPr>
        <p:spPr>
          <a:xfrm>
            <a:off x="5191125" y="7286625"/>
            <a:ext cx="1543050"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Regional First</a:t>
            </a:r>
          </a:p>
        </p:txBody>
      </p:sp>
      <p:sp>
        <p:nvSpPr>
          <p:cNvPr id="97" name="TextBox 49">
            <a:extLst>
              <a:ext uri="{FF2B5EF4-FFF2-40B4-BE49-F238E27FC236}">
                <a16:creationId xmlns:a16="http://schemas.microsoft.com/office/drawing/2014/main" id="{F0457451-F86B-31CA-063B-FA5C08E3473A}"/>
              </a:ext>
            </a:extLst>
          </p:cNvPr>
          <p:cNvSpPr txBox="1"/>
          <p:nvPr/>
        </p:nvSpPr>
        <p:spPr>
          <a:xfrm>
            <a:off x="5191125" y="7534275"/>
            <a:ext cx="1578338"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Bay of Bengal Pilot</a:t>
            </a:r>
          </a:p>
        </p:txBody>
      </p:sp>
      <p:sp>
        <p:nvSpPr>
          <p:cNvPr id="98" name="TextBox 50">
            <a:extLst>
              <a:ext uri="{FF2B5EF4-FFF2-40B4-BE49-F238E27FC236}">
                <a16:creationId xmlns:a16="http://schemas.microsoft.com/office/drawing/2014/main" id="{D5D16386-8311-948E-B565-DD82DDD9D727}"/>
              </a:ext>
            </a:extLst>
          </p:cNvPr>
          <p:cNvSpPr txBox="1"/>
          <p:nvPr/>
        </p:nvSpPr>
        <p:spPr>
          <a:xfrm>
            <a:off x="8391525" y="7277100"/>
            <a:ext cx="876300" cy="211981"/>
          </a:xfrm>
          <a:prstGeom prst="rect">
            <a:avLst/>
          </a:prstGeom>
        </p:spPr>
        <p:txBody>
          <a:bodyPr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Scalable</a:t>
            </a:r>
          </a:p>
        </p:txBody>
      </p:sp>
      <p:sp>
        <p:nvSpPr>
          <p:cNvPr id="99" name="TextBox 51">
            <a:extLst>
              <a:ext uri="{FF2B5EF4-FFF2-40B4-BE49-F238E27FC236}">
                <a16:creationId xmlns:a16="http://schemas.microsoft.com/office/drawing/2014/main" id="{6C940BF3-7AD3-C956-0BE6-5DECD3AD7755}"/>
              </a:ext>
            </a:extLst>
          </p:cNvPr>
          <p:cNvSpPr txBox="1"/>
          <p:nvPr/>
        </p:nvSpPr>
        <p:spPr>
          <a:xfrm>
            <a:off x="8391524" y="7534276"/>
            <a:ext cx="1756347"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Pilot → India → Global</a:t>
            </a:r>
          </a:p>
        </p:txBody>
      </p:sp>
      <p:sp>
        <p:nvSpPr>
          <p:cNvPr id="100" name="TextBox 52">
            <a:extLst>
              <a:ext uri="{FF2B5EF4-FFF2-40B4-BE49-F238E27FC236}">
                <a16:creationId xmlns:a16="http://schemas.microsoft.com/office/drawing/2014/main" id="{7D2E65AE-5093-9E60-286E-7527BB9FDFEE}"/>
              </a:ext>
            </a:extLst>
          </p:cNvPr>
          <p:cNvSpPr txBox="1"/>
          <p:nvPr/>
        </p:nvSpPr>
        <p:spPr>
          <a:xfrm>
            <a:off x="11410950" y="7277100"/>
            <a:ext cx="1866901"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Daily Intelligence</a:t>
            </a:r>
          </a:p>
        </p:txBody>
      </p:sp>
      <p:sp>
        <p:nvSpPr>
          <p:cNvPr id="101" name="TextBox 53">
            <a:extLst>
              <a:ext uri="{FF2B5EF4-FFF2-40B4-BE49-F238E27FC236}">
                <a16:creationId xmlns:a16="http://schemas.microsoft.com/office/drawing/2014/main" id="{BE0B1ADB-C3C6-0199-D1CC-FB3BDF459FC9}"/>
              </a:ext>
            </a:extLst>
          </p:cNvPr>
          <p:cNvSpPr txBox="1"/>
          <p:nvPr/>
        </p:nvSpPr>
        <p:spPr>
          <a:xfrm>
            <a:off x="11410949" y="7534275"/>
            <a:ext cx="2171700"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Data → AI → Forecast → Action</a:t>
            </a:r>
          </a:p>
        </p:txBody>
      </p:sp>
      <p:sp>
        <p:nvSpPr>
          <p:cNvPr id="102" name="TextBox 54">
            <a:extLst>
              <a:ext uri="{FF2B5EF4-FFF2-40B4-BE49-F238E27FC236}">
                <a16:creationId xmlns:a16="http://schemas.microsoft.com/office/drawing/2014/main" id="{2C7A5785-FC96-0795-3BC3-3C85C7343009}"/>
              </a:ext>
            </a:extLst>
          </p:cNvPr>
          <p:cNvSpPr txBox="1"/>
          <p:nvPr/>
        </p:nvSpPr>
        <p:spPr>
          <a:xfrm>
            <a:off x="14935200" y="7277100"/>
            <a:ext cx="1524000"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Measurable</a:t>
            </a:r>
          </a:p>
        </p:txBody>
      </p:sp>
      <p:sp>
        <p:nvSpPr>
          <p:cNvPr id="103" name="TextBox 55">
            <a:extLst>
              <a:ext uri="{FF2B5EF4-FFF2-40B4-BE49-F238E27FC236}">
                <a16:creationId xmlns:a16="http://schemas.microsoft.com/office/drawing/2014/main" id="{07415337-5E50-FD5C-4675-68878C3452BD}"/>
              </a:ext>
            </a:extLst>
          </p:cNvPr>
          <p:cNvSpPr txBox="1"/>
          <p:nvPr/>
        </p:nvSpPr>
        <p:spPr>
          <a:xfrm>
            <a:off x="676275" y="8629650"/>
            <a:ext cx="1076325"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1</a:t>
            </a:r>
          </a:p>
        </p:txBody>
      </p:sp>
      <p:sp>
        <p:nvSpPr>
          <p:cNvPr id="104" name="TextBox 56">
            <a:extLst>
              <a:ext uri="{FF2B5EF4-FFF2-40B4-BE49-F238E27FC236}">
                <a16:creationId xmlns:a16="http://schemas.microsoft.com/office/drawing/2014/main" id="{07E5C74B-1A0D-616A-9CF3-6203818D9263}"/>
              </a:ext>
            </a:extLst>
          </p:cNvPr>
          <p:cNvSpPr txBox="1"/>
          <p:nvPr/>
        </p:nvSpPr>
        <p:spPr>
          <a:xfrm>
            <a:off x="676275" y="8896350"/>
            <a:ext cx="1171575"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Prototype the Bay</a:t>
            </a:r>
          </a:p>
        </p:txBody>
      </p:sp>
      <p:sp>
        <p:nvSpPr>
          <p:cNvPr id="105" name="TextBox 57">
            <a:extLst>
              <a:ext uri="{FF2B5EF4-FFF2-40B4-BE49-F238E27FC236}">
                <a16:creationId xmlns:a16="http://schemas.microsoft.com/office/drawing/2014/main" id="{6BCFEA92-1ECD-9894-96F9-72BEC26ADCD9}"/>
              </a:ext>
            </a:extLst>
          </p:cNvPr>
          <p:cNvSpPr txBox="1"/>
          <p:nvPr/>
        </p:nvSpPr>
        <p:spPr>
          <a:xfrm>
            <a:off x="4867275" y="8629650"/>
            <a:ext cx="1326380"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2</a:t>
            </a:r>
          </a:p>
        </p:txBody>
      </p:sp>
      <p:sp>
        <p:nvSpPr>
          <p:cNvPr id="106" name="TextBox 58">
            <a:extLst>
              <a:ext uri="{FF2B5EF4-FFF2-40B4-BE49-F238E27FC236}">
                <a16:creationId xmlns:a16="http://schemas.microsoft.com/office/drawing/2014/main" id="{4F740359-1400-8CF8-12AA-66EFCA837E55}"/>
              </a:ext>
            </a:extLst>
          </p:cNvPr>
          <p:cNvSpPr txBox="1"/>
          <p:nvPr/>
        </p:nvSpPr>
        <p:spPr>
          <a:xfrm>
            <a:off x="4867275" y="8896350"/>
            <a:ext cx="1295400"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Validate on the Ground</a:t>
            </a:r>
          </a:p>
        </p:txBody>
      </p:sp>
      <p:sp>
        <p:nvSpPr>
          <p:cNvPr id="107" name="TextBox 59">
            <a:extLst>
              <a:ext uri="{FF2B5EF4-FFF2-40B4-BE49-F238E27FC236}">
                <a16:creationId xmlns:a16="http://schemas.microsoft.com/office/drawing/2014/main" id="{863722B1-C04A-69FE-80C3-7647A8AFE1E1}"/>
              </a:ext>
            </a:extLst>
          </p:cNvPr>
          <p:cNvSpPr txBox="1"/>
          <p:nvPr/>
        </p:nvSpPr>
        <p:spPr>
          <a:xfrm>
            <a:off x="9420224" y="8629650"/>
            <a:ext cx="1174173"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3</a:t>
            </a:r>
          </a:p>
        </p:txBody>
      </p:sp>
      <p:sp>
        <p:nvSpPr>
          <p:cNvPr id="108" name="TextBox 60">
            <a:extLst>
              <a:ext uri="{FF2B5EF4-FFF2-40B4-BE49-F238E27FC236}">
                <a16:creationId xmlns:a16="http://schemas.microsoft.com/office/drawing/2014/main" id="{B604D931-6E6C-82FA-F361-5BB5D05DF559}"/>
              </a:ext>
            </a:extLst>
          </p:cNvPr>
          <p:cNvSpPr txBox="1"/>
          <p:nvPr/>
        </p:nvSpPr>
        <p:spPr>
          <a:xfrm>
            <a:off x="9420225" y="8896350"/>
            <a:ext cx="1352550"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Expand Across India</a:t>
            </a:r>
          </a:p>
        </p:txBody>
      </p:sp>
      <p:sp>
        <p:nvSpPr>
          <p:cNvPr id="109" name="TextBox 61">
            <a:extLst>
              <a:ext uri="{FF2B5EF4-FFF2-40B4-BE49-F238E27FC236}">
                <a16:creationId xmlns:a16="http://schemas.microsoft.com/office/drawing/2014/main" id="{CFFB8D09-F582-D0C1-5A81-85F7A4467FED}"/>
              </a:ext>
            </a:extLst>
          </p:cNvPr>
          <p:cNvSpPr txBox="1"/>
          <p:nvPr/>
        </p:nvSpPr>
        <p:spPr>
          <a:xfrm>
            <a:off x="13773150" y="8629650"/>
            <a:ext cx="1185045"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4</a:t>
            </a:r>
          </a:p>
        </p:txBody>
      </p:sp>
      <p:sp>
        <p:nvSpPr>
          <p:cNvPr id="110" name="TextBox 62">
            <a:extLst>
              <a:ext uri="{FF2B5EF4-FFF2-40B4-BE49-F238E27FC236}">
                <a16:creationId xmlns:a16="http://schemas.microsoft.com/office/drawing/2014/main" id="{7A8F200F-A836-4DF5-A9EC-E582ECE51DC2}"/>
              </a:ext>
            </a:extLst>
          </p:cNvPr>
          <p:cNvSpPr txBox="1"/>
          <p:nvPr/>
        </p:nvSpPr>
        <p:spPr>
          <a:xfrm>
            <a:off x="13773149" y="8915401"/>
            <a:ext cx="1438275" cy="613630"/>
          </a:xfrm>
          <a:prstGeom prst="rect">
            <a:avLst/>
          </a:prstGeom>
        </p:spPr>
        <p:txBody>
          <a:bodyPr wrap="square" lIns="0" tIns="0" rIns="0" bIns="0" rtlCol="0" anchor="t">
            <a:spAutoFit/>
          </a:bodyPr>
          <a:lstStyle/>
          <a:p>
            <a:pPr algn="l">
              <a:lnSpc>
                <a:spcPts val="2520"/>
              </a:lnSpc>
            </a:pPr>
            <a:r>
              <a:rPr lang="en-US" sz="1800" dirty="0">
                <a:solidFill>
                  <a:schemeClr val="accent4">
                    <a:lumMod val="50000"/>
                  </a:schemeClr>
                </a:solidFill>
                <a:latin typeface="Arial"/>
                <a:ea typeface="Arial"/>
                <a:cs typeface="Arial"/>
                <a:sym typeface="Arial"/>
              </a:rPr>
              <a:t>Scale Beyond Borders</a:t>
            </a:r>
          </a:p>
        </p:txBody>
      </p:sp>
      <p:sp>
        <p:nvSpPr>
          <p:cNvPr id="111" name="TextBox 63">
            <a:extLst>
              <a:ext uri="{FF2B5EF4-FFF2-40B4-BE49-F238E27FC236}">
                <a16:creationId xmlns:a16="http://schemas.microsoft.com/office/drawing/2014/main" id="{D92A55AE-518A-90F0-9D86-8C4C260F5773}"/>
              </a:ext>
            </a:extLst>
          </p:cNvPr>
          <p:cNvSpPr txBox="1"/>
          <p:nvPr/>
        </p:nvSpPr>
        <p:spPr>
          <a:xfrm>
            <a:off x="8077200" y="6896100"/>
            <a:ext cx="2171700" cy="292837"/>
          </a:xfrm>
          <a:prstGeom prst="rect">
            <a:avLst/>
          </a:prstGeom>
        </p:spPr>
        <p:txBody>
          <a:bodyPr wrap="square" lIns="0" tIns="0" rIns="0" bIns="0" rtlCol="0" anchor="t">
            <a:spAutoFit/>
          </a:bodyPr>
          <a:lstStyle/>
          <a:p>
            <a:pPr algn="ctr">
              <a:lnSpc>
                <a:spcPts val="2239"/>
              </a:lnSpc>
            </a:pPr>
            <a:r>
              <a:rPr lang="en-US" sz="2400" b="1" dirty="0">
                <a:solidFill>
                  <a:schemeClr val="accent4">
                    <a:lumMod val="50000"/>
                  </a:schemeClr>
                </a:solidFill>
                <a:latin typeface="+mj-lt"/>
                <a:ea typeface="Arial"/>
                <a:cs typeface="Arial"/>
                <a:sym typeface="Arial"/>
              </a:rPr>
              <a:t>Why It’s Feasible</a:t>
            </a:r>
          </a:p>
        </p:txBody>
      </p:sp>
      <p:sp>
        <p:nvSpPr>
          <p:cNvPr id="112" name="Freeform 64">
            <a:extLst>
              <a:ext uri="{FF2B5EF4-FFF2-40B4-BE49-F238E27FC236}">
                <a16:creationId xmlns:a16="http://schemas.microsoft.com/office/drawing/2014/main" id="{F6161312-C5AC-0CC5-993F-E260F277E340}"/>
              </a:ext>
            </a:extLst>
          </p:cNvPr>
          <p:cNvSpPr/>
          <p:nvPr/>
        </p:nvSpPr>
        <p:spPr>
          <a:xfrm>
            <a:off x="1952625" y="8353425"/>
            <a:ext cx="2047875" cy="1724025"/>
          </a:xfrm>
          <a:custGeom>
            <a:avLst/>
            <a:gdLst/>
            <a:ahLst/>
            <a:cxnLst/>
            <a:rect l="l" t="t" r="r" b="b"/>
            <a:pathLst>
              <a:path w="2047875" h="1724025">
                <a:moveTo>
                  <a:pt x="0" y="0"/>
                </a:moveTo>
                <a:lnTo>
                  <a:pt x="2047875" y="0"/>
                </a:lnTo>
                <a:lnTo>
                  <a:pt x="2047875" y="1724025"/>
                </a:lnTo>
                <a:lnTo>
                  <a:pt x="0" y="1724025"/>
                </a:lnTo>
                <a:lnTo>
                  <a:pt x="0" y="0"/>
                </a:lnTo>
                <a:close/>
              </a:path>
            </a:pathLst>
          </a:custGeom>
          <a:blipFill>
            <a:blip r:embed="rId30"/>
            <a:stretch>
              <a:fillRect l="-95348" t="-469613" r="-697674" b="-27071"/>
            </a:stretch>
          </a:blipFill>
        </p:spPr>
      </p:sp>
      <p:sp>
        <p:nvSpPr>
          <p:cNvPr id="113" name="Freeform 65">
            <a:extLst>
              <a:ext uri="{FF2B5EF4-FFF2-40B4-BE49-F238E27FC236}">
                <a16:creationId xmlns:a16="http://schemas.microsoft.com/office/drawing/2014/main" id="{32A138F3-6A23-363B-1D19-D9109DCC0A7C}"/>
              </a:ext>
            </a:extLst>
          </p:cNvPr>
          <p:cNvSpPr/>
          <p:nvPr/>
        </p:nvSpPr>
        <p:spPr>
          <a:xfrm>
            <a:off x="6362700" y="8353425"/>
            <a:ext cx="2352675" cy="1724025"/>
          </a:xfrm>
          <a:custGeom>
            <a:avLst/>
            <a:gdLst/>
            <a:ahLst/>
            <a:cxnLst/>
            <a:rect l="l" t="t" r="r" b="b"/>
            <a:pathLst>
              <a:path w="2352675" h="1724025">
                <a:moveTo>
                  <a:pt x="0" y="0"/>
                </a:moveTo>
                <a:lnTo>
                  <a:pt x="2352675" y="0"/>
                </a:lnTo>
                <a:lnTo>
                  <a:pt x="2352675" y="1724025"/>
                </a:lnTo>
                <a:lnTo>
                  <a:pt x="0" y="1724025"/>
                </a:lnTo>
                <a:lnTo>
                  <a:pt x="0" y="0"/>
                </a:lnTo>
                <a:close/>
              </a:path>
            </a:pathLst>
          </a:custGeom>
          <a:blipFill>
            <a:blip r:embed="rId30"/>
            <a:stretch>
              <a:fillRect l="-270445" t="-469613" r="-406882" b="-27071"/>
            </a:stretch>
          </a:blipFill>
        </p:spPr>
      </p:sp>
      <p:sp>
        <p:nvSpPr>
          <p:cNvPr id="114" name="Freeform 66">
            <a:extLst>
              <a:ext uri="{FF2B5EF4-FFF2-40B4-BE49-F238E27FC236}">
                <a16:creationId xmlns:a16="http://schemas.microsoft.com/office/drawing/2014/main" id="{A0B06811-0852-33ED-FF6C-8BF93EA8E457}"/>
              </a:ext>
            </a:extLst>
          </p:cNvPr>
          <p:cNvSpPr/>
          <p:nvPr/>
        </p:nvSpPr>
        <p:spPr>
          <a:xfrm>
            <a:off x="10877550" y="8353425"/>
            <a:ext cx="2171700" cy="1724025"/>
          </a:xfrm>
          <a:custGeom>
            <a:avLst/>
            <a:gdLst/>
            <a:ahLst/>
            <a:cxnLst/>
            <a:rect l="l" t="t" r="r" b="b"/>
            <a:pathLst>
              <a:path w="2171700" h="1724025">
                <a:moveTo>
                  <a:pt x="0" y="0"/>
                </a:moveTo>
                <a:lnTo>
                  <a:pt x="2171700" y="0"/>
                </a:lnTo>
                <a:lnTo>
                  <a:pt x="2171700" y="1724025"/>
                </a:lnTo>
                <a:lnTo>
                  <a:pt x="0" y="1724025"/>
                </a:lnTo>
                <a:lnTo>
                  <a:pt x="0" y="0"/>
                </a:lnTo>
                <a:close/>
              </a:path>
            </a:pathLst>
          </a:custGeom>
          <a:blipFill>
            <a:blip r:embed="rId30"/>
            <a:stretch>
              <a:fillRect l="-500877" t="-469613" r="-241228" b="-27071"/>
            </a:stretch>
          </a:blipFill>
        </p:spPr>
      </p:sp>
      <p:sp>
        <p:nvSpPr>
          <p:cNvPr id="115" name="Freeform 67">
            <a:extLst>
              <a:ext uri="{FF2B5EF4-FFF2-40B4-BE49-F238E27FC236}">
                <a16:creationId xmlns:a16="http://schemas.microsoft.com/office/drawing/2014/main" id="{15027C04-0547-39A6-7ADC-528AA78A78D5}"/>
              </a:ext>
            </a:extLst>
          </p:cNvPr>
          <p:cNvSpPr/>
          <p:nvPr/>
        </p:nvSpPr>
        <p:spPr>
          <a:xfrm>
            <a:off x="15240000" y="8353425"/>
            <a:ext cx="2381250" cy="1724025"/>
          </a:xfrm>
          <a:custGeom>
            <a:avLst/>
            <a:gdLst/>
            <a:ahLst/>
            <a:cxnLst/>
            <a:rect l="l" t="t" r="r" b="b"/>
            <a:pathLst>
              <a:path w="2381250" h="1724025">
                <a:moveTo>
                  <a:pt x="0" y="0"/>
                </a:moveTo>
                <a:lnTo>
                  <a:pt x="2381250" y="0"/>
                </a:lnTo>
                <a:lnTo>
                  <a:pt x="2381250" y="1724025"/>
                </a:lnTo>
                <a:lnTo>
                  <a:pt x="0" y="1724025"/>
                </a:lnTo>
                <a:lnTo>
                  <a:pt x="0" y="0"/>
                </a:lnTo>
                <a:close/>
              </a:path>
            </a:pathLst>
          </a:custGeom>
          <a:blipFill>
            <a:blip r:embed="rId30"/>
            <a:stretch>
              <a:fillRect l="-640000" t="-469613" r="-28000" b="-27071"/>
            </a:stretch>
          </a:blipFill>
        </p:spPr>
      </p:sp>
      <p:sp>
        <p:nvSpPr>
          <p:cNvPr id="116" name="AutoShape 68">
            <a:extLst>
              <a:ext uri="{FF2B5EF4-FFF2-40B4-BE49-F238E27FC236}">
                <a16:creationId xmlns:a16="http://schemas.microsoft.com/office/drawing/2014/main" id="{C52D9BFD-1825-1D14-D607-D2B38CCEC4FE}"/>
              </a:ext>
            </a:extLst>
          </p:cNvPr>
          <p:cNvSpPr/>
          <p:nvPr/>
        </p:nvSpPr>
        <p:spPr>
          <a:xfrm>
            <a:off x="4095750" y="9220200"/>
            <a:ext cx="381000" cy="0"/>
          </a:xfrm>
          <a:prstGeom prst="line">
            <a:avLst/>
          </a:prstGeom>
          <a:ln w="19050" cap="flat">
            <a:solidFill>
              <a:srgbClr val="6B62E0"/>
            </a:solidFill>
            <a:prstDash val="solid"/>
            <a:headEnd type="none" w="sm" len="sm"/>
            <a:tailEnd type="arrow" w="med" len="sm"/>
          </a:ln>
        </p:spPr>
      </p:sp>
      <p:sp>
        <p:nvSpPr>
          <p:cNvPr id="117" name="AutoShape 69">
            <a:extLst>
              <a:ext uri="{FF2B5EF4-FFF2-40B4-BE49-F238E27FC236}">
                <a16:creationId xmlns:a16="http://schemas.microsoft.com/office/drawing/2014/main" id="{A8E057E5-1C0F-0DC1-A931-5EAA42C2D4FF}"/>
              </a:ext>
            </a:extLst>
          </p:cNvPr>
          <p:cNvSpPr/>
          <p:nvPr/>
        </p:nvSpPr>
        <p:spPr>
          <a:xfrm>
            <a:off x="8705850" y="9220200"/>
            <a:ext cx="342900" cy="0"/>
          </a:xfrm>
          <a:prstGeom prst="line">
            <a:avLst/>
          </a:prstGeom>
          <a:ln w="19050" cap="flat">
            <a:solidFill>
              <a:srgbClr val="6B62E0"/>
            </a:solidFill>
            <a:prstDash val="solid"/>
            <a:headEnd type="none" w="sm" len="sm"/>
            <a:tailEnd type="arrow" w="med" len="sm"/>
          </a:ln>
        </p:spPr>
      </p:sp>
      <p:sp>
        <p:nvSpPr>
          <p:cNvPr id="118" name="AutoShape 70">
            <a:extLst>
              <a:ext uri="{FF2B5EF4-FFF2-40B4-BE49-F238E27FC236}">
                <a16:creationId xmlns:a16="http://schemas.microsoft.com/office/drawing/2014/main" id="{0E85B18C-5265-7AB3-E62E-F75E28D21C60}"/>
              </a:ext>
            </a:extLst>
          </p:cNvPr>
          <p:cNvSpPr/>
          <p:nvPr/>
        </p:nvSpPr>
        <p:spPr>
          <a:xfrm>
            <a:off x="13144500" y="9220200"/>
            <a:ext cx="285750" cy="0"/>
          </a:xfrm>
          <a:prstGeom prst="line">
            <a:avLst/>
          </a:prstGeom>
          <a:ln w="19050" cap="flat">
            <a:solidFill>
              <a:srgbClr val="6B62E0"/>
            </a:solidFill>
            <a:prstDash val="solid"/>
            <a:headEnd type="none" w="sm" len="sm"/>
            <a:tailEnd type="arrow" w="med" len="sm"/>
          </a:ln>
        </p:spPr>
      </p:sp>
      <p:sp>
        <p:nvSpPr>
          <p:cNvPr id="120" name="TextBox 119">
            <a:extLst>
              <a:ext uri="{FF2B5EF4-FFF2-40B4-BE49-F238E27FC236}">
                <a16:creationId xmlns:a16="http://schemas.microsoft.com/office/drawing/2014/main" id="{3C47EC67-3230-3CEE-FC01-9C02EEE91798}"/>
              </a:ext>
            </a:extLst>
          </p:cNvPr>
          <p:cNvSpPr txBox="1"/>
          <p:nvPr/>
        </p:nvSpPr>
        <p:spPr>
          <a:xfrm>
            <a:off x="4447448" y="1257300"/>
            <a:ext cx="9144000" cy="830997"/>
          </a:xfrm>
          <a:prstGeom prst="rect">
            <a:avLst/>
          </a:prstGeom>
          <a:noFill/>
        </p:spPr>
        <p:txBody>
          <a:bodyPr wrap="square">
            <a:spAutoFit/>
          </a:bodyPr>
          <a:lstStyle/>
          <a:p>
            <a:pPr algn="ctr"/>
            <a:r>
              <a:rPr lang="en-US" sz="4800" b="1" dirty="0">
                <a:latin typeface="League Spartan"/>
                <a:ea typeface="League Spartan"/>
                <a:cs typeface="League Spartan"/>
                <a:sym typeface="League Spartan"/>
              </a:rPr>
              <a:t>TARGET INDUSTRY &amp; FEASIBILITY</a:t>
            </a:r>
          </a:p>
        </p:txBody>
      </p:sp>
    </p:spTree>
    <p:extLst>
      <p:ext uri="{BB962C8B-B14F-4D97-AF65-F5344CB8AC3E}">
        <p14:creationId xmlns:p14="http://schemas.microsoft.com/office/powerpoint/2010/main" val="3337972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2">
            <a:extLst>
              <a:ext uri="{FF2B5EF4-FFF2-40B4-BE49-F238E27FC236}">
                <a16:creationId xmlns:a16="http://schemas.microsoft.com/office/drawing/2014/main" id="{64CF058D-84C9-9B0A-7287-0908453C99C8}"/>
              </a:ext>
            </a:extLst>
          </p:cNvPr>
          <p:cNvGrpSpPr/>
          <p:nvPr/>
        </p:nvGrpSpPr>
        <p:grpSpPr>
          <a:xfrm>
            <a:off x="526" y="10805"/>
            <a:ext cx="18288000" cy="10287000"/>
            <a:chOff x="-359130" y="-468994"/>
            <a:chExt cx="24384000" cy="13716000"/>
          </a:xfrm>
        </p:grpSpPr>
        <p:sp>
          <p:nvSpPr>
            <p:cNvPr id="81" name="Freeform 3" descr="A bright light in a room  AI-generated content may be incorrect.">
              <a:extLst>
                <a:ext uri="{FF2B5EF4-FFF2-40B4-BE49-F238E27FC236}">
                  <a16:creationId xmlns:a16="http://schemas.microsoft.com/office/drawing/2014/main" id="{FC38739B-AB17-BFC2-50FD-D9055A0DCEAF}"/>
                </a:ext>
              </a:extLst>
            </p:cNvPr>
            <p:cNvSpPr/>
            <p:nvPr/>
          </p:nvSpPr>
          <p:spPr>
            <a:xfrm>
              <a:off x="-359130" y="-468994"/>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82" name="Group 4">
            <a:extLst>
              <a:ext uri="{FF2B5EF4-FFF2-40B4-BE49-F238E27FC236}">
                <a16:creationId xmlns:a16="http://schemas.microsoft.com/office/drawing/2014/main" id="{9356E35D-B91B-E116-2A54-42D80E0B22ED}"/>
              </a:ext>
            </a:extLst>
          </p:cNvPr>
          <p:cNvGrpSpPr/>
          <p:nvPr/>
        </p:nvGrpSpPr>
        <p:grpSpPr>
          <a:xfrm>
            <a:off x="5781894" y="-15583"/>
            <a:ext cx="1451134" cy="1408748"/>
            <a:chOff x="0" y="0"/>
            <a:chExt cx="1934845" cy="1878330"/>
          </a:xfrm>
        </p:grpSpPr>
        <p:sp>
          <p:nvSpPr>
            <p:cNvPr id="83" name="Freeform 5">
              <a:extLst>
                <a:ext uri="{FF2B5EF4-FFF2-40B4-BE49-F238E27FC236}">
                  <a16:creationId xmlns:a16="http://schemas.microsoft.com/office/drawing/2014/main" id="{B250AF27-6D5A-48CA-5673-8C2DBC4252BB}"/>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a:p>
          </p:txBody>
        </p:sp>
      </p:grpSp>
      <p:grpSp>
        <p:nvGrpSpPr>
          <p:cNvPr id="84" name="Group 6">
            <a:extLst>
              <a:ext uri="{FF2B5EF4-FFF2-40B4-BE49-F238E27FC236}">
                <a16:creationId xmlns:a16="http://schemas.microsoft.com/office/drawing/2014/main" id="{837B262E-1BB6-0BCA-E023-D363118B073F}"/>
              </a:ext>
            </a:extLst>
          </p:cNvPr>
          <p:cNvGrpSpPr/>
          <p:nvPr/>
        </p:nvGrpSpPr>
        <p:grpSpPr>
          <a:xfrm>
            <a:off x="7042575" y="450590"/>
            <a:ext cx="4053078" cy="1175271"/>
            <a:chOff x="0" y="0"/>
            <a:chExt cx="5404104" cy="1567028"/>
          </a:xfrm>
        </p:grpSpPr>
        <p:sp>
          <p:nvSpPr>
            <p:cNvPr id="85" name="Freeform 7">
              <a:extLst>
                <a:ext uri="{FF2B5EF4-FFF2-40B4-BE49-F238E27FC236}">
                  <a16:creationId xmlns:a16="http://schemas.microsoft.com/office/drawing/2014/main" id="{F010DF8D-1AFC-E6C4-0DA3-4A1AEE982A7F}"/>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5"/>
              <a:stretch>
                <a:fillRect t="-34478" b="-34478"/>
              </a:stretch>
            </a:blipFill>
          </p:spPr>
          <p:txBody>
            <a:bodyPr/>
            <a:lstStyle/>
            <a:p>
              <a:endParaRPr lang="en-IN"/>
            </a:p>
          </p:txBody>
        </p:sp>
      </p:grpSp>
      <p:sp>
        <p:nvSpPr>
          <p:cNvPr id="89" name="TextBox 3">
            <a:extLst>
              <a:ext uri="{FF2B5EF4-FFF2-40B4-BE49-F238E27FC236}">
                <a16:creationId xmlns:a16="http://schemas.microsoft.com/office/drawing/2014/main" id="{3539C81C-2A16-A187-6CDB-2F1661ED3330}"/>
              </a:ext>
            </a:extLst>
          </p:cNvPr>
          <p:cNvSpPr txBox="1"/>
          <p:nvPr/>
        </p:nvSpPr>
        <p:spPr>
          <a:xfrm>
            <a:off x="4315968" y="2208037"/>
            <a:ext cx="9656064" cy="520592"/>
          </a:xfrm>
          <a:prstGeom prst="rect">
            <a:avLst/>
          </a:prstGeom>
        </p:spPr>
        <p:txBody>
          <a:bodyPr lIns="0" tIns="0" rIns="0" bIns="0" rtlCol="0" anchor="t">
            <a:spAutoFit/>
          </a:bodyPr>
          <a:lstStyle/>
          <a:p>
            <a:pPr algn="ctr">
              <a:lnSpc>
                <a:spcPts val="4469"/>
              </a:lnSpc>
            </a:pPr>
            <a:r>
              <a:rPr lang="en-US" sz="2800" b="1" dirty="0">
                <a:latin typeface="Montserrat Bold"/>
                <a:ea typeface="Montserrat Bold"/>
                <a:cs typeface="Montserrat Bold"/>
                <a:sym typeface="Montserrat Bold"/>
              </a:rPr>
              <a:t>USP — WE DON’T JUST DETECT.</a:t>
            </a:r>
          </a:p>
        </p:txBody>
      </p:sp>
      <p:sp>
        <p:nvSpPr>
          <p:cNvPr id="90" name="TextBox 4">
            <a:extLst>
              <a:ext uri="{FF2B5EF4-FFF2-40B4-BE49-F238E27FC236}">
                <a16:creationId xmlns:a16="http://schemas.microsoft.com/office/drawing/2014/main" id="{E5D264CF-AC32-7CE3-4793-BC865C536648}"/>
              </a:ext>
            </a:extLst>
          </p:cNvPr>
          <p:cNvSpPr txBox="1"/>
          <p:nvPr/>
        </p:nvSpPr>
        <p:spPr>
          <a:xfrm>
            <a:off x="2994074" y="1511393"/>
            <a:ext cx="12399264" cy="790039"/>
          </a:xfrm>
          <a:prstGeom prst="rect">
            <a:avLst/>
          </a:prstGeom>
        </p:spPr>
        <p:txBody>
          <a:bodyPr lIns="0" tIns="0" rIns="0" bIns="0" rtlCol="0" anchor="t">
            <a:spAutoFit/>
          </a:bodyPr>
          <a:lstStyle/>
          <a:p>
            <a:pPr algn="ctr">
              <a:lnSpc>
                <a:spcPts val="5978"/>
              </a:lnSpc>
            </a:pPr>
            <a:r>
              <a:rPr lang="en-US" sz="5978" b="1" dirty="0">
                <a:latin typeface="Montserrat Bold"/>
                <a:ea typeface="Montserrat Bold"/>
                <a:cs typeface="Montserrat Bold"/>
                <a:sym typeface="Montserrat Bold"/>
              </a:rPr>
              <a:t>WE PREDICT THE NEXT MOVE.</a:t>
            </a:r>
          </a:p>
        </p:txBody>
      </p:sp>
      <p:sp>
        <p:nvSpPr>
          <p:cNvPr id="91" name="TextBox 5">
            <a:extLst>
              <a:ext uri="{FF2B5EF4-FFF2-40B4-BE49-F238E27FC236}">
                <a16:creationId xmlns:a16="http://schemas.microsoft.com/office/drawing/2014/main" id="{DA698FFF-CBAF-B5C3-15C7-5BBED02BB04A}"/>
              </a:ext>
            </a:extLst>
          </p:cNvPr>
          <p:cNvSpPr txBox="1"/>
          <p:nvPr/>
        </p:nvSpPr>
        <p:spPr>
          <a:xfrm>
            <a:off x="2798064" y="2801458"/>
            <a:ext cx="12765024" cy="260136"/>
          </a:xfrm>
          <a:prstGeom prst="rect">
            <a:avLst/>
          </a:prstGeom>
        </p:spPr>
        <p:txBody>
          <a:bodyPr wrap="square" lIns="0" tIns="0" rIns="0" bIns="0" rtlCol="0" anchor="t">
            <a:spAutoFit/>
          </a:bodyPr>
          <a:lstStyle/>
          <a:p>
            <a:pPr algn="ctr">
              <a:lnSpc>
                <a:spcPts val="2002"/>
              </a:lnSpc>
            </a:pPr>
            <a:r>
              <a:rPr lang="en-US" sz="2002" b="1" dirty="0">
                <a:latin typeface="Montserrat Semi-Bold"/>
                <a:ea typeface="Montserrat Semi-Bold"/>
                <a:cs typeface="Montserrat Semi-Bold"/>
                <a:sym typeface="Montserrat Semi-Bold"/>
              </a:rPr>
              <a:t>From observing potential marine-debris hotspots to forecasting where the risk may move next.</a:t>
            </a:r>
          </a:p>
        </p:txBody>
      </p:sp>
      <p:sp>
        <p:nvSpPr>
          <p:cNvPr id="92" name="Freeform 6">
            <a:extLst>
              <a:ext uri="{FF2B5EF4-FFF2-40B4-BE49-F238E27FC236}">
                <a16:creationId xmlns:a16="http://schemas.microsoft.com/office/drawing/2014/main" id="{C3ADD49C-7E54-378A-B5B0-AF456C928B58}"/>
              </a:ext>
            </a:extLst>
          </p:cNvPr>
          <p:cNvSpPr/>
          <p:nvPr/>
        </p:nvSpPr>
        <p:spPr>
          <a:xfrm>
            <a:off x="1135556" y="3365877"/>
            <a:ext cx="16116300" cy="219075"/>
          </a:xfrm>
          <a:custGeom>
            <a:avLst/>
            <a:gdLst/>
            <a:ahLst/>
            <a:cxnLst/>
            <a:rect l="l" t="t" r="r" b="b"/>
            <a:pathLst>
              <a:path w="16116300" h="219075">
                <a:moveTo>
                  <a:pt x="0" y="0"/>
                </a:moveTo>
                <a:lnTo>
                  <a:pt x="16116300" y="0"/>
                </a:lnTo>
                <a:lnTo>
                  <a:pt x="16116300" y="219075"/>
                </a:lnTo>
                <a:lnTo>
                  <a:pt x="0" y="219075"/>
                </a:lnTo>
                <a:lnTo>
                  <a:pt x="0" y="0"/>
                </a:lnTo>
                <a:close/>
              </a:path>
            </a:pathLst>
          </a:custGeom>
          <a:blipFill>
            <a:blip r:embed="rId6"/>
            <a:stretch>
              <a:fillRect/>
            </a:stretch>
          </a:blipFill>
        </p:spPr>
      </p:sp>
      <p:sp>
        <p:nvSpPr>
          <p:cNvPr id="93" name="TextBox 7">
            <a:extLst>
              <a:ext uri="{FF2B5EF4-FFF2-40B4-BE49-F238E27FC236}">
                <a16:creationId xmlns:a16="http://schemas.microsoft.com/office/drawing/2014/main" id="{F2924A29-785A-8B5F-1DD6-ABE15375148A}"/>
              </a:ext>
            </a:extLst>
          </p:cNvPr>
          <p:cNvSpPr txBox="1"/>
          <p:nvPr/>
        </p:nvSpPr>
        <p:spPr>
          <a:xfrm>
            <a:off x="5290188" y="3235651"/>
            <a:ext cx="6852578" cy="236475"/>
          </a:xfrm>
          <a:prstGeom prst="rect">
            <a:avLst/>
          </a:prstGeom>
        </p:spPr>
        <p:txBody>
          <a:bodyPr wrap="square" lIns="0" tIns="0" rIns="0" bIns="0" rtlCol="0" anchor="t">
            <a:spAutoFit/>
          </a:bodyPr>
          <a:lstStyle/>
          <a:p>
            <a:pPr algn="ctr">
              <a:lnSpc>
                <a:spcPts val="1762"/>
              </a:lnSpc>
            </a:pPr>
            <a:r>
              <a:rPr lang="en-US" sz="2000" b="1" spc="88" dirty="0">
                <a:solidFill>
                  <a:schemeClr val="accent4"/>
                </a:solidFill>
                <a:latin typeface="Montserrat Bold"/>
                <a:ea typeface="Montserrat Bold"/>
                <a:cs typeface="Montserrat Bold"/>
                <a:sym typeface="Montserrat Bold"/>
              </a:rPr>
              <a:t>WHAT MAKES AQUATRACE AI DIFFERENT?</a:t>
            </a:r>
          </a:p>
        </p:txBody>
      </p:sp>
      <p:sp>
        <p:nvSpPr>
          <p:cNvPr id="94" name="Freeform 8">
            <a:extLst>
              <a:ext uri="{FF2B5EF4-FFF2-40B4-BE49-F238E27FC236}">
                <a16:creationId xmlns:a16="http://schemas.microsoft.com/office/drawing/2014/main" id="{F4420B37-D673-B557-6B38-E754DB01E387}"/>
              </a:ext>
            </a:extLst>
          </p:cNvPr>
          <p:cNvSpPr/>
          <p:nvPr/>
        </p:nvSpPr>
        <p:spPr>
          <a:xfrm>
            <a:off x="1085850"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7"/>
            <a:stretch>
              <a:fillRect/>
            </a:stretch>
          </a:blipFill>
        </p:spPr>
      </p:sp>
      <p:sp>
        <p:nvSpPr>
          <p:cNvPr id="95" name="TextBox 9">
            <a:extLst>
              <a:ext uri="{FF2B5EF4-FFF2-40B4-BE49-F238E27FC236}">
                <a16:creationId xmlns:a16="http://schemas.microsoft.com/office/drawing/2014/main" id="{4348C653-5513-D21B-4027-6AD9C64AFBEE}"/>
              </a:ext>
            </a:extLst>
          </p:cNvPr>
          <p:cNvSpPr txBox="1"/>
          <p:nvPr/>
        </p:nvSpPr>
        <p:spPr>
          <a:xfrm>
            <a:off x="1828799" y="3898492"/>
            <a:ext cx="943737" cy="637595"/>
          </a:xfrm>
          <a:prstGeom prst="rect">
            <a:avLst/>
          </a:prstGeom>
        </p:spPr>
        <p:txBody>
          <a:bodyPr wrap="square" lIns="0" tIns="0" rIns="0" bIns="0" rtlCol="0" anchor="t">
            <a:spAutoFit/>
          </a:bodyPr>
          <a:lstStyle/>
          <a:p>
            <a:pPr algn="l">
              <a:lnSpc>
                <a:spcPts val="4852"/>
              </a:lnSpc>
            </a:pPr>
            <a:r>
              <a:rPr lang="en-US" sz="4852" b="1" dirty="0">
                <a:solidFill>
                  <a:srgbClr val="00FFFF"/>
                </a:solidFill>
                <a:latin typeface="Montserrat Bold"/>
                <a:ea typeface="Montserrat Bold"/>
                <a:cs typeface="Montserrat Bold"/>
                <a:sym typeface="Montserrat Bold"/>
              </a:rPr>
              <a:t>01</a:t>
            </a:r>
          </a:p>
        </p:txBody>
      </p:sp>
      <p:sp>
        <p:nvSpPr>
          <p:cNvPr id="96" name="TextBox 10">
            <a:extLst>
              <a:ext uri="{FF2B5EF4-FFF2-40B4-BE49-F238E27FC236}">
                <a16:creationId xmlns:a16="http://schemas.microsoft.com/office/drawing/2014/main" id="{4EB79CED-DB7F-2EB1-9935-9BCD7DF8B71C}"/>
              </a:ext>
            </a:extLst>
          </p:cNvPr>
          <p:cNvSpPr txBox="1"/>
          <p:nvPr/>
        </p:nvSpPr>
        <p:spPr>
          <a:xfrm>
            <a:off x="1792224" y="4794025"/>
            <a:ext cx="2962656"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MULTIMODAL FUSION</a:t>
            </a:r>
          </a:p>
        </p:txBody>
      </p:sp>
      <p:sp>
        <p:nvSpPr>
          <p:cNvPr id="97" name="TextBox 11">
            <a:extLst>
              <a:ext uri="{FF2B5EF4-FFF2-40B4-BE49-F238E27FC236}">
                <a16:creationId xmlns:a16="http://schemas.microsoft.com/office/drawing/2014/main" id="{821652AE-03E4-FEEB-70CF-FB50214A4FE3}"/>
              </a:ext>
            </a:extLst>
          </p:cNvPr>
          <p:cNvSpPr txBox="1"/>
          <p:nvPr/>
        </p:nvSpPr>
        <p:spPr>
          <a:xfrm>
            <a:off x="1792224" y="5511207"/>
            <a:ext cx="2852928" cy="654025"/>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Combine multiple Earth-system data sources instead of relying on a single observation.</a:t>
            </a:r>
          </a:p>
        </p:txBody>
      </p:sp>
      <p:sp>
        <p:nvSpPr>
          <p:cNvPr id="98" name="Freeform 12">
            <a:extLst>
              <a:ext uri="{FF2B5EF4-FFF2-40B4-BE49-F238E27FC236}">
                <a16:creationId xmlns:a16="http://schemas.microsoft.com/office/drawing/2014/main" id="{5EF7F68A-45B3-9028-3CB3-7659AD4DE9A1}"/>
              </a:ext>
            </a:extLst>
          </p:cNvPr>
          <p:cNvSpPr/>
          <p:nvPr/>
        </p:nvSpPr>
        <p:spPr>
          <a:xfrm>
            <a:off x="3048000" y="3724275"/>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sp>
      <p:sp>
        <p:nvSpPr>
          <p:cNvPr id="99" name="Freeform 13">
            <a:extLst>
              <a:ext uri="{FF2B5EF4-FFF2-40B4-BE49-F238E27FC236}">
                <a16:creationId xmlns:a16="http://schemas.microsoft.com/office/drawing/2014/main" id="{67EE42BD-7CCC-6A71-7A64-F3F38198317B}"/>
              </a:ext>
            </a:extLst>
          </p:cNvPr>
          <p:cNvSpPr/>
          <p:nvPr/>
        </p:nvSpPr>
        <p:spPr>
          <a:xfrm>
            <a:off x="500062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9"/>
            <a:stretch>
              <a:fillRect/>
            </a:stretch>
          </a:blipFill>
        </p:spPr>
      </p:sp>
      <p:sp>
        <p:nvSpPr>
          <p:cNvPr id="100" name="TextBox 14">
            <a:extLst>
              <a:ext uri="{FF2B5EF4-FFF2-40B4-BE49-F238E27FC236}">
                <a16:creationId xmlns:a16="http://schemas.microsoft.com/office/drawing/2014/main" id="{9B021AE7-A87E-BAF6-06F6-77E1581BD2F7}"/>
              </a:ext>
            </a:extLst>
          </p:cNvPr>
          <p:cNvSpPr txBox="1"/>
          <p:nvPr/>
        </p:nvSpPr>
        <p:spPr>
          <a:xfrm>
            <a:off x="5504688" y="3896735"/>
            <a:ext cx="859536" cy="641201"/>
          </a:xfrm>
          <a:prstGeom prst="rect">
            <a:avLst/>
          </a:prstGeom>
        </p:spPr>
        <p:txBody>
          <a:bodyPr wrap="square" lIns="0" tIns="0" rIns="0" bIns="0" rtlCol="0" anchor="t">
            <a:spAutoFit/>
          </a:bodyPr>
          <a:lstStyle/>
          <a:p>
            <a:pPr algn="l">
              <a:lnSpc>
                <a:spcPts val="4990"/>
              </a:lnSpc>
            </a:pPr>
            <a:r>
              <a:rPr lang="en-US" sz="4990" b="1" dirty="0">
                <a:solidFill>
                  <a:srgbClr val="00FFFF"/>
                </a:solidFill>
                <a:latin typeface="Montserrat Bold"/>
                <a:ea typeface="Montserrat Bold"/>
                <a:cs typeface="Montserrat Bold"/>
                <a:sym typeface="Montserrat Bold"/>
              </a:rPr>
              <a:t>02</a:t>
            </a:r>
          </a:p>
        </p:txBody>
      </p:sp>
      <p:sp>
        <p:nvSpPr>
          <p:cNvPr id="101" name="TextBox 15">
            <a:extLst>
              <a:ext uri="{FF2B5EF4-FFF2-40B4-BE49-F238E27FC236}">
                <a16:creationId xmlns:a16="http://schemas.microsoft.com/office/drawing/2014/main" id="{87A0ADA7-BAE8-ED95-9A1D-F1BBAE06EE51}"/>
              </a:ext>
            </a:extLst>
          </p:cNvPr>
          <p:cNvSpPr txBox="1"/>
          <p:nvPr/>
        </p:nvSpPr>
        <p:spPr>
          <a:xfrm>
            <a:off x="6144768" y="4794025"/>
            <a:ext cx="1737360"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PREDICTIVE</a:t>
            </a:r>
          </a:p>
        </p:txBody>
      </p:sp>
      <p:sp>
        <p:nvSpPr>
          <p:cNvPr id="102" name="TextBox 16">
            <a:extLst>
              <a:ext uri="{FF2B5EF4-FFF2-40B4-BE49-F238E27FC236}">
                <a16:creationId xmlns:a16="http://schemas.microsoft.com/office/drawing/2014/main" id="{E468B80B-DA20-869C-FD30-A026217123C8}"/>
              </a:ext>
            </a:extLst>
          </p:cNvPr>
          <p:cNvSpPr txBox="1"/>
          <p:nvPr/>
        </p:nvSpPr>
        <p:spPr>
          <a:xfrm>
            <a:off x="5910072" y="5511207"/>
            <a:ext cx="2395728" cy="654025"/>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Move beyond identifying a hotspot to estimating its likely future trajectory.</a:t>
            </a:r>
          </a:p>
        </p:txBody>
      </p:sp>
      <p:sp>
        <p:nvSpPr>
          <p:cNvPr id="103" name="Freeform 17">
            <a:extLst>
              <a:ext uri="{FF2B5EF4-FFF2-40B4-BE49-F238E27FC236}">
                <a16:creationId xmlns:a16="http://schemas.microsoft.com/office/drawing/2014/main" id="{2E9E69E2-1A56-3E14-917C-D16E0B20BE64}"/>
              </a:ext>
            </a:extLst>
          </p:cNvPr>
          <p:cNvSpPr/>
          <p:nvPr/>
        </p:nvSpPr>
        <p:spPr>
          <a:xfrm>
            <a:off x="6743700" y="3724275"/>
            <a:ext cx="1971675" cy="1076325"/>
          </a:xfrm>
          <a:custGeom>
            <a:avLst/>
            <a:gdLst/>
            <a:ahLst/>
            <a:cxnLst/>
            <a:rect l="l" t="t" r="r" b="b"/>
            <a:pathLst>
              <a:path w="1971675" h="1076325">
                <a:moveTo>
                  <a:pt x="0" y="0"/>
                </a:moveTo>
                <a:lnTo>
                  <a:pt x="1971675" y="0"/>
                </a:lnTo>
                <a:lnTo>
                  <a:pt x="1971675" y="1076325"/>
                </a:lnTo>
                <a:lnTo>
                  <a:pt x="0" y="1076325"/>
                </a:lnTo>
                <a:lnTo>
                  <a:pt x="0" y="0"/>
                </a:lnTo>
                <a:close/>
              </a:path>
            </a:pathLst>
          </a:custGeom>
          <a:blipFill>
            <a:blip r:embed="rId10"/>
            <a:stretch>
              <a:fillRect/>
            </a:stretch>
          </a:blipFill>
        </p:spPr>
      </p:sp>
      <p:sp>
        <p:nvSpPr>
          <p:cNvPr id="104" name="Freeform 18">
            <a:extLst>
              <a:ext uri="{FF2B5EF4-FFF2-40B4-BE49-F238E27FC236}">
                <a16:creationId xmlns:a16="http://schemas.microsoft.com/office/drawing/2014/main" id="{F8FFD43E-A864-272C-C44D-B7292E3C4356}"/>
              </a:ext>
            </a:extLst>
          </p:cNvPr>
          <p:cNvSpPr/>
          <p:nvPr/>
        </p:nvSpPr>
        <p:spPr>
          <a:xfrm>
            <a:off x="892492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11"/>
            <a:stretch>
              <a:fillRect/>
            </a:stretch>
          </a:blipFill>
        </p:spPr>
      </p:sp>
      <p:sp>
        <p:nvSpPr>
          <p:cNvPr id="105" name="TextBox 19">
            <a:extLst>
              <a:ext uri="{FF2B5EF4-FFF2-40B4-BE49-F238E27FC236}">
                <a16:creationId xmlns:a16="http://schemas.microsoft.com/office/drawing/2014/main" id="{AAA80886-57AF-B6D8-0752-A1C1A665B70B}"/>
              </a:ext>
            </a:extLst>
          </p:cNvPr>
          <p:cNvSpPr txBox="1"/>
          <p:nvPr/>
        </p:nvSpPr>
        <p:spPr>
          <a:xfrm>
            <a:off x="9619487" y="3896736"/>
            <a:ext cx="1024509" cy="650632"/>
          </a:xfrm>
          <a:prstGeom prst="rect">
            <a:avLst/>
          </a:prstGeom>
        </p:spPr>
        <p:txBody>
          <a:bodyPr wrap="square" lIns="0" tIns="0" rIns="0" bIns="0" rtlCol="0" anchor="t">
            <a:spAutoFit/>
          </a:bodyPr>
          <a:lstStyle/>
          <a:p>
            <a:pPr algn="l">
              <a:lnSpc>
                <a:spcPts val="4990"/>
              </a:lnSpc>
            </a:pPr>
            <a:r>
              <a:rPr lang="en-US" sz="4990" b="1" dirty="0">
                <a:solidFill>
                  <a:srgbClr val="00FFFF"/>
                </a:solidFill>
                <a:latin typeface="Montserrat Bold"/>
                <a:ea typeface="Montserrat Bold"/>
                <a:cs typeface="Montserrat Bold"/>
                <a:sym typeface="Montserrat Bold"/>
              </a:rPr>
              <a:t>03</a:t>
            </a:r>
          </a:p>
        </p:txBody>
      </p:sp>
      <p:sp>
        <p:nvSpPr>
          <p:cNvPr id="106" name="TextBox 20">
            <a:extLst>
              <a:ext uri="{FF2B5EF4-FFF2-40B4-BE49-F238E27FC236}">
                <a16:creationId xmlns:a16="http://schemas.microsoft.com/office/drawing/2014/main" id="{8BCA96CC-BF17-6A4F-1949-E01F3F2E4F46}"/>
              </a:ext>
            </a:extLst>
          </p:cNvPr>
          <p:cNvSpPr txBox="1"/>
          <p:nvPr/>
        </p:nvSpPr>
        <p:spPr>
          <a:xfrm>
            <a:off x="10113264" y="4732303"/>
            <a:ext cx="1810512"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ACTIONABLE</a:t>
            </a:r>
          </a:p>
        </p:txBody>
      </p:sp>
      <p:sp>
        <p:nvSpPr>
          <p:cNvPr id="107" name="TextBox 21">
            <a:extLst>
              <a:ext uri="{FF2B5EF4-FFF2-40B4-BE49-F238E27FC236}">
                <a16:creationId xmlns:a16="http://schemas.microsoft.com/office/drawing/2014/main" id="{9B16DAB8-921D-9BC1-62FB-2563B592042A}"/>
              </a:ext>
            </a:extLst>
          </p:cNvPr>
          <p:cNvSpPr txBox="1"/>
          <p:nvPr/>
        </p:nvSpPr>
        <p:spPr>
          <a:xfrm>
            <a:off x="9930384" y="5065966"/>
            <a:ext cx="2157984" cy="436017"/>
          </a:xfrm>
          <a:prstGeom prst="rect">
            <a:avLst/>
          </a:prstGeom>
        </p:spPr>
        <p:txBody>
          <a:bodyPr lIns="0" tIns="0" rIns="0" bIns="0" rtlCol="0" anchor="t">
            <a:spAutoFit/>
          </a:bodyPr>
          <a:lstStyle/>
          <a:p>
            <a:pPr algn="ctr">
              <a:lnSpc>
                <a:spcPts val="1679"/>
              </a:lnSpc>
            </a:pPr>
            <a:r>
              <a:rPr lang="en-US" sz="1500" b="1">
                <a:solidFill>
                  <a:srgbClr val="00FFFF"/>
                </a:solidFill>
                <a:latin typeface="Montserrat Semi-Bold"/>
                <a:ea typeface="Montserrat Semi-Bold"/>
                <a:cs typeface="Montserrat Semi-Bold"/>
                <a:sym typeface="Montserrat Semi-Bold"/>
              </a:rPr>
              <a:t>Forecast → Risk Score → Cleanup Priority</a:t>
            </a:r>
          </a:p>
        </p:txBody>
      </p:sp>
      <p:sp>
        <p:nvSpPr>
          <p:cNvPr id="108" name="TextBox 22">
            <a:extLst>
              <a:ext uri="{FF2B5EF4-FFF2-40B4-BE49-F238E27FC236}">
                <a16:creationId xmlns:a16="http://schemas.microsoft.com/office/drawing/2014/main" id="{0AC01A33-8BD8-2357-6D0E-E3062299BB42}"/>
              </a:ext>
            </a:extLst>
          </p:cNvPr>
          <p:cNvSpPr txBox="1"/>
          <p:nvPr/>
        </p:nvSpPr>
        <p:spPr>
          <a:xfrm>
            <a:off x="9710928" y="5561582"/>
            <a:ext cx="2633472" cy="654025"/>
          </a:xfrm>
          <a:prstGeom prst="rect">
            <a:avLst/>
          </a:prstGeom>
        </p:spPr>
        <p:txBody>
          <a:bodyPr lIns="0" tIns="0" rIns="0" bIns="0" rtlCol="0" anchor="t">
            <a:spAutoFit/>
          </a:bodyPr>
          <a:lstStyle/>
          <a:p>
            <a:pPr algn="ctr">
              <a:lnSpc>
                <a:spcPts val="1663"/>
              </a:lnSpc>
            </a:pPr>
            <a:r>
              <a:rPr lang="en-US" sz="1500" b="1" dirty="0">
                <a:solidFill>
                  <a:srgbClr val="FFFFFF"/>
                </a:solidFill>
                <a:latin typeface="Montserrat Semi-Bold"/>
                <a:ea typeface="Montserrat Semi-Bold"/>
                <a:cs typeface="Montserrat Semi-Bold"/>
                <a:sym typeface="Montserrat Semi-Bold"/>
              </a:rPr>
              <a:t>Convert technical observations into a decision-support output for cleanup teams.</a:t>
            </a:r>
          </a:p>
        </p:txBody>
      </p:sp>
      <p:sp>
        <p:nvSpPr>
          <p:cNvPr id="109" name="Freeform 23">
            <a:extLst>
              <a:ext uri="{FF2B5EF4-FFF2-40B4-BE49-F238E27FC236}">
                <a16:creationId xmlns:a16="http://schemas.microsoft.com/office/drawing/2014/main" id="{39AA0617-FB2D-87B2-BFC8-13F5F48D5F58}"/>
              </a:ext>
            </a:extLst>
          </p:cNvPr>
          <p:cNvSpPr/>
          <p:nvPr/>
        </p:nvSpPr>
        <p:spPr>
          <a:xfrm>
            <a:off x="10877550" y="3724275"/>
            <a:ext cx="1752600" cy="1076325"/>
          </a:xfrm>
          <a:custGeom>
            <a:avLst/>
            <a:gdLst/>
            <a:ahLst/>
            <a:cxnLst/>
            <a:rect l="l" t="t" r="r" b="b"/>
            <a:pathLst>
              <a:path w="1752600" h="1076325">
                <a:moveTo>
                  <a:pt x="0" y="0"/>
                </a:moveTo>
                <a:lnTo>
                  <a:pt x="1752600" y="0"/>
                </a:lnTo>
                <a:lnTo>
                  <a:pt x="1752600" y="1076325"/>
                </a:lnTo>
                <a:lnTo>
                  <a:pt x="0" y="1076325"/>
                </a:lnTo>
                <a:lnTo>
                  <a:pt x="0" y="0"/>
                </a:lnTo>
                <a:close/>
              </a:path>
            </a:pathLst>
          </a:custGeom>
          <a:blipFill>
            <a:blip r:embed="rId12"/>
            <a:stretch>
              <a:fillRect/>
            </a:stretch>
          </a:blipFill>
        </p:spPr>
      </p:sp>
      <p:sp>
        <p:nvSpPr>
          <p:cNvPr id="110" name="Freeform 24">
            <a:extLst>
              <a:ext uri="{FF2B5EF4-FFF2-40B4-BE49-F238E27FC236}">
                <a16:creationId xmlns:a16="http://schemas.microsoft.com/office/drawing/2014/main" id="{86FD415D-C3AF-A597-57B6-265FD6070BD8}"/>
              </a:ext>
            </a:extLst>
          </p:cNvPr>
          <p:cNvSpPr/>
          <p:nvPr/>
        </p:nvSpPr>
        <p:spPr>
          <a:xfrm>
            <a:off x="1305877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13"/>
            <a:stretch>
              <a:fillRect/>
            </a:stretch>
          </a:blipFill>
        </p:spPr>
      </p:sp>
      <p:sp>
        <p:nvSpPr>
          <p:cNvPr id="111" name="TextBox 25">
            <a:extLst>
              <a:ext uri="{FF2B5EF4-FFF2-40B4-BE49-F238E27FC236}">
                <a16:creationId xmlns:a16="http://schemas.microsoft.com/office/drawing/2014/main" id="{12D9DD1F-98F0-1BFE-47D0-10A4CB6F2F0B}"/>
              </a:ext>
            </a:extLst>
          </p:cNvPr>
          <p:cNvSpPr txBox="1"/>
          <p:nvPr/>
        </p:nvSpPr>
        <p:spPr>
          <a:xfrm>
            <a:off x="13496544" y="3900248"/>
            <a:ext cx="822960" cy="624557"/>
          </a:xfrm>
          <a:prstGeom prst="rect">
            <a:avLst/>
          </a:prstGeom>
        </p:spPr>
        <p:txBody>
          <a:bodyPr lIns="0" tIns="0" rIns="0" bIns="0" rtlCol="0" anchor="t">
            <a:spAutoFit/>
          </a:bodyPr>
          <a:lstStyle/>
          <a:p>
            <a:pPr algn="l">
              <a:lnSpc>
                <a:spcPts val="4713"/>
              </a:lnSpc>
            </a:pPr>
            <a:r>
              <a:rPr lang="en-US" sz="4713" b="1">
                <a:solidFill>
                  <a:srgbClr val="00FFFF"/>
                </a:solidFill>
                <a:latin typeface="Montserrat Bold"/>
                <a:ea typeface="Montserrat Bold"/>
                <a:cs typeface="Montserrat Bold"/>
                <a:sym typeface="Montserrat Bold"/>
              </a:rPr>
              <a:t>04</a:t>
            </a:r>
          </a:p>
        </p:txBody>
      </p:sp>
      <p:sp>
        <p:nvSpPr>
          <p:cNvPr id="112" name="TextBox 26">
            <a:extLst>
              <a:ext uri="{FF2B5EF4-FFF2-40B4-BE49-F238E27FC236}">
                <a16:creationId xmlns:a16="http://schemas.microsoft.com/office/drawing/2014/main" id="{816E2CDD-914F-F0CE-0305-0F0FC6437EAC}"/>
              </a:ext>
            </a:extLst>
          </p:cNvPr>
          <p:cNvSpPr txBox="1"/>
          <p:nvPr/>
        </p:nvSpPr>
        <p:spPr>
          <a:xfrm>
            <a:off x="13514831" y="4794025"/>
            <a:ext cx="3468243" cy="260419"/>
          </a:xfrm>
          <a:prstGeom prst="rect">
            <a:avLst/>
          </a:prstGeom>
        </p:spPr>
        <p:txBody>
          <a:bodyPr wrap="square" lIns="0" tIns="0" rIns="0" bIns="0" rtlCol="0" anchor="t">
            <a:spAutoFit/>
          </a:bodyPr>
          <a:lstStyle/>
          <a:p>
            <a:pPr algn="ctr">
              <a:lnSpc>
                <a:spcPts val="2002"/>
              </a:lnSpc>
            </a:pPr>
            <a:r>
              <a:rPr lang="en-US" sz="2002" b="1" dirty="0">
                <a:solidFill>
                  <a:srgbClr val="FFFFFF"/>
                </a:solidFill>
                <a:latin typeface="Montserrat Bold"/>
                <a:ea typeface="Montserrat Bold"/>
                <a:cs typeface="Montserrat Bold"/>
                <a:sym typeface="Montserrat Bold"/>
              </a:rPr>
              <a:t>UNCERTAINTY-AWARE</a:t>
            </a:r>
          </a:p>
        </p:txBody>
      </p:sp>
      <p:sp>
        <p:nvSpPr>
          <p:cNvPr id="113" name="TextBox 27">
            <a:extLst>
              <a:ext uri="{FF2B5EF4-FFF2-40B4-BE49-F238E27FC236}">
                <a16:creationId xmlns:a16="http://schemas.microsoft.com/office/drawing/2014/main" id="{07B78593-F2B3-4328-760C-11207825530B}"/>
              </a:ext>
            </a:extLst>
          </p:cNvPr>
          <p:cNvSpPr txBox="1"/>
          <p:nvPr/>
        </p:nvSpPr>
        <p:spPr>
          <a:xfrm>
            <a:off x="13587984" y="5511207"/>
            <a:ext cx="2816352" cy="660437"/>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Communicate confidence instead of presenting predictions as certainty.</a:t>
            </a:r>
          </a:p>
        </p:txBody>
      </p:sp>
      <p:sp>
        <p:nvSpPr>
          <p:cNvPr id="114" name="Freeform 28">
            <a:extLst>
              <a:ext uri="{FF2B5EF4-FFF2-40B4-BE49-F238E27FC236}">
                <a16:creationId xmlns:a16="http://schemas.microsoft.com/office/drawing/2014/main" id="{9C67FC08-B8A9-B431-3AF6-09116CC9CC73}"/>
              </a:ext>
            </a:extLst>
          </p:cNvPr>
          <p:cNvSpPr/>
          <p:nvPr/>
        </p:nvSpPr>
        <p:spPr>
          <a:xfrm>
            <a:off x="14801850" y="3724275"/>
            <a:ext cx="1533525" cy="1076325"/>
          </a:xfrm>
          <a:custGeom>
            <a:avLst/>
            <a:gdLst/>
            <a:ahLst/>
            <a:cxnLst/>
            <a:rect l="l" t="t" r="r" b="b"/>
            <a:pathLst>
              <a:path w="1533525" h="1076325">
                <a:moveTo>
                  <a:pt x="0" y="0"/>
                </a:moveTo>
                <a:lnTo>
                  <a:pt x="1533525" y="0"/>
                </a:lnTo>
                <a:lnTo>
                  <a:pt x="1533525" y="1076325"/>
                </a:lnTo>
                <a:lnTo>
                  <a:pt x="0" y="1076325"/>
                </a:lnTo>
                <a:lnTo>
                  <a:pt x="0" y="0"/>
                </a:lnTo>
                <a:close/>
              </a:path>
            </a:pathLst>
          </a:custGeom>
          <a:blipFill>
            <a:blip r:embed="rId14"/>
            <a:stretch>
              <a:fillRect/>
            </a:stretch>
          </a:blipFill>
        </p:spPr>
      </p:sp>
      <p:sp>
        <p:nvSpPr>
          <p:cNvPr id="115" name="Freeform 29">
            <a:extLst>
              <a:ext uri="{FF2B5EF4-FFF2-40B4-BE49-F238E27FC236}">
                <a16:creationId xmlns:a16="http://schemas.microsoft.com/office/drawing/2014/main" id="{F902A8B0-B5D8-6957-9CA4-41E9AC438BAB}"/>
              </a:ext>
            </a:extLst>
          </p:cNvPr>
          <p:cNvSpPr/>
          <p:nvPr/>
        </p:nvSpPr>
        <p:spPr>
          <a:xfrm>
            <a:off x="1085850" y="6296025"/>
            <a:ext cx="16116300" cy="219075"/>
          </a:xfrm>
          <a:custGeom>
            <a:avLst/>
            <a:gdLst/>
            <a:ahLst/>
            <a:cxnLst/>
            <a:rect l="l" t="t" r="r" b="b"/>
            <a:pathLst>
              <a:path w="16116300" h="219075">
                <a:moveTo>
                  <a:pt x="0" y="0"/>
                </a:moveTo>
                <a:lnTo>
                  <a:pt x="16116300" y="0"/>
                </a:lnTo>
                <a:lnTo>
                  <a:pt x="16116300" y="219075"/>
                </a:lnTo>
                <a:lnTo>
                  <a:pt x="0" y="219075"/>
                </a:lnTo>
                <a:lnTo>
                  <a:pt x="0" y="0"/>
                </a:lnTo>
                <a:close/>
              </a:path>
            </a:pathLst>
          </a:custGeom>
          <a:blipFill>
            <a:blip r:embed="rId15"/>
            <a:stretch>
              <a:fillRect/>
            </a:stretch>
          </a:blipFill>
        </p:spPr>
      </p:sp>
      <p:sp>
        <p:nvSpPr>
          <p:cNvPr id="116" name="Freeform 30">
            <a:extLst>
              <a:ext uri="{FF2B5EF4-FFF2-40B4-BE49-F238E27FC236}">
                <a16:creationId xmlns:a16="http://schemas.microsoft.com/office/drawing/2014/main" id="{0ABC5F40-361E-7F8E-5F7C-158C93823614}"/>
              </a:ext>
            </a:extLst>
          </p:cNvPr>
          <p:cNvSpPr/>
          <p:nvPr/>
        </p:nvSpPr>
        <p:spPr>
          <a:xfrm>
            <a:off x="13749147" y="7077075"/>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17" name="Freeform 31">
            <a:extLst>
              <a:ext uri="{FF2B5EF4-FFF2-40B4-BE49-F238E27FC236}">
                <a16:creationId xmlns:a16="http://schemas.microsoft.com/office/drawing/2014/main" id="{DA5484B6-ADE1-BF40-2E1C-91367C3A26DC}"/>
              </a:ext>
            </a:extLst>
          </p:cNvPr>
          <p:cNvSpPr/>
          <p:nvPr/>
        </p:nvSpPr>
        <p:spPr>
          <a:xfrm>
            <a:off x="10815638" y="7048500"/>
            <a:ext cx="3057525" cy="2790825"/>
          </a:xfrm>
          <a:custGeom>
            <a:avLst/>
            <a:gdLst/>
            <a:ahLst/>
            <a:cxnLst/>
            <a:rect l="l" t="t" r="r" b="b"/>
            <a:pathLst>
              <a:path w="3057525" h="2790825">
                <a:moveTo>
                  <a:pt x="0" y="0"/>
                </a:moveTo>
                <a:lnTo>
                  <a:pt x="3057524" y="0"/>
                </a:lnTo>
                <a:lnTo>
                  <a:pt x="3057524" y="2790825"/>
                </a:lnTo>
                <a:lnTo>
                  <a:pt x="0" y="2790825"/>
                </a:lnTo>
                <a:lnTo>
                  <a:pt x="0" y="0"/>
                </a:lnTo>
                <a:close/>
              </a:path>
            </a:pathLst>
          </a:custGeom>
          <a:blipFill>
            <a:blip r:embed="rId16"/>
            <a:stretch>
              <a:fillRect/>
            </a:stretch>
          </a:blipFill>
        </p:spPr>
      </p:sp>
      <p:sp>
        <p:nvSpPr>
          <p:cNvPr id="118" name="Freeform 32">
            <a:extLst>
              <a:ext uri="{FF2B5EF4-FFF2-40B4-BE49-F238E27FC236}">
                <a16:creationId xmlns:a16="http://schemas.microsoft.com/office/drawing/2014/main" id="{AAD6DAB1-F0A8-E7B3-560C-B390B0B15381}"/>
              </a:ext>
            </a:extLst>
          </p:cNvPr>
          <p:cNvSpPr/>
          <p:nvPr/>
        </p:nvSpPr>
        <p:spPr>
          <a:xfrm>
            <a:off x="7882128" y="7048500"/>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19" name="TextBox 33">
            <a:extLst>
              <a:ext uri="{FF2B5EF4-FFF2-40B4-BE49-F238E27FC236}">
                <a16:creationId xmlns:a16="http://schemas.microsoft.com/office/drawing/2014/main" id="{9F4E753A-7856-DB4F-AD77-96F3AE440283}"/>
              </a:ext>
            </a:extLst>
          </p:cNvPr>
          <p:cNvSpPr txBox="1"/>
          <p:nvPr/>
        </p:nvSpPr>
        <p:spPr>
          <a:xfrm>
            <a:off x="5431155" y="6746558"/>
            <a:ext cx="6584061" cy="236475"/>
          </a:xfrm>
          <a:prstGeom prst="rect">
            <a:avLst/>
          </a:prstGeom>
        </p:spPr>
        <p:txBody>
          <a:bodyPr wrap="square" lIns="0" tIns="0" rIns="0" bIns="0" rtlCol="0" anchor="t">
            <a:spAutoFit/>
          </a:bodyPr>
          <a:lstStyle/>
          <a:p>
            <a:pPr algn="ctr">
              <a:lnSpc>
                <a:spcPts val="1762"/>
              </a:lnSpc>
            </a:pPr>
            <a:r>
              <a:rPr lang="en-US" sz="2000" b="1" spc="88" dirty="0">
                <a:solidFill>
                  <a:schemeClr val="accent4"/>
                </a:solidFill>
                <a:latin typeface="Montserrat Bold"/>
                <a:ea typeface="Montserrat Bold"/>
                <a:cs typeface="Montserrat Bold"/>
                <a:sym typeface="Montserrat Bold"/>
              </a:rPr>
              <a:t>EXISTING APPROACHES VS AQUATRACE AI</a:t>
            </a:r>
          </a:p>
        </p:txBody>
      </p:sp>
      <p:sp>
        <p:nvSpPr>
          <p:cNvPr id="120" name="Freeform 34">
            <a:extLst>
              <a:ext uri="{FF2B5EF4-FFF2-40B4-BE49-F238E27FC236}">
                <a16:creationId xmlns:a16="http://schemas.microsoft.com/office/drawing/2014/main" id="{0E0653EB-D7FE-BF61-B944-CC837ACDE9F3}"/>
              </a:ext>
            </a:extLst>
          </p:cNvPr>
          <p:cNvSpPr/>
          <p:nvPr/>
        </p:nvSpPr>
        <p:spPr>
          <a:xfrm>
            <a:off x="1085850" y="7048500"/>
            <a:ext cx="3924300" cy="2790825"/>
          </a:xfrm>
          <a:custGeom>
            <a:avLst/>
            <a:gdLst/>
            <a:ahLst/>
            <a:cxnLst/>
            <a:rect l="l" t="t" r="r" b="b"/>
            <a:pathLst>
              <a:path w="3924300" h="2790825">
                <a:moveTo>
                  <a:pt x="0" y="0"/>
                </a:moveTo>
                <a:lnTo>
                  <a:pt x="3924300" y="0"/>
                </a:lnTo>
                <a:lnTo>
                  <a:pt x="3924300" y="2790825"/>
                </a:lnTo>
                <a:lnTo>
                  <a:pt x="0" y="2790825"/>
                </a:lnTo>
                <a:lnTo>
                  <a:pt x="0" y="0"/>
                </a:lnTo>
                <a:close/>
              </a:path>
            </a:pathLst>
          </a:custGeom>
          <a:blipFill>
            <a:blip r:embed="rId17"/>
            <a:stretch>
              <a:fillRect/>
            </a:stretch>
          </a:blipFill>
        </p:spPr>
      </p:sp>
      <p:sp>
        <p:nvSpPr>
          <p:cNvPr id="121" name="TextBox 35">
            <a:extLst>
              <a:ext uri="{FF2B5EF4-FFF2-40B4-BE49-F238E27FC236}">
                <a16:creationId xmlns:a16="http://schemas.microsoft.com/office/drawing/2014/main" id="{E2E77C54-2F14-A5A8-949C-AEC7C120A64F}"/>
              </a:ext>
            </a:extLst>
          </p:cNvPr>
          <p:cNvSpPr txBox="1"/>
          <p:nvPr/>
        </p:nvSpPr>
        <p:spPr>
          <a:xfrm>
            <a:off x="1792224" y="8190249"/>
            <a:ext cx="2048256"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MOVEMENT TRACKING</a:t>
            </a:r>
          </a:p>
        </p:txBody>
      </p:sp>
      <p:sp>
        <p:nvSpPr>
          <p:cNvPr id="122" name="TextBox 36">
            <a:extLst>
              <a:ext uri="{FF2B5EF4-FFF2-40B4-BE49-F238E27FC236}">
                <a16:creationId xmlns:a16="http://schemas.microsoft.com/office/drawing/2014/main" id="{9B8B42A9-254E-E4BB-EF10-2831F37B8F09}"/>
              </a:ext>
            </a:extLst>
          </p:cNvPr>
          <p:cNvSpPr txBox="1"/>
          <p:nvPr/>
        </p:nvSpPr>
        <p:spPr>
          <a:xfrm>
            <a:off x="1792224" y="8848617"/>
            <a:ext cx="226771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FUTURE TRAJECTORY</a:t>
            </a:r>
          </a:p>
        </p:txBody>
      </p:sp>
      <p:sp>
        <p:nvSpPr>
          <p:cNvPr id="123" name="Freeform 37">
            <a:extLst>
              <a:ext uri="{FF2B5EF4-FFF2-40B4-BE49-F238E27FC236}">
                <a16:creationId xmlns:a16="http://schemas.microsoft.com/office/drawing/2014/main" id="{CA87702F-2F0E-A3A3-42F7-FAEC3EAC233B}"/>
              </a:ext>
            </a:extLst>
          </p:cNvPr>
          <p:cNvSpPr/>
          <p:nvPr/>
        </p:nvSpPr>
        <p:spPr>
          <a:xfrm>
            <a:off x="4989195" y="7048500"/>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24" name="TextBox 38">
            <a:extLst>
              <a:ext uri="{FF2B5EF4-FFF2-40B4-BE49-F238E27FC236}">
                <a16:creationId xmlns:a16="http://schemas.microsoft.com/office/drawing/2014/main" id="{645E9578-6D30-F47F-4265-8258E08073AE}"/>
              </a:ext>
            </a:extLst>
          </p:cNvPr>
          <p:cNvSpPr txBox="1"/>
          <p:nvPr/>
        </p:nvSpPr>
        <p:spPr>
          <a:xfrm>
            <a:off x="5554159" y="7324380"/>
            <a:ext cx="1773936" cy="419100"/>
          </a:xfrm>
          <a:prstGeom prst="rect">
            <a:avLst/>
          </a:prstGeom>
        </p:spPr>
        <p:txBody>
          <a:bodyPr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MANUAL / FIELD MONITORING</a:t>
            </a:r>
          </a:p>
        </p:txBody>
      </p:sp>
      <p:sp>
        <p:nvSpPr>
          <p:cNvPr id="125" name="TextBox 39">
            <a:extLst>
              <a:ext uri="{FF2B5EF4-FFF2-40B4-BE49-F238E27FC236}">
                <a16:creationId xmlns:a16="http://schemas.microsoft.com/office/drawing/2014/main" id="{0D5956BE-D897-808E-7DE7-196BA8392BEC}"/>
              </a:ext>
            </a:extLst>
          </p:cNvPr>
          <p:cNvSpPr txBox="1"/>
          <p:nvPr/>
        </p:nvSpPr>
        <p:spPr>
          <a:xfrm>
            <a:off x="8659751" y="7324380"/>
            <a:ext cx="1572768" cy="419100"/>
          </a:xfrm>
          <a:prstGeom prst="rect">
            <a:avLst/>
          </a:prstGeom>
        </p:spPr>
        <p:txBody>
          <a:bodyPr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SINGLE-SENSOR MONITORING</a:t>
            </a:r>
          </a:p>
        </p:txBody>
      </p:sp>
      <p:sp>
        <p:nvSpPr>
          <p:cNvPr id="126" name="TextBox 40">
            <a:extLst>
              <a:ext uri="{FF2B5EF4-FFF2-40B4-BE49-F238E27FC236}">
                <a16:creationId xmlns:a16="http://schemas.microsoft.com/office/drawing/2014/main" id="{775180A8-DEC4-1013-88EB-2CA4947EF7B8}"/>
              </a:ext>
            </a:extLst>
          </p:cNvPr>
          <p:cNvSpPr txBox="1"/>
          <p:nvPr/>
        </p:nvSpPr>
        <p:spPr>
          <a:xfrm>
            <a:off x="1737360" y="5159722"/>
            <a:ext cx="3072384" cy="179152"/>
          </a:xfrm>
          <a:prstGeom prst="rect">
            <a:avLst/>
          </a:prstGeom>
        </p:spPr>
        <p:txBody>
          <a:bodyPr lIns="0" tIns="0" rIns="0" bIns="0" rtlCol="0" anchor="t">
            <a:spAutoFit/>
          </a:bodyPr>
          <a:lstStyle/>
          <a:p>
            <a:pPr algn="ctr">
              <a:lnSpc>
                <a:spcPts val="1347"/>
              </a:lnSpc>
            </a:pPr>
            <a:r>
              <a:rPr lang="en-US" sz="1500" b="1">
                <a:solidFill>
                  <a:srgbClr val="00FFFF"/>
                </a:solidFill>
                <a:latin typeface="Montserrat Semi-Bold"/>
                <a:ea typeface="Montserrat Semi-Bold"/>
                <a:cs typeface="Montserrat Semi-Bold"/>
                <a:sym typeface="Montserrat Semi-Bold"/>
              </a:rPr>
              <a:t>Satellite + Surface Currents + Wind</a:t>
            </a:r>
          </a:p>
        </p:txBody>
      </p:sp>
      <p:sp>
        <p:nvSpPr>
          <p:cNvPr id="127" name="TextBox 41">
            <a:extLst>
              <a:ext uri="{FF2B5EF4-FFF2-40B4-BE49-F238E27FC236}">
                <a16:creationId xmlns:a16="http://schemas.microsoft.com/office/drawing/2014/main" id="{7F904948-25BF-0B8F-F2AD-C1C890C923E5}"/>
              </a:ext>
            </a:extLst>
          </p:cNvPr>
          <p:cNvSpPr txBox="1"/>
          <p:nvPr/>
        </p:nvSpPr>
        <p:spPr>
          <a:xfrm>
            <a:off x="5998464" y="5154305"/>
            <a:ext cx="2048256" cy="188770"/>
          </a:xfrm>
          <a:prstGeom prst="rect">
            <a:avLst/>
          </a:prstGeom>
        </p:spPr>
        <p:txBody>
          <a:bodyPr lIns="0" tIns="0" rIns="0" bIns="0" rtlCol="0" anchor="t">
            <a:spAutoFit/>
          </a:bodyPr>
          <a:lstStyle/>
          <a:p>
            <a:pPr algn="ctr">
              <a:lnSpc>
                <a:spcPts val="1399"/>
              </a:lnSpc>
            </a:pPr>
            <a:r>
              <a:rPr lang="en-US" sz="1500" b="1">
                <a:solidFill>
                  <a:srgbClr val="00FFFF"/>
                </a:solidFill>
                <a:latin typeface="Montserrat Semi-Bold"/>
                <a:ea typeface="Montserrat Semi-Bold"/>
                <a:cs typeface="Montserrat Semi-Bold"/>
                <a:sym typeface="Montserrat Semi-Bold"/>
              </a:rPr>
              <a:t>Today → +24h +48h</a:t>
            </a:r>
          </a:p>
        </p:txBody>
      </p:sp>
      <p:sp>
        <p:nvSpPr>
          <p:cNvPr id="128" name="TextBox 42">
            <a:extLst>
              <a:ext uri="{FF2B5EF4-FFF2-40B4-BE49-F238E27FC236}">
                <a16:creationId xmlns:a16="http://schemas.microsoft.com/office/drawing/2014/main" id="{E3A55574-E377-52A1-2F25-6B1E2A719BED}"/>
              </a:ext>
            </a:extLst>
          </p:cNvPr>
          <p:cNvSpPr txBox="1"/>
          <p:nvPr/>
        </p:nvSpPr>
        <p:spPr>
          <a:xfrm>
            <a:off x="13478256" y="5159722"/>
            <a:ext cx="3090672" cy="179152"/>
          </a:xfrm>
          <a:prstGeom prst="rect">
            <a:avLst/>
          </a:prstGeom>
        </p:spPr>
        <p:txBody>
          <a:bodyPr lIns="0" tIns="0" rIns="0" bIns="0" rtlCol="0" anchor="t">
            <a:spAutoFit/>
          </a:bodyPr>
          <a:lstStyle/>
          <a:p>
            <a:pPr algn="ctr">
              <a:lnSpc>
                <a:spcPts val="1347"/>
              </a:lnSpc>
            </a:pPr>
            <a:r>
              <a:rPr lang="en-US" sz="1500" b="1">
                <a:solidFill>
                  <a:srgbClr val="00FFFF"/>
                </a:solidFill>
                <a:latin typeface="Montserrat Semi-Bold"/>
                <a:ea typeface="Montserrat Semi-Bold"/>
                <a:cs typeface="Montserrat Semi-Bold"/>
                <a:sym typeface="Montserrat Semi-Bold"/>
              </a:rPr>
              <a:t>Confidence + Forecast Uncertainty</a:t>
            </a:r>
          </a:p>
        </p:txBody>
      </p:sp>
      <p:sp>
        <p:nvSpPr>
          <p:cNvPr id="129" name="TextBox 43">
            <a:extLst>
              <a:ext uri="{FF2B5EF4-FFF2-40B4-BE49-F238E27FC236}">
                <a16:creationId xmlns:a16="http://schemas.microsoft.com/office/drawing/2014/main" id="{B6756ACC-9E6C-11D2-74F0-E5DF0D17708D}"/>
              </a:ext>
            </a:extLst>
          </p:cNvPr>
          <p:cNvSpPr txBox="1"/>
          <p:nvPr/>
        </p:nvSpPr>
        <p:spPr>
          <a:xfrm>
            <a:off x="11204449" y="7335572"/>
            <a:ext cx="2359151" cy="425822"/>
          </a:xfrm>
          <a:prstGeom prst="rect">
            <a:avLst/>
          </a:prstGeom>
        </p:spPr>
        <p:txBody>
          <a:bodyPr wrap="square"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CURRENT-BASED MODELS</a:t>
            </a:r>
          </a:p>
        </p:txBody>
      </p:sp>
      <p:sp>
        <p:nvSpPr>
          <p:cNvPr id="130" name="TextBox 44">
            <a:extLst>
              <a:ext uri="{FF2B5EF4-FFF2-40B4-BE49-F238E27FC236}">
                <a16:creationId xmlns:a16="http://schemas.microsoft.com/office/drawing/2014/main" id="{E300709A-C8C0-AF59-3669-9CF961552E35}"/>
              </a:ext>
            </a:extLst>
          </p:cNvPr>
          <p:cNvSpPr txBox="1"/>
          <p:nvPr/>
        </p:nvSpPr>
        <p:spPr>
          <a:xfrm>
            <a:off x="14244256" y="7413008"/>
            <a:ext cx="1906143" cy="231923"/>
          </a:xfrm>
          <a:prstGeom prst="rect">
            <a:avLst/>
          </a:prstGeom>
        </p:spPr>
        <p:txBody>
          <a:bodyPr wrap="square" lIns="0" tIns="0" rIns="0" bIns="0" rtlCol="0" anchor="t">
            <a:spAutoFit/>
          </a:bodyPr>
          <a:lstStyle/>
          <a:p>
            <a:pPr algn="ctr">
              <a:lnSpc>
                <a:spcPts val="1861"/>
              </a:lnSpc>
            </a:pPr>
            <a:r>
              <a:rPr lang="en-US" sz="1551" b="1" spc="77" dirty="0">
                <a:solidFill>
                  <a:schemeClr val="bg1"/>
                </a:solidFill>
                <a:latin typeface="Montserrat Bold"/>
                <a:ea typeface="Montserrat Bold"/>
                <a:cs typeface="Montserrat Bold"/>
                <a:sym typeface="Montserrat Bold"/>
              </a:rPr>
              <a:t>AQUATRACE AI</a:t>
            </a:r>
          </a:p>
        </p:txBody>
      </p:sp>
      <p:sp>
        <p:nvSpPr>
          <p:cNvPr id="131" name="TextBox 45">
            <a:extLst>
              <a:ext uri="{FF2B5EF4-FFF2-40B4-BE49-F238E27FC236}">
                <a16:creationId xmlns:a16="http://schemas.microsoft.com/office/drawing/2014/main" id="{BD788A5A-9046-C0D7-398A-F96E495B5A2C}"/>
              </a:ext>
            </a:extLst>
          </p:cNvPr>
          <p:cNvSpPr txBox="1"/>
          <p:nvPr/>
        </p:nvSpPr>
        <p:spPr>
          <a:xfrm>
            <a:off x="1792224" y="7850778"/>
            <a:ext cx="2103120"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HOTSPOT OBSERVATION</a:t>
            </a:r>
          </a:p>
        </p:txBody>
      </p:sp>
      <p:sp>
        <p:nvSpPr>
          <p:cNvPr id="132" name="TextBox 46">
            <a:extLst>
              <a:ext uri="{FF2B5EF4-FFF2-40B4-BE49-F238E27FC236}">
                <a16:creationId xmlns:a16="http://schemas.microsoft.com/office/drawing/2014/main" id="{C07DF425-A749-4F1B-CE86-8A5448BC41AA}"/>
              </a:ext>
            </a:extLst>
          </p:cNvPr>
          <p:cNvSpPr txBox="1"/>
          <p:nvPr/>
        </p:nvSpPr>
        <p:spPr>
          <a:xfrm>
            <a:off x="6345174" y="7856815"/>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33" name="TextBox 47">
            <a:extLst>
              <a:ext uri="{FF2B5EF4-FFF2-40B4-BE49-F238E27FC236}">
                <a16:creationId xmlns:a16="http://schemas.microsoft.com/office/drawing/2014/main" id="{F58D1F8D-0DD8-644A-E6A7-35020D4522E8}"/>
              </a:ext>
            </a:extLst>
          </p:cNvPr>
          <p:cNvSpPr txBox="1"/>
          <p:nvPr/>
        </p:nvSpPr>
        <p:spPr>
          <a:xfrm>
            <a:off x="9201829" y="7818428"/>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34" name="TextBox 48">
            <a:extLst>
              <a:ext uri="{FF2B5EF4-FFF2-40B4-BE49-F238E27FC236}">
                <a16:creationId xmlns:a16="http://schemas.microsoft.com/office/drawing/2014/main" id="{2653A974-FA23-0FBF-EA42-F71660E30C9B}"/>
              </a:ext>
            </a:extLst>
          </p:cNvPr>
          <p:cNvSpPr txBox="1"/>
          <p:nvPr/>
        </p:nvSpPr>
        <p:spPr>
          <a:xfrm>
            <a:off x="10863072" y="7909250"/>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35" name="TextBox 49">
            <a:extLst>
              <a:ext uri="{FF2B5EF4-FFF2-40B4-BE49-F238E27FC236}">
                <a16:creationId xmlns:a16="http://schemas.microsoft.com/office/drawing/2014/main" id="{38DFFFB7-B6F9-9110-CA7A-50BDFF606640}"/>
              </a:ext>
            </a:extLst>
          </p:cNvPr>
          <p:cNvSpPr txBox="1"/>
          <p:nvPr/>
        </p:nvSpPr>
        <p:spPr>
          <a:xfrm>
            <a:off x="15197328" y="7943862"/>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36" name="TextBox 50">
            <a:extLst>
              <a:ext uri="{FF2B5EF4-FFF2-40B4-BE49-F238E27FC236}">
                <a16:creationId xmlns:a16="http://schemas.microsoft.com/office/drawing/2014/main" id="{E2E267BD-DA97-18E6-57B9-81B137FE5966}"/>
              </a:ext>
            </a:extLst>
          </p:cNvPr>
          <p:cNvSpPr txBox="1"/>
          <p:nvPr/>
        </p:nvSpPr>
        <p:spPr>
          <a:xfrm>
            <a:off x="6126479" y="8214062"/>
            <a:ext cx="647509"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37" name="TextBox 51">
            <a:extLst>
              <a:ext uri="{FF2B5EF4-FFF2-40B4-BE49-F238E27FC236}">
                <a16:creationId xmlns:a16="http://schemas.microsoft.com/office/drawing/2014/main" id="{A9782CA8-13D5-4321-1BFF-01777D30DBD2}"/>
              </a:ext>
            </a:extLst>
          </p:cNvPr>
          <p:cNvSpPr txBox="1"/>
          <p:nvPr/>
        </p:nvSpPr>
        <p:spPr>
          <a:xfrm>
            <a:off x="8814816" y="8202156"/>
            <a:ext cx="950976"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38" name="TextBox 52">
            <a:extLst>
              <a:ext uri="{FF2B5EF4-FFF2-40B4-BE49-F238E27FC236}">
                <a16:creationId xmlns:a16="http://schemas.microsoft.com/office/drawing/2014/main" id="{7ED35D04-3596-64D2-EC31-C2274A48E4CF}"/>
              </a:ext>
            </a:extLst>
          </p:cNvPr>
          <p:cNvSpPr txBox="1"/>
          <p:nvPr/>
        </p:nvSpPr>
        <p:spPr>
          <a:xfrm>
            <a:off x="10863072" y="8248721"/>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39" name="TextBox 53">
            <a:extLst>
              <a:ext uri="{FF2B5EF4-FFF2-40B4-BE49-F238E27FC236}">
                <a16:creationId xmlns:a16="http://schemas.microsoft.com/office/drawing/2014/main" id="{B069E0C5-0BB7-57F0-377B-AB31EA57831C}"/>
              </a:ext>
            </a:extLst>
          </p:cNvPr>
          <p:cNvSpPr txBox="1"/>
          <p:nvPr/>
        </p:nvSpPr>
        <p:spPr>
          <a:xfrm>
            <a:off x="15197328" y="8283333"/>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0" name="TextBox 54">
            <a:extLst>
              <a:ext uri="{FF2B5EF4-FFF2-40B4-BE49-F238E27FC236}">
                <a16:creationId xmlns:a16="http://schemas.microsoft.com/office/drawing/2014/main" id="{848BB9A0-D8BF-DB37-3277-F596ACF9B2B2}"/>
              </a:ext>
            </a:extLst>
          </p:cNvPr>
          <p:cNvSpPr txBox="1"/>
          <p:nvPr/>
        </p:nvSpPr>
        <p:spPr>
          <a:xfrm>
            <a:off x="1792224" y="8519433"/>
            <a:ext cx="226771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WIND + CURRENT FUSION</a:t>
            </a:r>
          </a:p>
        </p:txBody>
      </p:sp>
      <p:sp>
        <p:nvSpPr>
          <p:cNvPr id="141" name="TextBox 55">
            <a:extLst>
              <a:ext uri="{FF2B5EF4-FFF2-40B4-BE49-F238E27FC236}">
                <a16:creationId xmlns:a16="http://schemas.microsoft.com/office/drawing/2014/main" id="{47F10FB3-3F9E-2874-1591-A84E2ADD6F9A}"/>
              </a:ext>
            </a:extLst>
          </p:cNvPr>
          <p:cNvSpPr txBox="1"/>
          <p:nvPr/>
        </p:nvSpPr>
        <p:spPr>
          <a:xfrm>
            <a:off x="6349873" y="8480603"/>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42" name="TextBox 56">
            <a:extLst>
              <a:ext uri="{FF2B5EF4-FFF2-40B4-BE49-F238E27FC236}">
                <a16:creationId xmlns:a16="http://schemas.microsoft.com/office/drawing/2014/main" id="{F973B853-B665-941D-111B-7E2A001A4B96}"/>
              </a:ext>
            </a:extLst>
          </p:cNvPr>
          <p:cNvSpPr txBox="1"/>
          <p:nvPr/>
        </p:nvSpPr>
        <p:spPr>
          <a:xfrm>
            <a:off x="8814816" y="8531340"/>
            <a:ext cx="896112"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43" name="TextBox 57">
            <a:extLst>
              <a:ext uri="{FF2B5EF4-FFF2-40B4-BE49-F238E27FC236}">
                <a16:creationId xmlns:a16="http://schemas.microsoft.com/office/drawing/2014/main" id="{FA361FE9-6DA9-AEEF-2FCC-5082E3EC6518}"/>
              </a:ext>
            </a:extLst>
          </p:cNvPr>
          <p:cNvSpPr txBox="1"/>
          <p:nvPr/>
        </p:nvSpPr>
        <p:spPr>
          <a:xfrm>
            <a:off x="10863072" y="8577905"/>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44" name="TextBox 58">
            <a:extLst>
              <a:ext uri="{FF2B5EF4-FFF2-40B4-BE49-F238E27FC236}">
                <a16:creationId xmlns:a16="http://schemas.microsoft.com/office/drawing/2014/main" id="{E5762C64-B657-652D-417E-B9B117744E79}"/>
              </a:ext>
            </a:extLst>
          </p:cNvPr>
          <p:cNvSpPr txBox="1"/>
          <p:nvPr/>
        </p:nvSpPr>
        <p:spPr>
          <a:xfrm>
            <a:off x="15197328" y="8612517"/>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5" name="TextBox 59">
            <a:extLst>
              <a:ext uri="{FF2B5EF4-FFF2-40B4-BE49-F238E27FC236}">
                <a16:creationId xmlns:a16="http://schemas.microsoft.com/office/drawing/2014/main" id="{58EB05F3-9281-DB95-59CB-DC2BEF19BEAB}"/>
              </a:ext>
            </a:extLst>
          </p:cNvPr>
          <p:cNvSpPr txBox="1"/>
          <p:nvPr/>
        </p:nvSpPr>
        <p:spPr>
          <a:xfrm>
            <a:off x="6349619" y="8869188"/>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46" name="TextBox 60">
            <a:extLst>
              <a:ext uri="{FF2B5EF4-FFF2-40B4-BE49-F238E27FC236}">
                <a16:creationId xmlns:a16="http://schemas.microsoft.com/office/drawing/2014/main" id="{4AFF471B-7ED1-1D7E-AE65-2E0783B2F289}"/>
              </a:ext>
            </a:extLst>
          </p:cNvPr>
          <p:cNvSpPr txBox="1"/>
          <p:nvPr/>
        </p:nvSpPr>
        <p:spPr>
          <a:xfrm>
            <a:off x="8878824" y="8839569"/>
            <a:ext cx="950976" cy="153183"/>
          </a:xfrm>
          <a:prstGeom prst="rect">
            <a:avLst/>
          </a:prstGeom>
        </p:spPr>
        <p:txBody>
          <a:bodyPr lIns="0" tIns="0" rIns="0" bIns="0" rtlCol="0" anchor="t">
            <a:spAutoFit/>
          </a:bodyPr>
          <a:lstStyle/>
          <a:p>
            <a:pPr algn="ctr">
              <a:lnSpc>
                <a:spcPts val="1125"/>
              </a:lnSpc>
            </a:pPr>
            <a:r>
              <a:rPr lang="en-US" sz="1400" b="1" spc="56" dirty="0">
                <a:solidFill>
                  <a:srgbClr val="FFFFFF"/>
                </a:solidFill>
                <a:latin typeface="Montserrat Semi-Bold"/>
                <a:ea typeface="Montserrat Semi-Bold"/>
                <a:cs typeface="Montserrat Semi-Bold"/>
                <a:sym typeface="Montserrat Semi-Bold"/>
              </a:rPr>
              <a:t>X or limited</a:t>
            </a:r>
          </a:p>
        </p:txBody>
      </p:sp>
      <p:sp>
        <p:nvSpPr>
          <p:cNvPr id="147" name="TextBox 61">
            <a:extLst>
              <a:ext uri="{FF2B5EF4-FFF2-40B4-BE49-F238E27FC236}">
                <a16:creationId xmlns:a16="http://schemas.microsoft.com/office/drawing/2014/main" id="{D1C12D00-606A-86B3-909F-5C315E82F0BC}"/>
              </a:ext>
            </a:extLst>
          </p:cNvPr>
          <p:cNvSpPr txBox="1"/>
          <p:nvPr/>
        </p:nvSpPr>
        <p:spPr>
          <a:xfrm>
            <a:off x="10863072" y="8907089"/>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48" name="TextBox 62">
            <a:extLst>
              <a:ext uri="{FF2B5EF4-FFF2-40B4-BE49-F238E27FC236}">
                <a16:creationId xmlns:a16="http://schemas.microsoft.com/office/drawing/2014/main" id="{80CE1400-482A-DA1C-16BE-AED47022A5E9}"/>
              </a:ext>
            </a:extLst>
          </p:cNvPr>
          <p:cNvSpPr txBox="1"/>
          <p:nvPr/>
        </p:nvSpPr>
        <p:spPr>
          <a:xfrm>
            <a:off x="15197328" y="8941701"/>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9" name="TextBox 63">
            <a:extLst>
              <a:ext uri="{FF2B5EF4-FFF2-40B4-BE49-F238E27FC236}">
                <a16:creationId xmlns:a16="http://schemas.microsoft.com/office/drawing/2014/main" id="{9A34EF36-7323-1A79-55BB-12D68429DB8B}"/>
              </a:ext>
            </a:extLst>
          </p:cNvPr>
          <p:cNvSpPr txBox="1"/>
          <p:nvPr/>
        </p:nvSpPr>
        <p:spPr>
          <a:xfrm>
            <a:off x="1792224" y="9177801"/>
            <a:ext cx="245059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CLEANUP / CONFIDENCE</a:t>
            </a:r>
          </a:p>
        </p:txBody>
      </p:sp>
      <p:sp>
        <p:nvSpPr>
          <p:cNvPr id="150" name="TextBox 64">
            <a:extLst>
              <a:ext uri="{FF2B5EF4-FFF2-40B4-BE49-F238E27FC236}">
                <a16:creationId xmlns:a16="http://schemas.microsoft.com/office/drawing/2014/main" id="{14FDC543-09AE-5E9B-4268-7905095C6F77}"/>
              </a:ext>
            </a:extLst>
          </p:cNvPr>
          <p:cNvSpPr txBox="1"/>
          <p:nvPr/>
        </p:nvSpPr>
        <p:spPr>
          <a:xfrm>
            <a:off x="6345174" y="9182166"/>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51" name="TextBox 65">
            <a:extLst>
              <a:ext uri="{FF2B5EF4-FFF2-40B4-BE49-F238E27FC236}">
                <a16:creationId xmlns:a16="http://schemas.microsoft.com/office/drawing/2014/main" id="{07E1C84E-2F96-B3F7-067D-FF1C26D8E31E}"/>
              </a:ext>
            </a:extLst>
          </p:cNvPr>
          <p:cNvSpPr txBox="1"/>
          <p:nvPr/>
        </p:nvSpPr>
        <p:spPr>
          <a:xfrm>
            <a:off x="8991600" y="9153893"/>
            <a:ext cx="585216" cy="182038"/>
          </a:xfrm>
          <a:prstGeom prst="rect">
            <a:avLst/>
          </a:prstGeom>
        </p:spPr>
        <p:txBody>
          <a:bodyPr lIns="0" tIns="0" rIns="0" bIns="0" rtlCol="0" anchor="t">
            <a:spAutoFit/>
          </a:bodyPr>
          <a:lstStyle/>
          <a:p>
            <a:pPr algn="ctr">
              <a:lnSpc>
                <a:spcPts val="1395"/>
              </a:lnSpc>
            </a:pPr>
            <a:r>
              <a:rPr lang="en-US" sz="1400" b="1" dirty="0">
                <a:solidFill>
                  <a:srgbClr val="FFFFFF"/>
                </a:solidFill>
                <a:latin typeface="Canva Sans Medium"/>
                <a:ea typeface="Canva Sans Medium"/>
                <a:cs typeface="Canva Sans Medium"/>
                <a:sym typeface="Canva Sans Medium"/>
              </a:rPr>
              <a:t>Limited</a:t>
            </a:r>
          </a:p>
        </p:txBody>
      </p:sp>
      <p:sp>
        <p:nvSpPr>
          <p:cNvPr id="152" name="TextBox 66">
            <a:extLst>
              <a:ext uri="{FF2B5EF4-FFF2-40B4-BE49-F238E27FC236}">
                <a16:creationId xmlns:a16="http://schemas.microsoft.com/office/drawing/2014/main" id="{ABF0E13D-A13A-1798-38A0-A5E907DAA093}"/>
              </a:ext>
            </a:extLst>
          </p:cNvPr>
          <p:cNvSpPr txBox="1"/>
          <p:nvPr/>
        </p:nvSpPr>
        <p:spPr>
          <a:xfrm>
            <a:off x="15186470" y="9274373"/>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53" name="TextBox 67">
            <a:extLst>
              <a:ext uri="{FF2B5EF4-FFF2-40B4-BE49-F238E27FC236}">
                <a16:creationId xmlns:a16="http://schemas.microsoft.com/office/drawing/2014/main" id="{E21550D7-C38C-5CC1-50F5-B28E721DCC88}"/>
              </a:ext>
            </a:extLst>
          </p:cNvPr>
          <p:cNvSpPr txBox="1"/>
          <p:nvPr/>
        </p:nvSpPr>
        <p:spPr>
          <a:xfrm>
            <a:off x="10877550" y="9231892"/>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1364ED1-3533-1990-6047-9907D7B3C3C0}"/>
              </a:ext>
            </a:extLst>
          </p:cNvPr>
          <p:cNvGrpSpPr/>
          <p:nvPr/>
        </p:nvGrpSpPr>
        <p:grpSpPr>
          <a:xfrm>
            <a:off x="0" y="-15583"/>
            <a:ext cx="18288000" cy="10287000"/>
            <a:chOff x="0" y="0"/>
            <a:chExt cx="24384000" cy="13716000"/>
          </a:xfrm>
        </p:grpSpPr>
        <p:sp>
          <p:nvSpPr>
            <p:cNvPr id="3" name="Freeform 3" descr="A bright light in a room  AI-generated content may be incorrect.">
              <a:extLst>
                <a:ext uri="{FF2B5EF4-FFF2-40B4-BE49-F238E27FC236}">
                  <a16:creationId xmlns:a16="http://schemas.microsoft.com/office/drawing/2014/main" id="{43411054-D846-BBDC-0B17-DECF9FD6BFBC}"/>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6">
            <a:extLst>
              <a:ext uri="{FF2B5EF4-FFF2-40B4-BE49-F238E27FC236}">
                <a16:creationId xmlns:a16="http://schemas.microsoft.com/office/drawing/2014/main" id="{07517210-AD1F-AC71-8BAA-A593A220AEDA}"/>
              </a:ext>
            </a:extLst>
          </p:cNvPr>
          <p:cNvGrpSpPr/>
          <p:nvPr/>
        </p:nvGrpSpPr>
        <p:grpSpPr>
          <a:xfrm>
            <a:off x="7137825" y="441065"/>
            <a:ext cx="4053078" cy="1175271"/>
            <a:chOff x="0" y="0"/>
            <a:chExt cx="5404104" cy="1567028"/>
          </a:xfrm>
        </p:grpSpPr>
        <p:sp>
          <p:nvSpPr>
            <p:cNvPr id="5" name="Freeform 7">
              <a:extLst>
                <a:ext uri="{FF2B5EF4-FFF2-40B4-BE49-F238E27FC236}">
                  <a16:creationId xmlns:a16="http://schemas.microsoft.com/office/drawing/2014/main" id="{5F11EBF1-CAE3-99DE-D295-4FB3C8AA8225}"/>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3"/>
              <a:stretch>
                <a:fillRect t="-34478" b="-34478"/>
              </a:stretch>
            </a:blipFill>
          </p:spPr>
          <p:txBody>
            <a:bodyPr/>
            <a:lstStyle/>
            <a:p>
              <a:endParaRPr lang="en-IN"/>
            </a:p>
          </p:txBody>
        </p:sp>
      </p:grpSp>
      <p:grpSp>
        <p:nvGrpSpPr>
          <p:cNvPr id="6" name="Group 4">
            <a:extLst>
              <a:ext uri="{FF2B5EF4-FFF2-40B4-BE49-F238E27FC236}">
                <a16:creationId xmlns:a16="http://schemas.microsoft.com/office/drawing/2014/main" id="{049BDFB5-9B91-480D-C463-E7B64CB59331}"/>
              </a:ext>
            </a:extLst>
          </p:cNvPr>
          <p:cNvGrpSpPr/>
          <p:nvPr/>
        </p:nvGrpSpPr>
        <p:grpSpPr>
          <a:xfrm>
            <a:off x="5781894" y="-15583"/>
            <a:ext cx="1451134" cy="1408748"/>
            <a:chOff x="0" y="0"/>
            <a:chExt cx="1934845" cy="1878330"/>
          </a:xfrm>
        </p:grpSpPr>
        <p:sp>
          <p:nvSpPr>
            <p:cNvPr id="7" name="Freeform 5">
              <a:extLst>
                <a:ext uri="{FF2B5EF4-FFF2-40B4-BE49-F238E27FC236}">
                  <a16:creationId xmlns:a16="http://schemas.microsoft.com/office/drawing/2014/main" id="{5733FEA0-1093-C2D9-17D2-9AAEDFC8A954}"/>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dirty="0"/>
            </a:p>
          </p:txBody>
        </p:sp>
      </p:grpSp>
      <p:sp>
        <p:nvSpPr>
          <p:cNvPr id="8" name="TextBox 3">
            <a:extLst>
              <a:ext uri="{FF2B5EF4-FFF2-40B4-BE49-F238E27FC236}">
                <a16:creationId xmlns:a16="http://schemas.microsoft.com/office/drawing/2014/main" id="{15DE8B08-225C-E859-41B0-80DBFF1B6E6A}"/>
              </a:ext>
            </a:extLst>
          </p:cNvPr>
          <p:cNvSpPr txBox="1"/>
          <p:nvPr/>
        </p:nvSpPr>
        <p:spPr>
          <a:xfrm>
            <a:off x="4645152" y="1181100"/>
            <a:ext cx="8997696" cy="1019510"/>
          </a:xfrm>
          <a:prstGeom prst="rect">
            <a:avLst/>
          </a:prstGeom>
        </p:spPr>
        <p:txBody>
          <a:bodyPr lIns="0" tIns="0" rIns="0" bIns="0" rtlCol="0" anchor="t">
            <a:spAutoFit/>
          </a:bodyPr>
          <a:lstStyle/>
          <a:p>
            <a:pPr algn="ctr">
              <a:lnSpc>
                <a:spcPts val="8609"/>
              </a:lnSpc>
            </a:pPr>
            <a:r>
              <a:rPr lang="en-US" sz="5400" b="1" dirty="0">
                <a:latin typeface="Roboto Bold"/>
                <a:ea typeface="Roboto Bold"/>
                <a:cs typeface="Roboto Bold"/>
                <a:sym typeface="Roboto Bold"/>
              </a:rPr>
              <a:t>IMPACT &amp; BENEFITS</a:t>
            </a:r>
          </a:p>
        </p:txBody>
      </p:sp>
      <p:sp>
        <p:nvSpPr>
          <p:cNvPr id="10" name="Freeform 5">
            <a:extLst>
              <a:ext uri="{FF2B5EF4-FFF2-40B4-BE49-F238E27FC236}">
                <a16:creationId xmlns:a16="http://schemas.microsoft.com/office/drawing/2014/main" id="{B4DA18FC-6EB8-5678-042F-9BDF274A6F5B}"/>
              </a:ext>
            </a:extLst>
          </p:cNvPr>
          <p:cNvSpPr/>
          <p:nvPr/>
        </p:nvSpPr>
        <p:spPr>
          <a:xfrm>
            <a:off x="3476625" y="2352675"/>
            <a:ext cx="1095375" cy="1295400"/>
          </a:xfrm>
          <a:custGeom>
            <a:avLst/>
            <a:gdLst/>
            <a:ahLst/>
            <a:cxnLst/>
            <a:rect l="l" t="t" r="r" b="b"/>
            <a:pathLst>
              <a:path w="1095375" h="1295400">
                <a:moveTo>
                  <a:pt x="0" y="0"/>
                </a:moveTo>
                <a:lnTo>
                  <a:pt x="1095375" y="0"/>
                </a:lnTo>
                <a:lnTo>
                  <a:pt x="1095375" y="1295400"/>
                </a:lnTo>
                <a:lnTo>
                  <a:pt x="0" y="1295400"/>
                </a:lnTo>
                <a:lnTo>
                  <a:pt x="0" y="0"/>
                </a:lnTo>
                <a:close/>
              </a:path>
            </a:pathLst>
          </a:custGeom>
          <a:blipFill>
            <a:blip r:embed="rId5"/>
            <a:stretch>
              <a:fillRect/>
            </a:stretch>
          </a:blipFill>
        </p:spPr>
      </p:sp>
      <p:sp>
        <p:nvSpPr>
          <p:cNvPr id="11" name="TextBox 6">
            <a:extLst>
              <a:ext uri="{FF2B5EF4-FFF2-40B4-BE49-F238E27FC236}">
                <a16:creationId xmlns:a16="http://schemas.microsoft.com/office/drawing/2014/main" id="{E31E6923-6A5B-6415-C715-E41F9414BDC8}"/>
              </a:ext>
            </a:extLst>
          </p:cNvPr>
          <p:cNvSpPr txBox="1"/>
          <p:nvPr/>
        </p:nvSpPr>
        <p:spPr>
          <a:xfrm>
            <a:off x="4334255" y="3231833"/>
            <a:ext cx="1447639" cy="412549"/>
          </a:xfrm>
          <a:prstGeom prst="rect">
            <a:avLst/>
          </a:prstGeom>
        </p:spPr>
        <p:txBody>
          <a:bodyPr wrap="square" lIns="0" tIns="0" rIns="0" bIns="0" rtlCol="0" anchor="t">
            <a:spAutoFit/>
          </a:bodyPr>
          <a:lstStyle/>
          <a:p>
            <a:pPr algn="l">
              <a:lnSpc>
                <a:spcPts val="1574"/>
              </a:lnSpc>
            </a:pPr>
            <a:r>
              <a:rPr lang="en-US" sz="1580" b="1" dirty="0">
                <a:latin typeface="Roboto Bold"/>
                <a:ea typeface="Roboto Bold"/>
                <a:cs typeface="Roboto Bold"/>
                <a:sym typeface="Roboto Bold"/>
              </a:rPr>
              <a:t> DETECTED</a:t>
            </a:r>
          </a:p>
          <a:p>
            <a:pPr algn="l">
              <a:lnSpc>
                <a:spcPts val="1574"/>
              </a:lnSpc>
            </a:pPr>
            <a:r>
              <a:rPr lang="en-US" sz="1580" b="1" dirty="0">
                <a:latin typeface="Roboto Bold"/>
                <a:ea typeface="Roboto Bold"/>
                <a:cs typeface="Roboto Bold"/>
                <a:sym typeface="Roboto Bold"/>
              </a:rPr>
              <a:t>DEBRIS HOTSPOT</a:t>
            </a:r>
          </a:p>
        </p:txBody>
      </p:sp>
      <p:sp>
        <p:nvSpPr>
          <p:cNvPr id="12" name="Freeform 7">
            <a:extLst>
              <a:ext uri="{FF2B5EF4-FFF2-40B4-BE49-F238E27FC236}">
                <a16:creationId xmlns:a16="http://schemas.microsoft.com/office/drawing/2014/main" id="{7D4163B0-111A-ACC9-5135-1A787D674AE4}"/>
              </a:ext>
            </a:extLst>
          </p:cNvPr>
          <p:cNvSpPr/>
          <p:nvPr/>
        </p:nvSpPr>
        <p:spPr>
          <a:xfrm>
            <a:off x="4191000" y="2352675"/>
            <a:ext cx="10887075" cy="1724025"/>
          </a:xfrm>
          <a:custGeom>
            <a:avLst/>
            <a:gdLst/>
            <a:ahLst/>
            <a:cxnLst/>
            <a:rect l="l" t="t" r="r" b="b"/>
            <a:pathLst>
              <a:path w="10887075" h="1724025">
                <a:moveTo>
                  <a:pt x="0" y="0"/>
                </a:moveTo>
                <a:lnTo>
                  <a:pt x="10887075" y="0"/>
                </a:lnTo>
                <a:lnTo>
                  <a:pt x="10887075" y="1724025"/>
                </a:lnTo>
                <a:lnTo>
                  <a:pt x="0" y="1724025"/>
                </a:lnTo>
                <a:lnTo>
                  <a:pt x="0" y="0"/>
                </a:lnTo>
                <a:close/>
              </a:path>
            </a:pathLst>
          </a:custGeom>
          <a:blipFill>
            <a:blip r:embed="rId6"/>
            <a:stretch>
              <a:fillRect/>
            </a:stretch>
          </a:blipFill>
        </p:spPr>
      </p:sp>
      <p:sp>
        <p:nvSpPr>
          <p:cNvPr id="13" name="Freeform 8">
            <a:extLst>
              <a:ext uri="{FF2B5EF4-FFF2-40B4-BE49-F238E27FC236}">
                <a16:creationId xmlns:a16="http://schemas.microsoft.com/office/drawing/2014/main" id="{01D654B5-F379-3FE1-9F9F-FA7FF876D466}"/>
              </a:ext>
            </a:extLst>
          </p:cNvPr>
          <p:cNvSpPr/>
          <p:nvPr/>
        </p:nvSpPr>
        <p:spPr>
          <a:xfrm>
            <a:off x="13058775" y="171450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7"/>
            <a:stretch>
              <a:fillRect/>
            </a:stretch>
          </a:blipFill>
        </p:spPr>
      </p:sp>
      <p:sp>
        <p:nvSpPr>
          <p:cNvPr id="14" name="TextBox 9">
            <a:extLst>
              <a:ext uri="{FF2B5EF4-FFF2-40B4-BE49-F238E27FC236}">
                <a16:creationId xmlns:a16="http://schemas.microsoft.com/office/drawing/2014/main" id="{941D9974-3D4F-CCBE-41E6-676C1C28D305}"/>
              </a:ext>
            </a:extLst>
          </p:cNvPr>
          <p:cNvSpPr txBox="1"/>
          <p:nvPr/>
        </p:nvSpPr>
        <p:spPr>
          <a:xfrm>
            <a:off x="13862304" y="2139434"/>
            <a:ext cx="1060704" cy="559832"/>
          </a:xfrm>
          <a:prstGeom prst="rect">
            <a:avLst/>
          </a:prstGeom>
        </p:spPr>
        <p:txBody>
          <a:bodyPr lIns="0" tIns="0" rIns="0" bIns="0" rtlCol="0" anchor="t">
            <a:spAutoFit/>
          </a:bodyPr>
          <a:lstStyle/>
          <a:p>
            <a:pPr algn="ctr">
              <a:lnSpc>
                <a:spcPts val="2218"/>
              </a:lnSpc>
            </a:pPr>
            <a:r>
              <a:rPr lang="en-US" sz="1584" b="1" dirty="0">
                <a:latin typeface="Roboto Bold"/>
                <a:ea typeface="Roboto Bold"/>
                <a:cs typeface="Roboto Bold"/>
                <a:sym typeface="Roboto Bold"/>
              </a:rPr>
              <a:t>COASTAL RISK ZONE</a:t>
            </a:r>
          </a:p>
        </p:txBody>
      </p:sp>
      <p:sp>
        <p:nvSpPr>
          <p:cNvPr id="15" name="Freeform 10">
            <a:extLst>
              <a:ext uri="{FF2B5EF4-FFF2-40B4-BE49-F238E27FC236}">
                <a16:creationId xmlns:a16="http://schemas.microsoft.com/office/drawing/2014/main" id="{9C5B0D06-AB67-FF40-DB17-2B2C0574E775}"/>
              </a:ext>
            </a:extLst>
          </p:cNvPr>
          <p:cNvSpPr/>
          <p:nvPr/>
        </p:nvSpPr>
        <p:spPr>
          <a:xfrm>
            <a:off x="15240000" y="320992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8"/>
            <a:stretch>
              <a:fillRect/>
            </a:stretch>
          </a:blipFill>
        </p:spPr>
      </p:sp>
      <p:sp>
        <p:nvSpPr>
          <p:cNvPr id="16" name="TextBox 11">
            <a:extLst>
              <a:ext uri="{FF2B5EF4-FFF2-40B4-BE49-F238E27FC236}">
                <a16:creationId xmlns:a16="http://schemas.microsoft.com/office/drawing/2014/main" id="{FAD2AFE7-9843-21AD-BDDD-D309EE862BB9}"/>
              </a:ext>
            </a:extLst>
          </p:cNvPr>
          <p:cNvSpPr txBox="1"/>
          <p:nvPr/>
        </p:nvSpPr>
        <p:spPr>
          <a:xfrm>
            <a:off x="16056864" y="3291578"/>
            <a:ext cx="987552" cy="559832"/>
          </a:xfrm>
          <a:prstGeom prst="rect">
            <a:avLst/>
          </a:prstGeom>
        </p:spPr>
        <p:txBody>
          <a:bodyPr lIns="0" tIns="0" rIns="0" bIns="0" rtlCol="0" anchor="t">
            <a:spAutoFit/>
          </a:bodyPr>
          <a:lstStyle/>
          <a:p>
            <a:pPr algn="l">
              <a:lnSpc>
                <a:spcPts val="2218"/>
              </a:lnSpc>
            </a:pPr>
            <a:r>
              <a:rPr lang="en-US" sz="1584" b="1" dirty="0">
                <a:latin typeface="Roboto Bold"/>
                <a:ea typeface="Roboto Bold"/>
                <a:cs typeface="Roboto Bold"/>
                <a:sym typeface="Roboto Bold"/>
              </a:rPr>
              <a:t>CLEANUP PRIORITY</a:t>
            </a:r>
          </a:p>
        </p:txBody>
      </p:sp>
      <p:sp>
        <p:nvSpPr>
          <p:cNvPr id="17" name="Freeform 12">
            <a:extLst>
              <a:ext uri="{FF2B5EF4-FFF2-40B4-BE49-F238E27FC236}">
                <a16:creationId xmlns:a16="http://schemas.microsoft.com/office/drawing/2014/main" id="{04CEAD05-0546-3D99-87A9-525624D1E518}"/>
              </a:ext>
            </a:extLst>
          </p:cNvPr>
          <p:cNvSpPr/>
          <p:nvPr/>
        </p:nvSpPr>
        <p:spPr>
          <a:xfrm>
            <a:off x="1304925" y="4067175"/>
            <a:ext cx="4143375" cy="1295400"/>
          </a:xfrm>
          <a:custGeom>
            <a:avLst/>
            <a:gdLst/>
            <a:ahLst/>
            <a:cxnLst/>
            <a:rect l="l" t="t" r="r" b="b"/>
            <a:pathLst>
              <a:path w="4143375" h="1295400">
                <a:moveTo>
                  <a:pt x="0" y="0"/>
                </a:moveTo>
                <a:lnTo>
                  <a:pt x="4143375" y="0"/>
                </a:lnTo>
                <a:lnTo>
                  <a:pt x="4143375" y="1295400"/>
                </a:lnTo>
                <a:lnTo>
                  <a:pt x="0" y="1295400"/>
                </a:lnTo>
                <a:lnTo>
                  <a:pt x="0" y="0"/>
                </a:lnTo>
                <a:close/>
              </a:path>
            </a:pathLst>
          </a:custGeom>
          <a:blipFill>
            <a:blip r:embed="rId9"/>
            <a:stretch>
              <a:fillRect/>
            </a:stretch>
          </a:blipFill>
        </p:spPr>
      </p:sp>
      <p:sp>
        <p:nvSpPr>
          <p:cNvPr id="18" name="Freeform 13">
            <a:extLst>
              <a:ext uri="{FF2B5EF4-FFF2-40B4-BE49-F238E27FC236}">
                <a16:creationId xmlns:a16="http://schemas.microsoft.com/office/drawing/2014/main" id="{7BA8E27C-4AEC-5DFA-0BD4-4CBF3CE224ED}"/>
              </a:ext>
            </a:extLst>
          </p:cNvPr>
          <p:cNvSpPr/>
          <p:nvPr/>
        </p:nvSpPr>
        <p:spPr>
          <a:xfrm>
            <a:off x="5438775" y="449580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0"/>
            <a:stretch>
              <a:fillRect/>
            </a:stretch>
          </a:blipFill>
        </p:spPr>
      </p:sp>
      <p:sp>
        <p:nvSpPr>
          <p:cNvPr id="19" name="Freeform 14">
            <a:extLst>
              <a:ext uri="{FF2B5EF4-FFF2-40B4-BE49-F238E27FC236}">
                <a16:creationId xmlns:a16="http://schemas.microsoft.com/office/drawing/2014/main" id="{E01B1D8D-D15F-1C4C-70F3-4F7CB73ACDE1}"/>
              </a:ext>
            </a:extLst>
          </p:cNvPr>
          <p:cNvSpPr/>
          <p:nvPr/>
        </p:nvSpPr>
        <p:spPr>
          <a:xfrm>
            <a:off x="6305550" y="4067175"/>
            <a:ext cx="5457825" cy="1295400"/>
          </a:xfrm>
          <a:custGeom>
            <a:avLst/>
            <a:gdLst/>
            <a:ahLst/>
            <a:cxnLst/>
            <a:rect l="l" t="t" r="r" b="b"/>
            <a:pathLst>
              <a:path w="5457825" h="1295400">
                <a:moveTo>
                  <a:pt x="0" y="0"/>
                </a:moveTo>
                <a:lnTo>
                  <a:pt x="5457825" y="0"/>
                </a:lnTo>
                <a:lnTo>
                  <a:pt x="5457825" y="1295400"/>
                </a:lnTo>
                <a:lnTo>
                  <a:pt x="0" y="1295400"/>
                </a:lnTo>
                <a:lnTo>
                  <a:pt x="0" y="0"/>
                </a:lnTo>
                <a:close/>
              </a:path>
            </a:pathLst>
          </a:custGeom>
          <a:blipFill>
            <a:blip r:embed="rId11"/>
            <a:stretch>
              <a:fillRect/>
            </a:stretch>
          </a:blipFill>
        </p:spPr>
      </p:sp>
      <p:sp>
        <p:nvSpPr>
          <p:cNvPr id="20" name="Freeform 15">
            <a:extLst>
              <a:ext uri="{FF2B5EF4-FFF2-40B4-BE49-F238E27FC236}">
                <a16:creationId xmlns:a16="http://schemas.microsoft.com/office/drawing/2014/main" id="{48988C70-9F17-3E58-657E-56071F911B71}"/>
              </a:ext>
            </a:extLst>
          </p:cNvPr>
          <p:cNvSpPr/>
          <p:nvPr/>
        </p:nvSpPr>
        <p:spPr>
          <a:xfrm>
            <a:off x="11753850" y="449580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2"/>
            <a:stretch>
              <a:fillRect/>
            </a:stretch>
          </a:blipFill>
        </p:spPr>
      </p:sp>
      <p:sp>
        <p:nvSpPr>
          <p:cNvPr id="21" name="Freeform 16">
            <a:extLst>
              <a:ext uri="{FF2B5EF4-FFF2-40B4-BE49-F238E27FC236}">
                <a16:creationId xmlns:a16="http://schemas.microsoft.com/office/drawing/2014/main" id="{A5372877-FEBC-A132-1B09-00A5152BF467}"/>
              </a:ext>
            </a:extLst>
          </p:cNvPr>
          <p:cNvSpPr/>
          <p:nvPr/>
        </p:nvSpPr>
        <p:spPr>
          <a:xfrm>
            <a:off x="12401550" y="4067175"/>
            <a:ext cx="5238750" cy="1295400"/>
          </a:xfrm>
          <a:custGeom>
            <a:avLst/>
            <a:gdLst/>
            <a:ahLst/>
            <a:cxnLst/>
            <a:rect l="l" t="t" r="r" b="b"/>
            <a:pathLst>
              <a:path w="5238750" h="1295400">
                <a:moveTo>
                  <a:pt x="0" y="0"/>
                </a:moveTo>
                <a:lnTo>
                  <a:pt x="5238750" y="0"/>
                </a:lnTo>
                <a:lnTo>
                  <a:pt x="5238750" y="1295400"/>
                </a:lnTo>
                <a:lnTo>
                  <a:pt x="0" y="1295400"/>
                </a:lnTo>
                <a:lnTo>
                  <a:pt x="0" y="0"/>
                </a:lnTo>
                <a:close/>
              </a:path>
            </a:pathLst>
          </a:custGeom>
          <a:blipFill>
            <a:blip r:embed="rId13"/>
            <a:stretch>
              <a:fillRect/>
            </a:stretch>
          </a:blipFill>
        </p:spPr>
      </p:sp>
      <p:sp>
        <p:nvSpPr>
          <p:cNvPr id="22" name="Freeform 17">
            <a:extLst>
              <a:ext uri="{FF2B5EF4-FFF2-40B4-BE49-F238E27FC236}">
                <a16:creationId xmlns:a16="http://schemas.microsoft.com/office/drawing/2014/main" id="{5BFA5A72-55CC-3639-8782-8C5D0509F06E}"/>
              </a:ext>
            </a:extLst>
          </p:cNvPr>
          <p:cNvSpPr/>
          <p:nvPr/>
        </p:nvSpPr>
        <p:spPr>
          <a:xfrm>
            <a:off x="428625"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4"/>
            <a:stretch>
              <a:fillRect/>
            </a:stretch>
          </a:blipFill>
        </p:spPr>
      </p:sp>
      <p:sp>
        <p:nvSpPr>
          <p:cNvPr id="23" name="Freeform 18">
            <a:extLst>
              <a:ext uri="{FF2B5EF4-FFF2-40B4-BE49-F238E27FC236}">
                <a16:creationId xmlns:a16="http://schemas.microsoft.com/office/drawing/2014/main" id="{4936378F-9769-7574-254A-AD976020093C}"/>
              </a:ext>
            </a:extLst>
          </p:cNvPr>
          <p:cNvSpPr/>
          <p:nvPr/>
        </p:nvSpPr>
        <p:spPr>
          <a:xfrm>
            <a:off x="866775" y="578167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15"/>
            <a:stretch>
              <a:fillRect/>
            </a:stretch>
          </a:blipFill>
        </p:spPr>
      </p:sp>
      <p:sp>
        <p:nvSpPr>
          <p:cNvPr id="24" name="Freeform 19">
            <a:extLst>
              <a:ext uri="{FF2B5EF4-FFF2-40B4-BE49-F238E27FC236}">
                <a16:creationId xmlns:a16="http://schemas.microsoft.com/office/drawing/2014/main" id="{CEA4737C-0FA7-102B-B028-EC291FEDCE7B}"/>
              </a:ext>
            </a:extLst>
          </p:cNvPr>
          <p:cNvSpPr/>
          <p:nvPr/>
        </p:nvSpPr>
        <p:spPr>
          <a:xfrm>
            <a:off x="4781550"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6"/>
            <a:stretch>
              <a:fillRect/>
            </a:stretch>
          </a:blipFill>
        </p:spPr>
      </p:sp>
      <p:sp>
        <p:nvSpPr>
          <p:cNvPr id="25" name="Freeform 20">
            <a:extLst>
              <a:ext uri="{FF2B5EF4-FFF2-40B4-BE49-F238E27FC236}">
                <a16:creationId xmlns:a16="http://schemas.microsoft.com/office/drawing/2014/main" id="{1A89CFCC-E17F-E114-761D-7C1132EBDB69}"/>
              </a:ext>
            </a:extLst>
          </p:cNvPr>
          <p:cNvSpPr/>
          <p:nvPr/>
        </p:nvSpPr>
        <p:spPr>
          <a:xfrm>
            <a:off x="5219700" y="5781675"/>
            <a:ext cx="1095375" cy="866775"/>
          </a:xfrm>
          <a:custGeom>
            <a:avLst/>
            <a:gdLst/>
            <a:ahLst/>
            <a:cxnLst/>
            <a:rect l="l" t="t" r="r" b="b"/>
            <a:pathLst>
              <a:path w="1095375" h="866775">
                <a:moveTo>
                  <a:pt x="0" y="0"/>
                </a:moveTo>
                <a:lnTo>
                  <a:pt x="1095375" y="0"/>
                </a:lnTo>
                <a:lnTo>
                  <a:pt x="1095375" y="866775"/>
                </a:lnTo>
                <a:lnTo>
                  <a:pt x="0" y="866775"/>
                </a:lnTo>
                <a:lnTo>
                  <a:pt x="0" y="0"/>
                </a:lnTo>
                <a:close/>
              </a:path>
            </a:pathLst>
          </a:custGeom>
          <a:blipFill>
            <a:blip r:embed="rId17"/>
            <a:stretch>
              <a:fillRect/>
            </a:stretch>
          </a:blipFill>
        </p:spPr>
      </p:sp>
      <p:sp>
        <p:nvSpPr>
          <p:cNvPr id="26" name="Freeform 21">
            <a:extLst>
              <a:ext uri="{FF2B5EF4-FFF2-40B4-BE49-F238E27FC236}">
                <a16:creationId xmlns:a16="http://schemas.microsoft.com/office/drawing/2014/main" id="{C662F288-D1EE-0617-81CC-335C293B24DD}"/>
              </a:ext>
            </a:extLst>
          </p:cNvPr>
          <p:cNvSpPr/>
          <p:nvPr/>
        </p:nvSpPr>
        <p:spPr>
          <a:xfrm>
            <a:off x="9144000"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8"/>
            <a:stretch>
              <a:fillRect/>
            </a:stretch>
          </a:blipFill>
        </p:spPr>
      </p:sp>
      <p:sp>
        <p:nvSpPr>
          <p:cNvPr id="27" name="Freeform 22">
            <a:extLst>
              <a:ext uri="{FF2B5EF4-FFF2-40B4-BE49-F238E27FC236}">
                <a16:creationId xmlns:a16="http://schemas.microsoft.com/office/drawing/2014/main" id="{35953D11-B463-D3AE-8CCB-F46F0639197E}"/>
              </a:ext>
            </a:extLst>
          </p:cNvPr>
          <p:cNvSpPr/>
          <p:nvPr/>
        </p:nvSpPr>
        <p:spPr>
          <a:xfrm>
            <a:off x="9572625" y="5781675"/>
            <a:ext cx="885825" cy="866775"/>
          </a:xfrm>
          <a:custGeom>
            <a:avLst/>
            <a:gdLst/>
            <a:ahLst/>
            <a:cxnLst/>
            <a:rect l="l" t="t" r="r" b="b"/>
            <a:pathLst>
              <a:path w="885825" h="866775">
                <a:moveTo>
                  <a:pt x="0" y="0"/>
                </a:moveTo>
                <a:lnTo>
                  <a:pt x="885825" y="0"/>
                </a:lnTo>
                <a:lnTo>
                  <a:pt x="885825" y="866775"/>
                </a:lnTo>
                <a:lnTo>
                  <a:pt x="0" y="866775"/>
                </a:lnTo>
                <a:lnTo>
                  <a:pt x="0" y="0"/>
                </a:lnTo>
                <a:close/>
              </a:path>
            </a:pathLst>
          </a:custGeom>
          <a:blipFill>
            <a:blip r:embed="rId19"/>
            <a:stretch>
              <a:fillRect/>
            </a:stretch>
          </a:blipFill>
        </p:spPr>
      </p:sp>
      <p:sp>
        <p:nvSpPr>
          <p:cNvPr id="28" name="Freeform 23">
            <a:extLst>
              <a:ext uri="{FF2B5EF4-FFF2-40B4-BE49-F238E27FC236}">
                <a16:creationId xmlns:a16="http://schemas.microsoft.com/office/drawing/2014/main" id="{936432CB-40A3-7FB7-B7F6-00FAA9493C05}"/>
              </a:ext>
            </a:extLst>
          </p:cNvPr>
          <p:cNvSpPr/>
          <p:nvPr/>
        </p:nvSpPr>
        <p:spPr>
          <a:xfrm>
            <a:off x="13277850" y="5353050"/>
            <a:ext cx="4581525" cy="1504950"/>
          </a:xfrm>
          <a:custGeom>
            <a:avLst/>
            <a:gdLst/>
            <a:ahLst/>
            <a:cxnLst/>
            <a:rect l="l" t="t" r="r" b="b"/>
            <a:pathLst>
              <a:path w="4581525" h="1504950">
                <a:moveTo>
                  <a:pt x="0" y="0"/>
                </a:moveTo>
                <a:lnTo>
                  <a:pt x="4581525" y="0"/>
                </a:lnTo>
                <a:lnTo>
                  <a:pt x="4581525" y="1504950"/>
                </a:lnTo>
                <a:lnTo>
                  <a:pt x="0" y="1504950"/>
                </a:lnTo>
                <a:lnTo>
                  <a:pt x="0" y="0"/>
                </a:lnTo>
                <a:close/>
              </a:path>
            </a:pathLst>
          </a:custGeom>
          <a:blipFill>
            <a:blip r:embed="rId20"/>
            <a:stretch>
              <a:fillRect/>
            </a:stretch>
          </a:blipFill>
        </p:spPr>
      </p:sp>
      <p:sp>
        <p:nvSpPr>
          <p:cNvPr id="29" name="Freeform 24">
            <a:extLst>
              <a:ext uri="{FF2B5EF4-FFF2-40B4-BE49-F238E27FC236}">
                <a16:creationId xmlns:a16="http://schemas.microsoft.com/office/drawing/2014/main" id="{5F791BB1-D0AD-6268-3BF4-350DB11EE987}"/>
              </a:ext>
            </a:extLst>
          </p:cNvPr>
          <p:cNvSpPr/>
          <p:nvPr/>
        </p:nvSpPr>
        <p:spPr>
          <a:xfrm>
            <a:off x="13716000" y="578167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21"/>
            <a:stretch>
              <a:fillRect/>
            </a:stretch>
          </a:blipFill>
        </p:spPr>
      </p:sp>
      <p:sp>
        <p:nvSpPr>
          <p:cNvPr id="30" name="Freeform 25">
            <a:extLst>
              <a:ext uri="{FF2B5EF4-FFF2-40B4-BE49-F238E27FC236}">
                <a16:creationId xmlns:a16="http://schemas.microsoft.com/office/drawing/2014/main" id="{D66AF772-3C73-A110-5343-F35B8365CCA8}"/>
              </a:ext>
            </a:extLst>
          </p:cNvPr>
          <p:cNvSpPr/>
          <p:nvPr/>
        </p:nvSpPr>
        <p:spPr>
          <a:xfrm>
            <a:off x="428625" y="6864381"/>
            <a:ext cx="5667375" cy="1076325"/>
          </a:xfrm>
          <a:custGeom>
            <a:avLst/>
            <a:gdLst/>
            <a:ahLst/>
            <a:cxnLst/>
            <a:rect l="l" t="t" r="r" b="b"/>
            <a:pathLst>
              <a:path w="5667375" h="1076325">
                <a:moveTo>
                  <a:pt x="0" y="0"/>
                </a:moveTo>
                <a:lnTo>
                  <a:pt x="5667375" y="0"/>
                </a:lnTo>
                <a:lnTo>
                  <a:pt x="5667375" y="1076325"/>
                </a:lnTo>
                <a:lnTo>
                  <a:pt x="0" y="1076325"/>
                </a:lnTo>
                <a:lnTo>
                  <a:pt x="0" y="0"/>
                </a:lnTo>
                <a:close/>
              </a:path>
            </a:pathLst>
          </a:custGeom>
          <a:blipFill>
            <a:blip r:embed="rId22"/>
            <a:stretch>
              <a:fillRect/>
            </a:stretch>
          </a:blipFill>
        </p:spPr>
      </p:sp>
      <p:sp>
        <p:nvSpPr>
          <p:cNvPr id="31" name="Freeform 26">
            <a:extLst>
              <a:ext uri="{FF2B5EF4-FFF2-40B4-BE49-F238E27FC236}">
                <a16:creationId xmlns:a16="http://schemas.microsoft.com/office/drawing/2014/main" id="{4E835E31-F4C8-CF5B-BB19-0053FF758765}"/>
              </a:ext>
            </a:extLst>
          </p:cNvPr>
          <p:cNvSpPr/>
          <p:nvPr/>
        </p:nvSpPr>
        <p:spPr>
          <a:xfrm>
            <a:off x="5876925" y="7067550"/>
            <a:ext cx="219075" cy="647700"/>
          </a:xfrm>
          <a:custGeom>
            <a:avLst/>
            <a:gdLst/>
            <a:ahLst/>
            <a:cxnLst/>
            <a:rect l="l" t="t" r="r" b="b"/>
            <a:pathLst>
              <a:path w="219075" h="647700">
                <a:moveTo>
                  <a:pt x="0" y="0"/>
                </a:moveTo>
                <a:lnTo>
                  <a:pt x="219075" y="0"/>
                </a:lnTo>
                <a:lnTo>
                  <a:pt x="219075" y="647700"/>
                </a:lnTo>
                <a:lnTo>
                  <a:pt x="0" y="647700"/>
                </a:lnTo>
                <a:lnTo>
                  <a:pt x="0" y="0"/>
                </a:lnTo>
                <a:close/>
              </a:path>
            </a:pathLst>
          </a:custGeom>
          <a:blipFill>
            <a:blip r:embed="rId23"/>
            <a:stretch>
              <a:fillRect/>
            </a:stretch>
          </a:blipFill>
        </p:spPr>
      </p:sp>
      <p:sp>
        <p:nvSpPr>
          <p:cNvPr id="32" name="Freeform 27">
            <a:extLst>
              <a:ext uri="{FF2B5EF4-FFF2-40B4-BE49-F238E27FC236}">
                <a16:creationId xmlns:a16="http://schemas.microsoft.com/office/drawing/2014/main" id="{A11CE01E-7ABC-7640-BD46-BD46C7DA4C81}"/>
              </a:ext>
            </a:extLst>
          </p:cNvPr>
          <p:cNvSpPr/>
          <p:nvPr/>
        </p:nvSpPr>
        <p:spPr>
          <a:xfrm>
            <a:off x="5876925" y="6858000"/>
            <a:ext cx="6534150" cy="1076325"/>
          </a:xfrm>
          <a:custGeom>
            <a:avLst/>
            <a:gdLst/>
            <a:ahLst/>
            <a:cxnLst/>
            <a:rect l="l" t="t" r="r" b="b"/>
            <a:pathLst>
              <a:path w="6534150" h="1076325">
                <a:moveTo>
                  <a:pt x="0" y="0"/>
                </a:moveTo>
                <a:lnTo>
                  <a:pt x="6534150" y="0"/>
                </a:lnTo>
                <a:lnTo>
                  <a:pt x="6534150" y="1076325"/>
                </a:lnTo>
                <a:lnTo>
                  <a:pt x="0" y="1076325"/>
                </a:lnTo>
                <a:lnTo>
                  <a:pt x="0" y="0"/>
                </a:lnTo>
                <a:close/>
              </a:path>
            </a:pathLst>
          </a:custGeom>
          <a:blipFill>
            <a:blip r:embed="rId24"/>
            <a:stretch>
              <a:fillRect/>
            </a:stretch>
          </a:blipFill>
        </p:spPr>
      </p:sp>
      <p:sp>
        <p:nvSpPr>
          <p:cNvPr id="33" name="Freeform 28">
            <a:extLst>
              <a:ext uri="{FF2B5EF4-FFF2-40B4-BE49-F238E27FC236}">
                <a16:creationId xmlns:a16="http://schemas.microsoft.com/office/drawing/2014/main" id="{DA823231-0860-24CE-B165-F2A6C315EC37}"/>
              </a:ext>
            </a:extLst>
          </p:cNvPr>
          <p:cNvSpPr/>
          <p:nvPr/>
        </p:nvSpPr>
        <p:spPr>
          <a:xfrm>
            <a:off x="12192000" y="7067550"/>
            <a:ext cx="219075" cy="647700"/>
          </a:xfrm>
          <a:custGeom>
            <a:avLst/>
            <a:gdLst/>
            <a:ahLst/>
            <a:cxnLst/>
            <a:rect l="l" t="t" r="r" b="b"/>
            <a:pathLst>
              <a:path w="219075" h="647700">
                <a:moveTo>
                  <a:pt x="0" y="0"/>
                </a:moveTo>
                <a:lnTo>
                  <a:pt x="219075" y="0"/>
                </a:lnTo>
                <a:lnTo>
                  <a:pt x="219075" y="647700"/>
                </a:lnTo>
                <a:lnTo>
                  <a:pt x="0" y="647700"/>
                </a:lnTo>
                <a:lnTo>
                  <a:pt x="0" y="0"/>
                </a:lnTo>
                <a:close/>
              </a:path>
            </a:pathLst>
          </a:custGeom>
          <a:blipFill>
            <a:blip r:embed="rId25"/>
            <a:stretch>
              <a:fillRect/>
            </a:stretch>
          </a:blipFill>
        </p:spPr>
      </p:sp>
      <p:sp>
        <p:nvSpPr>
          <p:cNvPr id="34" name="Freeform 29">
            <a:extLst>
              <a:ext uri="{FF2B5EF4-FFF2-40B4-BE49-F238E27FC236}">
                <a16:creationId xmlns:a16="http://schemas.microsoft.com/office/drawing/2014/main" id="{6503448F-550D-37A6-353B-DD24D7E182DA}"/>
              </a:ext>
            </a:extLst>
          </p:cNvPr>
          <p:cNvSpPr/>
          <p:nvPr/>
        </p:nvSpPr>
        <p:spPr>
          <a:xfrm>
            <a:off x="12192000" y="6858000"/>
            <a:ext cx="5667375" cy="1076325"/>
          </a:xfrm>
          <a:custGeom>
            <a:avLst/>
            <a:gdLst/>
            <a:ahLst/>
            <a:cxnLst/>
            <a:rect l="l" t="t" r="r" b="b"/>
            <a:pathLst>
              <a:path w="5667375" h="1076325">
                <a:moveTo>
                  <a:pt x="0" y="0"/>
                </a:moveTo>
                <a:lnTo>
                  <a:pt x="5667375" y="0"/>
                </a:lnTo>
                <a:lnTo>
                  <a:pt x="5667375" y="1076325"/>
                </a:lnTo>
                <a:lnTo>
                  <a:pt x="0" y="1076325"/>
                </a:lnTo>
                <a:lnTo>
                  <a:pt x="0" y="0"/>
                </a:lnTo>
                <a:close/>
              </a:path>
            </a:pathLst>
          </a:custGeom>
          <a:blipFill>
            <a:blip r:embed="rId26"/>
            <a:stretch>
              <a:fillRect/>
            </a:stretch>
          </a:blipFill>
        </p:spPr>
      </p:sp>
      <p:sp>
        <p:nvSpPr>
          <p:cNvPr id="35" name="Freeform 30">
            <a:extLst>
              <a:ext uri="{FF2B5EF4-FFF2-40B4-BE49-F238E27FC236}">
                <a16:creationId xmlns:a16="http://schemas.microsoft.com/office/drawing/2014/main" id="{36B49BD9-7892-46ED-40A5-E3561B440FA8}"/>
              </a:ext>
            </a:extLst>
          </p:cNvPr>
          <p:cNvSpPr/>
          <p:nvPr/>
        </p:nvSpPr>
        <p:spPr>
          <a:xfrm>
            <a:off x="428625" y="7924800"/>
            <a:ext cx="4800600" cy="1504950"/>
          </a:xfrm>
          <a:custGeom>
            <a:avLst/>
            <a:gdLst/>
            <a:ahLst/>
            <a:cxnLst/>
            <a:rect l="l" t="t" r="r" b="b"/>
            <a:pathLst>
              <a:path w="4800600" h="1504950">
                <a:moveTo>
                  <a:pt x="0" y="0"/>
                </a:moveTo>
                <a:lnTo>
                  <a:pt x="4800600" y="0"/>
                </a:lnTo>
                <a:lnTo>
                  <a:pt x="4800600" y="1504950"/>
                </a:lnTo>
                <a:lnTo>
                  <a:pt x="0" y="1504950"/>
                </a:lnTo>
                <a:lnTo>
                  <a:pt x="0" y="0"/>
                </a:lnTo>
                <a:close/>
              </a:path>
            </a:pathLst>
          </a:custGeom>
          <a:blipFill>
            <a:blip r:embed="rId27"/>
            <a:stretch>
              <a:fillRect/>
            </a:stretch>
          </a:blipFill>
        </p:spPr>
      </p:sp>
      <p:sp>
        <p:nvSpPr>
          <p:cNvPr id="36" name="Freeform 31">
            <a:extLst>
              <a:ext uri="{FF2B5EF4-FFF2-40B4-BE49-F238E27FC236}">
                <a16:creationId xmlns:a16="http://schemas.microsoft.com/office/drawing/2014/main" id="{102ED9BD-39F7-EEC5-6209-8449A9398674}"/>
              </a:ext>
            </a:extLst>
          </p:cNvPr>
          <p:cNvSpPr/>
          <p:nvPr/>
        </p:nvSpPr>
        <p:spPr>
          <a:xfrm>
            <a:off x="866775" y="814387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28"/>
            <a:stretch>
              <a:fillRect/>
            </a:stretch>
          </a:blipFill>
        </p:spPr>
      </p:sp>
      <p:sp>
        <p:nvSpPr>
          <p:cNvPr id="37" name="Freeform 32">
            <a:extLst>
              <a:ext uri="{FF2B5EF4-FFF2-40B4-BE49-F238E27FC236}">
                <a16:creationId xmlns:a16="http://schemas.microsoft.com/office/drawing/2014/main" id="{FD06D7B1-AC79-0897-5440-5820EAD8CBB4}"/>
              </a:ext>
            </a:extLst>
          </p:cNvPr>
          <p:cNvSpPr/>
          <p:nvPr/>
        </p:nvSpPr>
        <p:spPr>
          <a:xfrm>
            <a:off x="4904231" y="7912100"/>
            <a:ext cx="4554093"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sp>
      <p:sp>
        <p:nvSpPr>
          <p:cNvPr id="38" name="Freeform 33">
            <a:extLst>
              <a:ext uri="{FF2B5EF4-FFF2-40B4-BE49-F238E27FC236}">
                <a16:creationId xmlns:a16="http://schemas.microsoft.com/office/drawing/2014/main" id="{C532B586-D6A9-9E5B-543E-1F74A845480C}"/>
              </a:ext>
            </a:extLst>
          </p:cNvPr>
          <p:cNvSpPr/>
          <p:nvPr/>
        </p:nvSpPr>
        <p:spPr>
          <a:xfrm>
            <a:off x="5438775" y="814387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30"/>
            <a:stretch>
              <a:fillRect/>
            </a:stretch>
          </a:blipFill>
        </p:spPr>
      </p:sp>
      <p:sp>
        <p:nvSpPr>
          <p:cNvPr id="40" name="Freeform 35">
            <a:extLst>
              <a:ext uri="{FF2B5EF4-FFF2-40B4-BE49-F238E27FC236}">
                <a16:creationId xmlns:a16="http://schemas.microsoft.com/office/drawing/2014/main" id="{286F151F-AC7F-7F8E-F607-7BE53640198B}"/>
              </a:ext>
            </a:extLst>
          </p:cNvPr>
          <p:cNvSpPr/>
          <p:nvPr/>
        </p:nvSpPr>
        <p:spPr>
          <a:xfrm>
            <a:off x="9572625" y="8143875"/>
            <a:ext cx="885825" cy="857250"/>
          </a:xfrm>
          <a:custGeom>
            <a:avLst/>
            <a:gdLst/>
            <a:ahLst/>
            <a:cxnLst/>
            <a:rect l="l" t="t" r="r" b="b"/>
            <a:pathLst>
              <a:path w="885825" h="857250">
                <a:moveTo>
                  <a:pt x="0" y="0"/>
                </a:moveTo>
                <a:lnTo>
                  <a:pt x="885825" y="0"/>
                </a:lnTo>
                <a:lnTo>
                  <a:pt x="885825" y="857250"/>
                </a:lnTo>
                <a:lnTo>
                  <a:pt x="0" y="857250"/>
                </a:lnTo>
                <a:lnTo>
                  <a:pt x="0" y="0"/>
                </a:lnTo>
                <a:close/>
              </a:path>
            </a:pathLst>
          </a:custGeom>
          <a:blipFill>
            <a:blip r:embed="rId31"/>
            <a:stretch>
              <a:fillRect/>
            </a:stretch>
          </a:blipFill>
        </p:spPr>
      </p:sp>
      <p:sp>
        <p:nvSpPr>
          <p:cNvPr id="41" name="TextBox 36">
            <a:extLst>
              <a:ext uri="{FF2B5EF4-FFF2-40B4-BE49-F238E27FC236}">
                <a16:creationId xmlns:a16="http://schemas.microsoft.com/office/drawing/2014/main" id="{9712476D-7951-C315-CD05-AB98156CBEB3}"/>
              </a:ext>
            </a:extLst>
          </p:cNvPr>
          <p:cNvSpPr txBox="1"/>
          <p:nvPr/>
        </p:nvSpPr>
        <p:spPr>
          <a:xfrm>
            <a:off x="2816352" y="4353687"/>
            <a:ext cx="822960"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TODAY</a:t>
            </a:r>
          </a:p>
        </p:txBody>
      </p:sp>
      <p:sp>
        <p:nvSpPr>
          <p:cNvPr id="42" name="TextBox 37">
            <a:extLst>
              <a:ext uri="{FF2B5EF4-FFF2-40B4-BE49-F238E27FC236}">
                <a16:creationId xmlns:a16="http://schemas.microsoft.com/office/drawing/2014/main" id="{F142F966-81B7-99F6-9EC3-8500AAC27C5E}"/>
              </a:ext>
            </a:extLst>
          </p:cNvPr>
          <p:cNvSpPr txBox="1"/>
          <p:nvPr/>
        </p:nvSpPr>
        <p:spPr>
          <a:xfrm>
            <a:off x="1773936" y="4754880"/>
            <a:ext cx="3182112"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Observe → Search → React</a:t>
            </a:r>
          </a:p>
        </p:txBody>
      </p:sp>
      <p:sp>
        <p:nvSpPr>
          <p:cNvPr id="43" name="TextBox 38">
            <a:extLst>
              <a:ext uri="{FF2B5EF4-FFF2-40B4-BE49-F238E27FC236}">
                <a16:creationId xmlns:a16="http://schemas.microsoft.com/office/drawing/2014/main" id="{52EB7F7E-D66D-DC66-9239-B9777F71FB72}"/>
              </a:ext>
            </a:extLst>
          </p:cNvPr>
          <p:cNvSpPr txBox="1"/>
          <p:nvPr/>
        </p:nvSpPr>
        <p:spPr>
          <a:xfrm>
            <a:off x="8138160" y="4353687"/>
            <a:ext cx="175564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AQUATRACE AI</a:t>
            </a:r>
          </a:p>
        </p:txBody>
      </p:sp>
      <p:sp>
        <p:nvSpPr>
          <p:cNvPr id="44" name="TextBox 39">
            <a:extLst>
              <a:ext uri="{FF2B5EF4-FFF2-40B4-BE49-F238E27FC236}">
                <a16:creationId xmlns:a16="http://schemas.microsoft.com/office/drawing/2014/main" id="{59F3E68B-5B87-94F9-4B61-49A2C0EBFE7E}"/>
              </a:ext>
            </a:extLst>
          </p:cNvPr>
          <p:cNvSpPr txBox="1"/>
          <p:nvPr/>
        </p:nvSpPr>
        <p:spPr>
          <a:xfrm>
            <a:off x="7187184" y="4754880"/>
            <a:ext cx="376732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Satellite + AI + Ocean Dynamics</a:t>
            </a:r>
          </a:p>
        </p:txBody>
      </p:sp>
      <p:sp>
        <p:nvSpPr>
          <p:cNvPr id="45" name="TextBox 40">
            <a:extLst>
              <a:ext uri="{FF2B5EF4-FFF2-40B4-BE49-F238E27FC236}">
                <a16:creationId xmlns:a16="http://schemas.microsoft.com/office/drawing/2014/main" id="{34CE2BA2-E459-F160-EF50-DD76A28DE582}"/>
              </a:ext>
            </a:extLst>
          </p:cNvPr>
          <p:cNvSpPr txBox="1"/>
          <p:nvPr/>
        </p:nvSpPr>
        <p:spPr>
          <a:xfrm>
            <a:off x="14429232" y="4353687"/>
            <a:ext cx="93268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FUTURE</a:t>
            </a:r>
          </a:p>
        </p:txBody>
      </p:sp>
      <p:sp>
        <p:nvSpPr>
          <p:cNvPr id="46" name="TextBox 41">
            <a:extLst>
              <a:ext uri="{FF2B5EF4-FFF2-40B4-BE49-F238E27FC236}">
                <a16:creationId xmlns:a16="http://schemas.microsoft.com/office/drawing/2014/main" id="{148C7D82-E662-E395-1685-14C84CA7913B}"/>
              </a:ext>
            </a:extLst>
          </p:cNvPr>
          <p:cNvSpPr txBox="1"/>
          <p:nvPr/>
        </p:nvSpPr>
        <p:spPr>
          <a:xfrm>
            <a:off x="12929616" y="4754880"/>
            <a:ext cx="440740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Detect → Forecast → Prioritize → Act</a:t>
            </a:r>
          </a:p>
        </p:txBody>
      </p:sp>
      <p:sp>
        <p:nvSpPr>
          <p:cNvPr id="47" name="TextBox 42">
            <a:extLst>
              <a:ext uri="{FF2B5EF4-FFF2-40B4-BE49-F238E27FC236}">
                <a16:creationId xmlns:a16="http://schemas.microsoft.com/office/drawing/2014/main" id="{6AAD2F52-2BDE-D01A-F606-E1184BB00D87}"/>
              </a:ext>
            </a:extLst>
          </p:cNvPr>
          <p:cNvSpPr txBox="1"/>
          <p:nvPr/>
        </p:nvSpPr>
        <p:spPr>
          <a:xfrm>
            <a:off x="2084832" y="5829490"/>
            <a:ext cx="1554480" cy="282578"/>
          </a:xfrm>
          <a:prstGeom prst="rect">
            <a:avLst/>
          </a:prstGeom>
        </p:spPr>
        <p:txBody>
          <a:bodyPr lIns="0" tIns="0" rIns="0" bIns="0" rtlCol="0" anchor="t">
            <a:spAutoFit/>
          </a:bodyPr>
          <a:lstStyle/>
          <a:p>
            <a:pPr algn="l">
              <a:lnSpc>
                <a:spcPts val="2296"/>
              </a:lnSpc>
            </a:pPr>
            <a:r>
              <a:rPr lang="en-US" sz="1913" b="1">
                <a:latin typeface="Roboto Bold"/>
                <a:ea typeface="Roboto Bold"/>
                <a:cs typeface="Roboto Bold"/>
                <a:sym typeface="Roboto Bold"/>
              </a:rPr>
              <a:t>AUTHORITIES</a:t>
            </a:r>
          </a:p>
        </p:txBody>
      </p:sp>
      <p:sp>
        <p:nvSpPr>
          <p:cNvPr id="48" name="TextBox 43">
            <a:extLst>
              <a:ext uri="{FF2B5EF4-FFF2-40B4-BE49-F238E27FC236}">
                <a16:creationId xmlns:a16="http://schemas.microsoft.com/office/drawing/2014/main" id="{27D4EC41-074B-B44F-8020-903D9CDF234D}"/>
              </a:ext>
            </a:extLst>
          </p:cNvPr>
          <p:cNvSpPr txBox="1"/>
          <p:nvPr/>
        </p:nvSpPr>
        <p:spPr>
          <a:xfrm>
            <a:off x="2084832" y="6224778"/>
            <a:ext cx="1389888"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Priority Zones</a:t>
            </a:r>
          </a:p>
        </p:txBody>
      </p:sp>
      <p:sp>
        <p:nvSpPr>
          <p:cNvPr id="49" name="TextBox 44">
            <a:extLst>
              <a:ext uri="{FF2B5EF4-FFF2-40B4-BE49-F238E27FC236}">
                <a16:creationId xmlns:a16="http://schemas.microsoft.com/office/drawing/2014/main" id="{7D41F90D-D207-5D0E-8DA3-9A287013A136}"/>
              </a:ext>
            </a:extLst>
          </p:cNvPr>
          <p:cNvSpPr txBox="1"/>
          <p:nvPr/>
        </p:nvSpPr>
        <p:spPr>
          <a:xfrm>
            <a:off x="6528816" y="5824728"/>
            <a:ext cx="1426464" cy="304800"/>
          </a:xfrm>
          <a:prstGeom prst="rect">
            <a:avLst/>
          </a:prstGeom>
        </p:spPr>
        <p:txBody>
          <a:bodyPr lIns="0" tIns="0" rIns="0" bIns="0" rtlCol="0" anchor="t">
            <a:spAutoFit/>
          </a:bodyPr>
          <a:lstStyle/>
          <a:p>
            <a:pPr algn="l">
              <a:lnSpc>
                <a:spcPts val="2349"/>
              </a:lnSpc>
            </a:pPr>
            <a:r>
              <a:rPr lang="en-US" sz="1958" b="1">
                <a:latin typeface="Roboto Bold"/>
                <a:ea typeface="Roboto Bold"/>
                <a:cs typeface="Roboto Bold"/>
                <a:sym typeface="Roboto Bold"/>
              </a:rPr>
              <a:t>OPERATORS</a:t>
            </a:r>
          </a:p>
        </p:txBody>
      </p:sp>
      <p:sp>
        <p:nvSpPr>
          <p:cNvPr id="50" name="TextBox 45">
            <a:extLst>
              <a:ext uri="{FF2B5EF4-FFF2-40B4-BE49-F238E27FC236}">
                <a16:creationId xmlns:a16="http://schemas.microsoft.com/office/drawing/2014/main" id="{76282F5B-72C9-2BD2-0853-91D4DDD53908}"/>
              </a:ext>
            </a:extLst>
          </p:cNvPr>
          <p:cNvSpPr txBox="1"/>
          <p:nvPr/>
        </p:nvSpPr>
        <p:spPr>
          <a:xfrm>
            <a:off x="6528816" y="6224778"/>
            <a:ext cx="1755648" cy="538609"/>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Targeted Cleanup</a:t>
            </a:r>
          </a:p>
        </p:txBody>
      </p:sp>
      <p:sp>
        <p:nvSpPr>
          <p:cNvPr id="51" name="TextBox 46">
            <a:extLst>
              <a:ext uri="{FF2B5EF4-FFF2-40B4-BE49-F238E27FC236}">
                <a16:creationId xmlns:a16="http://schemas.microsoft.com/office/drawing/2014/main" id="{A258DB56-85EE-207C-3A9E-B15301F2621B}"/>
              </a:ext>
            </a:extLst>
          </p:cNvPr>
          <p:cNvSpPr txBox="1"/>
          <p:nvPr/>
        </p:nvSpPr>
        <p:spPr>
          <a:xfrm>
            <a:off x="10661904" y="5819965"/>
            <a:ext cx="1170432" cy="304800"/>
          </a:xfrm>
          <a:prstGeom prst="rect">
            <a:avLst/>
          </a:prstGeom>
        </p:spPr>
        <p:txBody>
          <a:bodyPr lIns="0" tIns="0" rIns="0" bIns="0" rtlCol="0" anchor="t">
            <a:spAutoFit/>
          </a:bodyPr>
          <a:lstStyle/>
          <a:p>
            <a:pPr algn="l">
              <a:lnSpc>
                <a:spcPts val="2323"/>
              </a:lnSpc>
            </a:pPr>
            <a:r>
              <a:rPr lang="en-US" sz="1935" b="1">
                <a:latin typeface="Roboto Bold"/>
                <a:ea typeface="Roboto Bold"/>
                <a:cs typeface="Roboto Bold"/>
                <a:sym typeface="Roboto Bold"/>
              </a:rPr>
              <a:t>AGENCIES</a:t>
            </a:r>
          </a:p>
        </p:txBody>
      </p:sp>
      <p:sp>
        <p:nvSpPr>
          <p:cNvPr id="52" name="TextBox 47">
            <a:extLst>
              <a:ext uri="{FF2B5EF4-FFF2-40B4-BE49-F238E27FC236}">
                <a16:creationId xmlns:a16="http://schemas.microsoft.com/office/drawing/2014/main" id="{D468230B-C02D-753F-01FF-D52905590054}"/>
              </a:ext>
            </a:extLst>
          </p:cNvPr>
          <p:cNvSpPr txBox="1"/>
          <p:nvPr/>
        </p:nvSpPr>
        <p:spPr>
          <a:xfrm>
            <a:off x="10661904" y="6224778"/>
            <a:ext cx="2084832"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Proactive Monitoring</a:t>
            </a:r>
          </a:p>
        </p:txBody>
      </p:sp>
      <p:sp>
        <p:nvSpPr>
          <p:cNvPr id="53" name="TextBox 48">
            <a:extLst>
              <a:ext uri="{FF2B5EF4-FFF2-40B4-BE49-F238E27FC236}">
                <a16:creationId xmlns:a16="http://schemas.microsoft.com/office/drawing/2014/main" id="{F1D5CBEB-26CF-DB92-8148-897E3CCB4880}"/>
              </a:ext>
            </a:extLst>
          </p:cNvPr>
          <p:cNvSpPr txBox="1"/>
          <p:nvPr/>
        </p:nvSpPr>
        <p:spPr>
          <a:xfrm>
            <a:off x="14831568" y="5829490"/>
            <a:ext cx="1682496" cy="282578"/>
          </a:xfrm>
          <a:prstGeom prst="rect">
            <a:avLst/>
          </a:prstGeom>
        </p:spPr>
        <p:txBody>
          <a:bodyPr lIns="0" tIns="0" rIns="0" bIns="0" rtlCol="0" anchor="t">
            <a:spAutoFit/>
          </a:bodyPr>
          <a:lstStyle/>
          <a:p>
            <a:pPr algn="l">
              <a:lnSpc>
                <a:spcPts val="2296"/>
              </a:lnSpc>
            </a:pPr>
            <a:r>
              <a:rPr lang="en-US" sz="1913" b="1">
                <a:latin typeface="Roboto Bold"/>
                <a:ea typeface="Roboto Bold"/>
                <a:cs typeface="Roboto Bold"/>
                <a:sym typeface="Roboto Bold"/>
              </a:rPr>
              <a:t>RESEARCHERS</a:t>
            </a:r>
          </a:p>
        </p:txBody>
      </p:sp>
      <p:sp>
        <p:nvSpPr>
          <p:cNvPr id="54" name="TextBox 49">
            <a:extLst>
              <a:ext uri="{FF2B5EF4-FFF2-40B4-BE49-F238E27FC236}">
                <a16:creationId xmlns:a16="http://schemas.microsoft.com/office/drawing/2014/main" id="{0E579F02-8E61-81A0-0412-7C67028A5655}"/>
              </a:ext>
            </a:extLst>
          </p:cNvPr>
          <p:cNvSpPr txBox="1"/>
          <p:nvPr/>
        </p:nvSpPr>
        <p:spPr>
          <a:xfrm>
            <a:off x="14831568" y="6229541"/>
            <a:ext cx="2523744" cy="266700"/>
          </a:xfrm>
          <a:prstGeom prst="rect">
            <a:avLst/>
          </a:prstGeom>
        </p:spPr>
        <p:txBody>
          <a:bodyPr lIns="0" tIns="0" rIns="0" bIns="0" rtlCol="0" anchor="t">
            <a:spAutoFit/>
          </a:bodyPr>
          <a:lstStyle/>
          <a:p>
            <a:pPr algn="l">
              <a:lnSpc>
                <a:spcPts val="2025"/>
              </a:lnSpc>
            </a:pPr>
            <a:r>
              <a:rPr lang="en-US" sz="1687">
                <a:latin typeface="Roboto"/>
                <a:ea typeface="Roboto"/>
                <a:cs typeface="Roboto"/>
                <a:sym typeface="Roboto"/>
              </a:rPr>
              <a:t>Debris Movement Insights</a:t>
            </a:r>
          </a:p>
        </p:txBody>
      </p:sp>
      <p:sp>
        <p:nvSpPr>
          <p:cNvPr id="55" name="TextBox 50">
            <a:extLst>
              <a:ext uri="{FF2B5EF4-FFF2-40B4-BE49-F238E27FC236}">
                <a16:creationId xmlns:a16="http://schemas.microsoft.com/office/drawing/2014/main" id="{00346D8F-06BA-CCA2-1B3B-1C148D7ABD7F}"/>
              </a:ext>
            </a:extLst>
          </p:cNvPr>
          <p:cNvSpPr txBox="1"/>
          <p:nvPr/>
        </p:nvSpPr>
        <p:spPr>
          <a:xfrm>
            <a:off x="2779776" y="7123747"/>
            <a:ext cx="768096" cy="257175"/>
          </a:xfrm>
          <a:prstGeom prst="rect">
            <a:avLst/>
          </a:prstGeom>
        </p:spPr>
        <p:txBody>
          <a:bodyPr lIns="0" tIns="0" rIns="0" bIns="0" rtlCol="0" anchor="t">
            <a:spAutoFit/>
          </a:bodyPr>
          <a:lstStyle/>
          <a:p>
            <a:pPr algn="ctr">
              <a:lnSpc>
                <a:spcPts val="2070"/>
              </a:lnSpc>
            </a:pPr>
            <a:r>
              <a:rPr lang="en-US" sz="1725" b="1">
                <a:latin typeface="Roboto Bold"/>
                <a:ea typeface="Roboto Bold"/>
                <a:cs typeface="Roboto Bold"/>
                <a:sym typeface="Roboto Bold"/>
              </a:rPr>
              <a:t>SOCIAL</a:t>
            </a:r>
          </a:p>
        </p:txBody>
      </p:sp>
      <p:sp>
        <p:nvSpPr>
          <p:cNvPr id="56" name="TextBox 51">
            <a:extLst>
              <a:ext uri="{FF2B5EF4-FFF2-40B4-BE49-F238E27FC236}">
                <a16:creationId xmlns:a16="http://schemas.microsoft.com/office/drawing/2014/main" id="{2A7F33D5-FF09-47F5-7306-C347A6D1FAF8}"/>
              </a:ext>
            </a:extLst>
          </p:cNvPr>
          <p:cNvSpPr txBox="1"/>
          <p:nvPr/>
        </p:nvSpPr>
        <p:spPr>
          <a:xfrm>
            <a:off x="1078991" y="7442263"/>
            <a:ext cx="4401693" cy="232500"/>
          </a:xfrm>
          <a:prstGeom prst="rect">
            <a:avLst/>
          </a:prstGeom>
        </p:spPr>
        <p:txBody>
          <a:bodyPr wrap="square" lIns="0" tIns="0" rIns="0" bIns="0" rtlCol="0" anchor="t">
            <a:spAutoFit/>
          </a:bodyPr>
          <a:lstStyle/>
          <a:p>
            <a:pPr algn="ctr">
              <a:lnSpc>
                <a:spcPts val="1861"/>
              </a:lnSpc>
            </a:pPr>
            <a:r>
              <a:rPr lang="en-US" sz="1551" dirty="0">
                <a:latin typeface="Roboto"/>
                <a:ea typeface="Roboto"/>
                <a:cs typeface="Roboto"/>
                <a:sym typeface="Roboto"/>
              </a:rPr>
              <a:t>Faster Response | Safer Coasts | Better Decisions</a:t>
            </a:r>
          </a:p>
        </p:txBody>
      </p:sp>
      <p:sp>
        <p:nvSpPr>
          <p:cNvPr id="57" name="TextBox 52">
            <a:extLst>
              <a:ext uri="{FF2B5EF4-FFF2-40B4-BE49-F238E27FC236}">
                <a16:creationId xmlns:a16="http://schemas.microsoft.com/office/drawing/2014/main" id="{D2EFAF1A-7A97-A9FE-6E7F-3349F6C0298E}"/>
              </a:ext>
            </a:extLst>
          </p:cNvPr>
          <p:cNvSpPr txBox="1"/>
          <p:nvPr/>
        </p:nvSpPr>
        <p:spPr>
          <a:xfrm>
            <a:off x="8339328" y="7123747"/>
            <a:ext cx="1554480" cy="257175"/>
          </a:xfrm>
          <a:prstGeom prst="rect">
            <a:avLst/>
          </a:prstGeom>
        </p:spPr>
        <p:txBody>
          <a:bodyPr lIns="0" tIns="0" rIns="0" bIns="0" rtlCol="0" anchor="t">
            <a:spAutoFit/>
          </a:bodyPr>
          <a:lstStyle/>
          <a:p>
            <a:pPr algn="ctr">
              <a:lnSpc>
                <a:spcPts val="2070"/>
              </a:lnSpc>
            </a:pPr>
            <a:r>
              <a:rPr lang="en-US" sz="1725" b="1">
                <a:latin typeface="Roboto Bold"/>
                <a:ea typeface="Roboto Bold"/>
                <a:cs typeface="Roboto Bold"/>
                <a:sym typeface="Roboto Bold"/>
              </a:rPr>
              <a:t>ENVIRONMENT</a:t>
            </a:r>
          </a:p>
        </p:txBody>
      </p:sp>
      <p:sp>
        <p:nvSpPr>
          <p:cNvPr id="58" name="TextBox 53">
            <a:extLst>
              <a:ext uri="{FF2B5EF4-FFF2-40B4-BE49-F238E27FC236}">
                <a16:creationId xmlns:a16="http://schemas.microsoft.com/office/drawing/2014/main" id="{FCDEF8E2-BA6C-5842-6D8D-06C5500FC742}"/>
              </a:ext>
            </a:extLst>
          </p:cNvPr>
          <p:cNvSpPr txBox="1"/>
          <p:nvPr/>
        </p:nvSpPr>
        <p:spPr>
          <a:xfrm>
            <a:off x="6492240" y="7437501"/>
            <a:ext cx="5303520" cy="247650"/>
          </a:xfrm>
          <a:prstGeom prst="rect">
            <a:avLst/>
          </a:prstGeom>
        </p:spPr>
        <p:txBody>
          <a:bodyPr lIns="0" tIns="0" rIns="0" bIns="0" rtlCol="0" anchor="t">
            <a:spAutoFit/>
          </a:bodyPr>
          <a:lstStyle/>
          <a:p>
            <a:pPr algn="ctr">
              <a:lnSpc>
                <a:spcPts val="1940"/>
              </a:lnSpc>
            </a:pPr>
            <a:r>
              <a:rPr lang="en-US" sz="1617">
                <a:latin typeface="Roboto"/>
                <a:ea typeface="Roboto"/>
                <a:cs typeface="Roboto"/>
                <a:sym typeface="Roboto"/>
              </a:rPr>
              <a:t>Early Intervention | Risk Pathways | Ecosystem Protection</a:t>
            </a:r>
          </a:p>
        </p:txBody>
      </p:sp>
      <p:sp>
        <p:nvSpPr>
          <p:cNvPr id="59" name="TextBox 54">
            <a:extLst>
              <a:ext uri="{FF2B5EF4-FFF2-40B4-BE49-F238E27FC236}">
                <a16:creationId xmlns:a16="http://schemas.microsoft.com/office/drawing/2014/main" id="{7856E67D-FBC8-3EC7-F090-60E12B18616C}"/>
              </a:ext>
            </a:extLst>
          </p:cNvPr>
          <p:cNvSpPr txBox="1"/>
          <p:nvPr/>
        </p:nvSpPr>
        <p:spPr>
          <a:xfrm>
            <a:off x="14392656" y="7114222"/>
            <a:ext cx="1316736" cy="266700"/>
          </a:xfrm>
          <a:prstGeom prst="rect">
            <a:avLst/>
          </a:prstGeom>
        </p:spPr>
        <p:txBody>
          <a:bodyPr lIns="0" tIns="0" rIns="0" bIns="0" rtlCol="0" anchor="t">
            <a:spAutoFit/>
          </a:bodyPr>
          <a:lstStyle/>
          <a:p>
            <a:pPr algn="ctr">
              <a:lnSpc>
                <a:spcPts val="2025"/>
              </a:lnSpc>
            </a:pPr>
            <a:r>
              <a:rPr lang="en-US" sz="1687" b="1">
                <a:latin typeface="Roboto Bold"/>
                <a:ea typeface="Roboto Bold"/>
                <a:cs typeface="Roboto Bold"/>
                <a:sym typeface="Roboto Bold"/>
              </a:rPr>
              <a:t>OPERATIONS</a:t>
            </a:r>
          </a:p>
        </p:txBody>
      </p:sp>
      <p:sp>
        <p:nvSpPr>
          <p:cNvPr id="60" name="TextBox 55">
            <a:extLst>
              <a:ext uri="{FF2B5EF4-FFF2-40B4-BE49-F238E27FC236}">
                <a16:creationId xmlns:a16="http://schemas.microsoft.com/office/drawing/2014/main" id="{D6FF1E57-9140-475E-EA1E-3AD5A46A20FC}"/>
              </a:ext>
            </a:extLst>
          </p:cNvPr>
          <p:cNvSpPr txBox="1"/>
          <p:nvPr/>
        </p:nvSpPr>
        <p:spPr>
          <a:xfrm>
            <a:off x="12710160" y="7447026"/>
            <a:ext cx="4645152" cy="218008"/>
          </a:xfrm>
          <a:prstGeom prst="rect">
            <a:avLst/>
          </a:prstGeom>
        </p:spPr>
        <p:txBody>
          <a:bodyPr lIns="0" tIns="0" rIns="0" bIns="0" rtlCol="0" anchor="t">
            <a:spAutoFit/>
          </a:bodyPr>
          <a:lstStyle/>
          <a:p>
            <a:pPr algn="ctr">
              <a:lnSpc>
                <a:spcPts val="1743"/>
              </a:lnSpc>
            </a:pPr>
            <a:r>
              <a:rPr lang="en-US" sz="1453">
                <a:latin typeface="Roboto"/>
                <a:ea typeface="Roboto"/>
                <a:cs typeface="Roboto"/>
                <a:sym typeface="Roboto"/>
              </a:rPr>
              <a:t>Smarter Resources | Less Searching | Targeted Planning</a:t>
            </a:r>
          </a:p>
        </p:txBody>
      </p:sp>
      <p:sp>
        <p:nvSpPr>
          <p:cNvPr id="61" name="TextBox 56">
            <a:extLst>
              <a:ext uri="{FF2B5EF4-FFF2-40B4-BE49-F238E27FC236}">
                <a16:creationId xmlns:a16="http://schemas.microsoft.com/office/drawing/2014/main" id="{CA73CA4C-BB64-419A-D36B-B8C2ECDD5930}"/>
              </a:ext>
            </a:extLst>
          </p:cNvPr>
          <p:cNvSpPr txBox="1"/>
          <p:nvPr/>
        </p:nvSpPr>
        <p:spPr>
          <a:xfrm>
            <a:off x="1993392" y="8293608"/>
            <a:ext cx="1389888" cy="304800"/>
          </a:xfrm>
          <a:prstGeom prst="rect">
            <a:avLst/>
          </a:prstGeom>
        </p:spPr>
        <p:txBody>
          <a:bodyPr lIns="0" tIns="0" rIns="0" bIns="0" rtlCol="0" anchor="t">
            <a:spAutoFit/>
          </a:bodyPr>
          <a:lstStyle/>
          <a:p>
            <a:pPr algn="l">
              <a:lnSpc>
                <a:spcPts val="2376"/>
              </a:lnSpc>
            </a:pPr>
            <a:r>
              <a:rPr lang="en-US" sz="1980" b="1">
                <a:latin typeface="Roboto Bold"/>
                <a:ea typeface="Roboto Bold"/>
                <a:cs typeface="Roboto Bold"/>
                <a:sym typeface="Roboto Bold"/>
              </a:rPr>
              <a:t>DETECTION</a:t>
            </a:r>
          </a:p>
        </p:txBody>
      </p:sp>
      <p:sp>
        <p:nvSpPr>
          <p:cNvPr id="62" name="TextBox 57">
            <a:extLst>
              <a:ext uri="{FF2B5EF4-FFF2-40B4-BE49-F238E27FC236}">
                <a16:creationId xmlns:a16="http://schemas.microsoft.com/office/drawing/2014/main" id="{8E14F54B-072F-DD86-B41D-AEA5BCD2ECEF}"/>
              </a:ext>
            </a:extLst>
          </p:cNvPr>
          <p:cNvSpPr txBox="1"/>
          <p:nvPr/>
        </p:nvSpPr>
        <p:spPr>
          <a:xfrm>
            <a:off x="1993392" y="8718232"/>
            <a:ext cx="2194560" cy="476925"/>
          </a:xfrm>
          <a:prstGeom prst="rect">
            <a:avLst/>
          </a:prstGeom>
        </p:spPr>
        <p:txBody>
          <a:bodyPr lIns="0" tIns="0" rIns="0" bIns="0" rtlCol="0" anchor="t">
            <a:spAutoFit/>
          </a:bodyPr>
          <a:lstStyle/>
          <a:p>
            <a:pPr algn="l">
              <a:lnSpc>
                <a:spcPts val="1889"/>
              </a:lnSpc>
            </a:pPr>
            <a:r>
              <a:rPr lang="en-US" sz="1575">
                <a:latin typeface="Roboto"/>
                <a:ea typeface="Roboto"/>
                <a:cs typeface="Roboto"/>
                <a:sym typeface="Roboto"/>
              </a:rPr>
              <a:t>Precision → Recall → F1</a:t>
            </a:r>
          </a:p>
        </p:txBody>
      </p:sp>
      <p:sp>
        <p:nvSpPr>
          <p:cNvPr id="63" name="TextBox 58">
            <a:extLst>
              <a:ext uri="{FF2B5EF4-FFF2-40B4-BE49-F238E27FC236}">
                <a16:creationId xmlns:a16="http://schemas.microsoft.com/office/drawing/2014/main" id="{700A0ECD-CE10-5EE4-F9C6-AB12A1E626CD}"/>
              </a:ext>
            </a:extLst>
          </p:cNvPr>
          <p:cNvSpPr txBox="1"/>
          <p:nvPr/>
        </p:nvSpPr>
        <p:spPr>
          <a:xfrm>
            <a:off x="6583680" y="8293608"/>
            <a:ext cx="1316736" cy="304800"/>
          </a:xfrm>
          <a:prstGeom prst="rect">
            <a:avLst/>
          </a:prstGeom>
        </p:spPr>
        <p:txBody>
          <a:bodyPr lIns="0" tIns="0" rIns="0" bIns="0" rtlCol="0" anchor="t">
            <a:spAutoFit/>
          </a:bodyPr>
          <a:lstStyle/>
          <a:p>
            <a:pPr algn="l">
              <a:lnSpc>
                <a:spcPts val="2376"/>
              </a:lnSpc>
            </a:pPr>
            <a:r>
              <a:rPr lang="en-US" sz="1980" b="1">
                <a:latin typeface="Roboto Bold"/>
                <a:ea typeface="Roboto Bold"/>
                <a:cs typeface="Roboto Bold"/>
                <a:sym typeface="Roboto Bold"/>
              </a:rPr>
              <a:t>FORECAST</a:t>
            </a:r>
          </a:p>
        </p:txBody>
      </p:sp>
      <p:sp>
        <p:nvSpPr>
          <p:cNvPr id="64" name="TextBox 59">
            <a:extLst>
              <a:ext uri="{FF2B5EF4-FFF2-40B4-BE49-F238E27FC236}">
                <a16:creationId xmlns:a16="http://schemas.microsoft.com/office/drawing/2014/main" id="{8B9069B5-E4B2-F15E-FEDE-22A320F09F56}"/>
              </a:ext>
            </a:extLst>
          </p:cNvPr>
          <p:cNvSpPr txBox="1"/>
          <p:nvPr/>
        </p:nvSpPr>
        <p:spPr>
          <a:xfrm>
            <a:off x="6583680" y="8708707"/>
            <a:ext cx="1572768" cy="243656"/>
          </a:xfrm>
          <a:prstGeom prst="rect">
            <a:avLst/>
          </a:prstGeom>
        </p:spPr>
        <p:txBody>
          <a:bodyPr lIns="0" tIns="0" rIns="0" bIns="0" rtlCol="0" anchor="t">
            <a:spAutoFit/>
          </a:bodyPr>
          <a:lstStyle/>
          <a:p>
            <a:pPr algn="l">
              <a:lnSpc>
                <a:spcPts val="1934"/>
              </a:lnSpc>
            </a:pPr>
            <a:r>
              <a:rPr lang="en-US" sz="1612">
                <a:latin typeface="Roboto"/>
                <a:ea typeface="Roboto"/>
                <a:cs typeface="Roboto"/>
                <a:sym typeface="Roboto"/>
              </a:rPr>
              <a:t>24H → 48H Error</a:t>
            </a:r>
          </a:p>
        </p:txBody>
      </p:sp>
      <p:sp>
        <p:nvSpPr>
          <p:cNvPr id="65" name="TextBox 60">
            <a:extLst>
              <a:ext uri="{FF2B5EF4-FFF2-40B4-BE49-F238E27FC236}">
                <a16:creationId xmlns:a16="http://schemas.microsoft.com/office/drawing/2014/main" id="{92BFB4BD-3135-C19F-34F3-75E685DBD9DA}"/>
              </a:ext>
            </a:extLst>
          </p:cNvPr>
          <p:cNvSpPr txBox="1"/>
          <p:nvPr/>
        </p:nvSpPr>
        <p:spPr>
          <a:xfrm>
            <a:off x="10786872" y="8267700"/>
            <a:ext cx="1938528" cy="304800"/>
          </a:xfrm>
          <a:prstGeom prst="rect">
            <a:avLst/>
          </a:prstGeom>
        </p:spPr>
        <p:txBody>
          <a:bodyPr lIns="0" tIns="0" rIns="0" bIns="0" rtlCol="0" anchor="t">
            <a:spAutoFit/>
          </a:bodyPr>
          <a:lstStyle/>
          <a:p>
            <a:pPr algn="l">
              <a:lnSpc>
                <a:spcPts val="2376"/>
              </a:lnSpc>
            </a:pPr>
            <a:r>
              <a:rPr lang="en-US" sz="1980" b="1" dirty="0">
                <a:latin typeface="Roboto Bold"/>
                <a:ea typeface="Roboto Bold"/>
                <a:cs typeface="Roboto Bold"/>
                <a:sym typeface="Roboto Bold"/>
              </a:rPr>
              <a:t>PRIORITIZATION</a:t>
            </a:r>
          </a:p>
        </p:txBody>
      </p:sp>
      <p:sp>
        <p:nvSpPr>
          <p:cNvPr id="66" name="TextBox 61">
            <a:extLst>
              <a:ext uri="{FF2B5EF4-FFF2-40B4-BE49-F238E27FC236}">
                <a16:creationId xmlns:a16="http://schemas.microsoft.com/office/drawing/2014/main" id="{077DD68D-4D41-E5BE-D61F-B920323ED415}"/>
              </a:ext>
            </a:extLst>
          </p:cNvPr>
          <p:cNvSpPr txBox="1"/>
          <p:nvPr/>
        </p:nvSpPr>
        <p:spPr>
          <a:xfrm>
            <a:off x="10716768" y="8703945"/>
            <a:ext cx="1682496"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Hotspot Ranking</a:t>
            </a:r>
          </a:p>
        </p:txBody>
      </p:sp>
      <p:sp>
        <p:nvSpPr>
          <p:cNvPr id="67" name="TextBox 62">
            <a:extLst>
              <a:ext uri="{FF2B5EF4-FFF2-40B4-BE49-F238E27FC236}">
                <a16:creationId xmlns:a16="http://schemas.microsoft.com/office/drawing/2014/main" id="{0E45CF38-C3E9-60A6-CD4B-553D5F5C4BBC}"/>
              </a:ext>
            </a:extLst>
          </p:cNvPr>
          <p:cNvSpPr txBox="1"/>
          <p:nvPr/>
        </p:nvSpPr>
        <p:spPr>
          <a:xfrm>
            <a:off x="14779498" y="8262336"/>
            <a:ext cx="921004" cy="294953"/>
          </a:xfrm>
          <a:prstGeom prst="rect">
            <a:avLst/>
          </a:prstGeom>
        </p:spPr>
        <p:txBody>
          <a:bodyPr wrap="square" lIns="0" tIns="0" rIns="0" bIns="0" rtlCol="0" anchor="t">
            <a:spAutoFit/>
          </a:bodyPr>
          <a:lstStyle/>
          <a:p>
            <a:pPr algn="l">
              <a:lnSpc>
                <a:spcPts val="2296"/>
              </a:lnSpc>
            </a:pPr>
            <a:r>
              <a:rPr lang="en-US" sz="1980" b="1" dirty="0">
                <a:latin typeface="Roboto Bold"/>
                <a:ea typeface="Roboto Bold"/>
                <a:cs typeface="Roboto Bold"/>
                <a:sym typeface="Roboto Bold"/>
              </a:rPr>
              <a:t>TRUST</a:t>
            </a:r>
          </a:p>
        </p:txBody>
      </p:sp>
      <p:sp>
        <p:nvSpPr>
          <p:cNvPr id="68" name="TextBox 63">
            <a:extLst>
              <a:ext uri="{FF2B5EF4-FFF2-40B4-BE49-F238E27FC236}">
                <a16:creationId xmlns:a16="http://schemas.microsoft.com/office/drawing/2014/main" id="{69C8ABB0-EF35-B7DF-6F79-17185AF988FF}"/>
              </a:ext>
            </a:extLst>
          </p:cNvPr>
          <p:cNvSpPr txBox="1"/>
          <p:nvPr/>
        </p:nvSpPr>
        <p:spPr>
          <a:xfrm>
            <a:off x="14779498" y="8667845"/>
            <a:ext cx="2231136" cy="257175"/>
          </a:xfrm>
          <a:prstGeom prst="rect">
            <a:avLst/>
          </a:prstGeom>
        </p:spPr>
        <p:txBody>
          <a:bodyPr lIns="0" tIns="0" rIns="0" bIns="0" rtlCol="0" anchor="t">
            <a:spAutoFit/>
          </a:bodyPr>
          <a:lstStyle/>
          <a:p>
            <a:pPr algn="l">
              <a:lnSpc>
                <a:spcPts val="2070"/>
              </a:lnSpc>
            </a:pPr>
            <a:r>
              <a:rPr lang="en-US" sz="1725" dirty="0">
                <a:latin typeface="Roboto"/>
                <a:ea typeface="Roboto"/>
                <a:cs typeface="Roboto"/>
                <a:sym typeface="Roboto"/>
              </a:rPr>
              <a:t>Confidence Calibration</a:t>
            </a:r>
          </a:p>
        </p:txBody>
      </p:sp>
      <p:sp>
        <p:nvSpPr>
          <p:cNvPr id="70" name="TextBox 65">
            <a:extLst>
              <a:ext uri="{FF2B5EF4-FFF2-40B4-BE49-F238E27FC236}">
                <a16:creationId xmlns:a16="http://schemas.microsoft.com/office/drawing/2014/main" id="{44295541-10FC-FA40-6653-639A5C6AC306}"/>
              </a:ext>
            </a:extLst>
          </p:cNvPr>
          <p:cNvSpPr txBox="1"/>
          <p:nvPr/>
        </p:nvSpPr>
        <p:spPr>
          <a:xfrm>
            <a:off x="2999232" y="9486138"/>
            <a:ext cx="12289536" cy="533400"/>
          </a:xfrm>
          <a:prstGeom prst="rect">
            <a:avLst/>
          </a:prstGeom>
        </p:spPr>
        <p:txBody>
          <a:bodyPr lIns="0" tIns="0" rIns="0" bIns="0" rtlCol="0" anchor="t">
            <a:spAutoFit/>
          </a:bodyPr>
          <a:lstStyle/>
          <a:p>
            <a:pPr algn="ctr">
              <a:lnSpc>
                <a:spcPts val="4113"/>
              </a:lnSpc>
            </a:pPr>
            <a:r>
              <a:rPr lang="en-US" sz="3427" b="1" dirty="0">
                <a:latin typeface="Roboto Bold"/>
                <a:ea typeface="Roboto Bold"/>
                <a:cs typeface="Roboto Bold"/>
                <a:sym typeface="Roboto Bold"/>
              </a:rPr>
              <a:t>SEE THE PROBLEM.  PREDICT ITS NEXT MOVE.  ACT FIRST</a:t>
            </a:r>
            <a:r>
              <a:rPr lang="en-US" sz="3427" b="1" dirty="0">
                <a:solidFill>
                  <a:srgbClr val="FFFFFF"/>
                </a:solidFill>
                <a:latin typeface="Roboto Bold"/>
                <a:ea typeface="Roboto Bold"/>
                <a:cs typeface="Roboto Bold"/>
                <a:sym typeface="Roboto Bold"/>
              </a:rPr>
              <a:t>.</a:t>
            </a:r>
          </a:p>
        </p:txBody>
      </p:sp>
      <p:sp>
        <p:nvSpPr>
          <p:cNvPr id="71" name="TextBox 66">
            <a:extLst>
              <a:ext uri="{FF2B5EF4-FFF2-40B4-BE49-F238E27FC236}">
                <a16:creationId xmlns:a16="http://schemas.microsoft.com/office/drawing/2014/main" id="{40D3B0BD-BD8B-2F70-924F-798B5968C78A}"/>
              </a:ext>
            </a:extLst>
          </p:cNvPr>
          <p:cNvSpPr txBox="1"/>
          <p:nvPr/>
        </p:nvSpPr>
        <p:spPr>
          <a:xfrm rot="-270000">
            <a:off x="8026891" y="2394272"/>
            <a:ext cx="2359152" cy="223599"/>
          </a:xfrm>
          <a:prstGeom prst="rect">
            <a:avLst/>
          </a:prstGeom>
        </p:spPr>
        <p:txBody>
          <a:bodyPr lIns="0" tIns="0" rIns="0" bIns="0" rtlCol="0" anchor="t">
            <a:spAutoFit/>
          </a:bodyPr>
          <a:lstStyle/>
          <a:p>
            <a:pPr algn="ctr">
              <a:lnSpc>
                <a:spcPts val="1850"/>
              </a:lnSpc>
            </a:pPr>
            <a:r>
              <a:rPr lang="en-US" sz="1321" b="1" dirty="0">
                <a:latin typeface="Roboto Bold"/>
                <a:ea typeface="Roboto Bold"/>
                <a:cs typeface="Roboto Bold"/>
                <a:sym typeface="Roboto Bold"/>
              </a:rPr>
              <a:t>24H PREDICTED TRAJECTORY</a:t>
            </a:r>
          </a:p>
        </p:txBody>
      </p:sp>
      <p:sp>
        <p:nvSpPr>
          <p:cNvPr id="72" name="TextBox 67">
            <a:extLst>
              <a:ext uri="{FF2B5EF4-FFF2-40B4-BE49-F238E27FC236}">
                <a16:creationId xmlns:a16="http://schemas.microsoft.com/office/drawing/2014/main" id="{7156D813-6275-A4A8-A16A-50543B4CC590}"/>
              </a:ext>
            </a:extLst>
          </p:cNvPr>
          <p:cNvSpPr txBox="1"/>
          <p:nvPr/>
        </p:nvSpPr>
        <p:spPr>
          <a:xfrm>
            <a:off x="8046720" y="3408206"/>
            <a:ext cx="2395728" cy="232469"/>
          </a:xfrm>
          <a:prstGeom prst="rect">
            <a:avLst/>
          </a:prstGeom>
        </p:spPr>
        <p:txBody>
          <a:bodyPr lIns="0" tIns="0" rIns="0" bIns="0" rtlCol="0" anchor="t">
            <a:spAutoFit/>
          </a:bodyPr>
          <a:lstStyle/>
          <a:p>
            <a:pPr algn="ctr">
              <a:lnSpc>
                <a:spcPts val="1886"/>
              </a:lnSpc>
            </a:pPr>
            <a:r>
              <a:rPr lang="en-US" sz="1347" b="1">
                <a:latin typeface="Roboto Bold"/>
                <a:ea typeface="Roboto Bold"/>
                <a:cs typeface="Roboto Bold"/>
                <a:sym typeface="Roboto Bold"/>
              </a:rPr>
              <a:t>48H PREDICTED TRAJECTORY</a:t>
            </a:r>
          </a:p>
        </p:txBody>
      </p:sp>
      <p:sp>
        <p:nvSpPr>
          <p:cNvPr id="73" name="Freeform 32">
            <a:extLst>
              <a:ext uri="{FF2B5EF4-FFF2-40B4-BE49-F238E27FC236}">
                <a16:creationId xmlns:a16="http://schemas.microsoft.com/office/drawing/2014/main" id="{5268DA0C-030D-EF0D-8568-B87CCAC24C60}"/>
              </a:ext>
            </a:extLst>
          </p:cNvPr>
          <p:cNvSpPr/>
          <p:nvPr/>
        </p:nvSpPr>
        <p:spPr>
          <a:xfrm>
            <a:off x="13411199" y="7886700"/>
            <a:ext cx="4533899"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txBody>
          <a:bodyPr/>
          <a:lstStyle/>
          <a:p>
            <a:endParaRPr lang="en-IN" dirty="0"/>
          </a:p>
        </p:txBody>
      </p:sp>
      <p:sp>
        <p:nvSpPr>
          <p:cNvPr id="74" name="Freeform 32">
            <a:extLst>
              <a:ext uri="{FF2B5EF4-FFF2-40B4-BE49-F238E27FC236}">
                <a16:creationId xmlns:a16="http://schemas.microsoft.com/office/drawing/2014/main" id="{6CF5DBD6-0A49-673B-8537-8AF2AD5DE776}"/>
              </a:ext>
            </a:extLst>
          </p:cNvPr>
          <p:cNvSpPr/>
          <p:nvPr/>
        </p:nvSpPr>
        <p:spPr>
          <a:xfrm>
            <a:off x="9182100" y="7924800"/>
            <a:ext cx="453390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txBody>
          <a:bodyPr/>
          <a:lstStyle/>
          <a:p>
            <a:endParaRPr lang="en-IN" dirty="0"/>
          </a:p>
        </p:txBody>
      </p:sp>
      <p:sp>
        <p:nvSpPr>
          <p:cNvPr id="75" name="Freeform 33">
            <a:extLst>
              <a:ext uri="{FF2B5EF4-FFF2-40B4-BE49-F238E27FC236}">
                <a16:creationId xmlns:a16="http://schemas.microsoft.com/office/drawing/2014/main" id="{26145023-19E9-3807-2B15-DD7F6D3A9D00}"/>
              </a:ext>
            </a:extLst>
          </p:cNvPr>
          <p:cNvSpPr/>
          <p:nvPr/>
        </p:nvSpPr>
        <p:spPr>
          <a:xfrm>
            <a:off x="13679932" y="812755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30"/>
            <a:stretch>
              <a:fillRect/>
            </a:stretch>
          </a:blipFill>
        </p:spPr>
      </p:sp>
      <p:sp>
        <p:nvSpPr>
          <p:cNvPr id="9" name="Freeform 3">
            <a:extLst>
              <a:ext uri="{FF2B5EF4-FFF2-40B4-BE49-F238E27FC236}">
                <a16:creationId xmlns:a16="http://schemas.microsoft.com/office/drawing/2014/main" id="{3E3001C4-AB73-6B45-4C87-AA95565E25BB}"/>
              </a:ext>
            </a:extLst>
          </p:cNvPr>
          <p:cNvSpPr/>
          <p:nvPr/>
        </p:nvSpPr>
        <p:spPr>
          <a:xfrm rot="19555101">
            <a:off x="593435" y="1320649"/>
            <a:ext cx="3212632" cy="2006752"/>
          </a:xfrm>
          <a:custGeom>
            <a:avLst/>
            <a:gdLst/>
            <a:ahLst/>
            <a:cxnLst/>
            <a:rect l="l" t="t" r="r" b="b"/>
            <a:pathLst>
              <a:path w="2619375" h="1295400">
                <a:moveTo>
                  <a:pt x="0" y="0"/>
                </a:moveTo>
                <a:lnTo>
                  <a:pt x="2619375" y="0"/>
                </a:lnTo>
                <a:lnTo>
                  <a:pt x="2619375" y="1295400"/>
                </a:lnTo>
                <a:lnTo>
                  <a:pt x="0" y="1295400"/>
                </a:lnTo>
                <a:lnTo>
                  <a:pt x="0" y="0"/>
                </a:lnTo>
                <a:close/>
              </a:path>
            </a:pathLst>
          </a:custGeom>
          <a:blipFill>
            <a:blip r:embed="rId32"/>
            <a:stretch>
              <a:fillRect/>
            </a:stretch>
          </a:blipFill>
        </p:spPr>
      </p:sp>
    </p:spTree>
    <p:extLst>
      <p:ext uri="{BB962C8B-B14F-4D97-AF65-F5344CB8AC3E}">
        <p14:creationId xmlns:p14="http://schemas.microsoft.com/office/powerpoint/2010/main" val="340458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RESULTS: AI DEBRIS DETECTION</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TESTED ON 194,863 LABELLED PIXELS THE MODEL NEVER SAW</a:t>
            </a:r>
          </a:p>
        </p:txBody>
      </p:sp>
      <p:sp>
        <p:nvSpPr>
          <p:cNvPr id="78" name="Rectangle 77"/>
          <p:cNvSpPr/>
          <p:nvPr/>
        </p:nvSpPr>
        <p:spPr>
          <a:xfrm>
            <a:off x="91440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3444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94.1%</a:t>
            </a:r>
          </a:p>
        </p:txBody>
      </p:sp>
      <p:sp>
        <p:nvSpPr>
          <p:cNvPr id="80" name="Rectangle 79"/>
          <p:cNvSpPr/>
          <p:nvPr/>
        </p:nvSpPr>
        <p:spPr>
          <a:xfrm>
            <a:off x="126187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3444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Overall accuracy</a:t>
            </a:r>
          </a:p>
          <a:p>
            <a:pPr algn="l"/>
            <a:r>
              <a:rPr sz="1500" b="0">
                <a:solidFill>
                  <a:srgbClr val="DDE3EE"/>
                </a:solidFill>
                <a:latin typeface="Arial"/>
              </a:rPr>
              <a:t>15 classes: debris, sargassum, ships, waves, clouds and 5 water types</a:t>
            </a:r>
          </a:p>
        </p:txBody>
      </p:sp>
      <p:sp>
        <p:nvSpPr>
          <p:cNvPr id="82" name="Rectangle 81"/>
          <p:cNvSpPr/>
          <p:nvPr/>
        </p:nvSpPr>
        <p:spPr>
          <a:xfrm>
            <a:off x="515081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47085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0.93</a:t>
            </a:r>
          </a:p>
        </p:txBody>
      </p:sp>
      <p:sp>
        <p:nvSpPr>
          <p:cNvPr id="84" name="Rectangle 83"/>
          <p:cNvSpPr/>
          <p:nvPr/>
        </p:nvSpPr>
        <p:spPr>
          <a:xfrm>
            <a:off x="549828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7085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F1: floating material</a:t>
            </a:r>
          </a:p>
          <a:p>
            <a:pPr algn="l"/>
            <a:r>
              <a:rPr sz="1500" b="0">
                <a:solidFill>
                  <a:srgbClr val="DDE3EE"/>
                </a:solidFill>
                <a:latin typeface="Arial"/>
              </a:rPr>
              <a:t>Precision 0.90 · Recall 0.97</a:t>
            </a:r>
          </a:p>
        </p:txBody>
      </p:sp>
      <p:sp>
        <p:nvSpPr>
          <p:cNvPr id="86" name="Rectangle 85"/>
          <p:cNvSpPr/>
          <p:nvPr/>
        </p:nvSpPr>
        <p:spPr>
          <a:xfrm>
            <a:off x="938723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70727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0.78</a:t>
            </a:r>
          </a:p>
        </p:txBody>
      </p:sp>
      <p:sp>
        <p:nvSpPr>
          <p:cNvPr id="88" name="Rectangle 87"/>
          <p:cNvSpPr/>
          <p:nvPr/>
        </p:nvSpPr>
        <p:spPr>
          <a:xfrm>
            <a:off x="973470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70727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F1: marine debris</a:t>
            </a:r>
          </a:p>
          <a:p>
            <a:pPr algn="l"/>
            <a:r>
              <a:rPr sz="1500" b="0">
                <a:solidFill>
                  <a:srgbClr val="DDE3EE"/>
                </a:solidFill>
                <a:latin typeface="Arial"/>
              </a:rPr>
              <a:t>Recall 0.89: finds 89 of every 100 debris pixels</a:t>
            </a:r>
          </a:p>
        </p:txBody>
      </p:sp>
      <p:sp>
        <p:nvSpPr>
          <p:cNvPr id="90" name="Rectangle 89"/>
          <p:cNvSpPr/>
          <p:nvPr/>
        </p:nvSpPr>
        <p:spPr>
          <a:xfrm>
            <a:off x="1362364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394368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0.9%</a:t>
            </a:r>
          </a:p>
        </p:txBody>
      </p:sp>
      <p:sp>
        <p:nvSpPr>
          <p:cNvPr id="92" name="Rectangle 91"/>
          <p:cNvSpPr/>
          <p:nvPr/>
        </p:nvSpPr>
        <p:spPr>
          <a:xfrm>
            <a:off x="1397111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394368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Calibration error</a:t>
            </a:r>
          </a:p>
          <a:p>
            <a:pPr algn="l"/>
            <a:r>
              <a:rPr sz="1500" b="0">
                <a:solidFill>
                  <a:srgbClr val="DDE3EE"/>
                </a:solidFill>
                <a:latin typeface="Arial"/>
              </a:rPr>
              <a:t>Its confidence matches how often it is right (deck: TRUST)</a:t>
            </a:r>
          </a:p>
        </p:txBody>
      </p:sp>
      <p:sp>
        <p:nvSpPr>
          <p:cNvPr id="94" name="Rectangle 93"/>
          <p:cNvSpPr/>
          <p:nvPr/>
        </p:nvSpPr>
        <p:spPr>
          <a:xfrm>
            <a:off x="914400" y="6172200"/>
            <a:ext cx="932688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234440" y="6355080"/>
            <a:ext cx="8686800" cy="411480"/>
          </a:xfrm>
          <a:prstGeom prst="rect">
            <a:avLst/>
          </a:prstGeom>
          <a:noFill/>
        </p:spPr>
        <p:txBody>
          <a:bodyPr wrap="square" lIns="0" rIns="0" tIns="0" bIns="0" anchor="t">
            <a:spAutoFit/>
          </a:bodyPr>
          <a:lstStyle/>
          <a:p>
            <a:pPr algn="l"/>
            <a:r>
              <a:rPr sz="1900" b="1">
                <a:solidFill>
                  <a:srgbClr val="FFFFFF"/>
                </a:solidFill>
                <a:latin typeface="Montserrat Bold"/>
              </a:rPr>
              <a:t>First model → final model (%)</a:t>
            </a:r>
          </a:p>
        </p:txBody>
      </p:sp>
      <p:graphicFrame>
        <p:nvGraphicFramePr>
          <p:cNvPr id="96" name="Chart 95"/>
          <p:cNvGraphicFramePr>
            <a:graphicFrameLocks noGrp="1"/>
          </p:cNvGraphicFramePr>
          <p:nvPr/>
        </p:nvGraphicFramePr>
        <p:xfrm>
          <a:off x="1143000" y="6812280"/>
          <a:ext cx="8869680" cy="2788920"/>
        </p:xfrm>
        <a:graphic>
          <a:graphicData uri="http://schemas.openxmlformats.org/drawingml/2006/chart">
            <c:chart xmlns:c="http://schemas.openxmlformats.org/drawingml/2006/chart" r:id="rId11"/>
          </a:graphicData>
        </a:graphic>
      </p:graphicFrame>
      <p:sp>
        <p:nvSpPr>
          <p:cNvPr id="97" name="Rectangle 96"/>
          <p:cNvSpPr/>
          <p:nvPr/>
        </p:nvSpPr>
        <p:spPr>
          <a:xfrm>
            <a:off x="10607040" y="6172200"/>
            <a:ext cx="676656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927080" y="6400800"/>
            <a:ext cx="6217920" cy="315468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WHAT MADE THE DIFFERENCE</a:t>
            </a:r>
          </a:p>
          <a:p>
            <a:pPr algn="l" marL="237744" indent="-237744">
              <a:spcAft>
                <a:spcPts val="800"/>
              </a:spcAft>
              <a:buClr>
                <a:srgbClr val="00C2E4"/>
              </a:buClr>
              <a:buFont typeface="Arial"/>
              <a:buChar char="•"/>
            </a:pPr>
            <a:r>
              <a:rPr sz="1600" b="1">
                <a:solidFill>
                  <a:srgbClr val="FFFFFF"/>
                </a:solidFill>
                <a:latin typeface="Arial"/>
              </a:rPr>
              <a:t>Texture features: </a:t>
            </a:r>
            <a:r>
              <a:rPr sz="1600" b="0">
                <a:solidFill>
                  <a:srgbClr val="FFFFFF"/>
                </a:solidFill>
                <a:latin typeface="Arial"/>
              </a:rPr>
              <a:t>debris lines, ships, waves and foam differ in shape, not just colour (+8 pts)</a:t>
            </a:r>
          </a:p>
          <a:p>
            <a:pPr algn="l" marL="237744" indent="-237744">
              <a:spcAft>
                <a:spcPts val="800"/>
              </a:spcAft>
              <a:buClr>
                <a:srgbClr val="00C2E4"/>
              </a:buClr>
              <a:buFont typeface="Arial"/>
              <a:buChar char="•"/>
            </a:pPr>
            <a:r>
              <a:rPr sz="1600" b="1">
                <a:solidFill>
                  <a:srgbClr val="FFFFFF"/>
                </a:solidFill>
                <a:latin typeface="Arial"/>
              </a:rPr>
              <a:t>Background-relative spectra: </a:t>
            </a:r>
            <a:r>
              <a:rPr sz="1600" b="0">
                <a:solidFill>
                  <a:srgbClr val="FFFFFF"/>
                </a:solidFill>
                <a:latin typeface="Arial"/>
              </a:rPr>
              <a:t>one model works on Sentinel-2 and NASA PACE</a:t>
            </a:r>
          </a:p>
          <a:p>
            <a:pPr algn="l" marL="237744" indent="-237744">
              <a:buClr>
                <a:srgbClr val="00C2E4"/>
              </a:buClr>
              <a:buFont typeface="Arial"/>
              <a:buChar char="•"/>
            </a:pPr>
            <a:r>
              <a:rPr sz="1600" b="1">
                <a:solidFill>
                  <a:srgbClr val="FFFFFF"/>
                </a:solidFill>
                <a:latin typeface="Arial"/>
              </a:rPr>
              <a:t>Two expert models: </a:t>
            </a:r>
            <a:r>
              <a:rPr sz="1600" b="0">
                <a:solidFill>
                  <a:srgbClr val="FFFFFF"/>
                </a:solidFill>
                <a:latin typeface="Arial"/>
              </a:rPr>
              <a:t>Extra Trees finds debris, gradient boosting names the rest (+2 pts); chosen on validation data only</a:t>
            </a:r>
          </a:p>
        </p:txBody>
      </p:sp>
      <p:sp>
        <p:nvSpPr>
          <p:cNvPr id="99" name="TextBox 98"/>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Extra Trees + gradient boosting · MARIDA marine-debris benchmark (Kikaki et al., 2022), official train / validation / test splits · Sentinel-2 L2A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300" name="Group 2"/>
          <p:cNvGrpSpPr/>
          <p:nvPr/>
        </p:nvGrpSpPr>
        <p:grpSpPr>
          <a:xfrm>
            <a:off x="0" y="-15583"/>
            <a:ext cx="18288000" cy="10287000"/>
            <a:chOff x="0" y="0"/>
            <a:chExt cx="24384000" cy="13716000"/>
          </a:xfrm>
        </p:grpSpPr>
        <p:sp>
          <p:nvSpPr>
            <p:cNvPr id="301"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302" name="Group 4"/>
          <p:cNvGrpSpPr/>
          <p:nvPr/>
        </p:nvGrpSpPr>
        <p:grpSpPr>
          <a:xfrm>
            <a:off x="5781894" y="-15583"/>
            <a:ext cx="1451134" cy="1408748"/>
            <a:chOff x="0" y="0"/>
            <a:chExt cx="1934845" cy="1878330"/>
          </a:xfrm>
        </p:grpSpPr>
        <p:sp>
          <p:nvSpPr>
            <p:cNvPr id="303"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304" name="Group 6"/>
          <p:cNvGrpSpPr/>
          <p:nvPr/>
        </p:nvGrpSpPr>
        <p:grpSpPr>
          <a:xfrm>
            <a:off x="7137825" y="428625"/>
            <a:ext cx="4053078" cy="1175271"/>
            <a:chOff x="0" y="0"/>
            <a:chExt cx="5404104" cy="1567028"/>
          </a:xfrm>
        </p:grpSpPr>
        <p:sp>
          <p:nvSpPr>
            <p:cNvPr id="305"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30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HOW IT SPOTS PLASTIC: THE EVIDENCE</a:t>
            </a:r>
          </a:p>
        </p:txBody>
      </p:sp>
      <p:sp>
        <p:nvSpPr>
          <p:cNvPr id="30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NO SATELLITE SEES A BOTTLE: IT MEASURES HOW FLOATING MATERIAL REFLECTS LIGHT</a:t>
            </a:r>
          </a:p>
        </p:txBody>
      </p:sp>
      <p:sp>
        <p:nvSpPr>
          <p:cNvPr id="308" name="TextBox 98"/>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In the app, the map is a background basemap and the dots are forecast particles · detections come from 20 m Sentinel-2 and 1.2 km NASA PACE pixels · FDI: Biermann et al. 2020 · MARIDA: Kikaki et al. 2022</a:t>
            </a:r>
          </a:p>
        </p:txBody>
      </p:sp>
      <p:sp>
        <p:nvSpPr>
          <p:cNvPr id="309" name="Rectangle 77"/>
          <p:cNvSpPr/>
          <p:nvPr/>
        </p:nvSpPr>
        <p:spPr>
          <a:xfrm>
            <a:off x="914400" y="3017520"/>
            <a:ext cx="5303520" cy="662940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0" name="Picture 309" descr="s_pixels.png"/>
          <p:cNvPicPr>
            <a:picLocks noChangeAspect="1"/>
          </p:cNvPicPr>
          <p:nvPr/>
        </p:nvPicPr>
        <p:blipFill>
          <a:blip r:embed="rId5"/>
          <a:stretch>
            <a:fillRect/>
          </a:stretch>
        </p:blipFill>
        <p:spPr>
          <a:xfrm>
            <a:off x="1097280" y="4087276"/>
            <a:ext cx="4937759" cy="3209543"/>
          </a:xfrm>
          <a:prstGeom prst="rect">
            <a:avLst/>
          </a:prstGeom>
        </p:spPr>
      </p:pic>
      <p:sp>
        <p:nvSpPr>
          <p:cNvPr id="310" name="TextBox 97"/>
          <p:cNvSpPr txBox="1"/>
          <p:nvPr/>
        </p:nvSpPr>
        <p:spPr>
          <a:xfrm>
            <a:off x="1097280" y="3154679"/>
            <a:ext cx="4937759" cy="54864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1 · WHAT THE SATELLITE SEES</a:t>
            </a:r>
          </a:p>
        </p:txBody>
      </p:sp>
      <p:sp>
        <p:nvSpPr>
          <p:cNvPr id="311" name="TextBox 97"/>
          <p:cNvSpPr txBox="1"/>
          <p:nvPr/>
        </p:nvSpPr>
        <p:spPr>
          <a:xfrm>
            <a:off x="1097280" y="7772217"/>
            <a:ext cx="4937759" cy="1783262"/>
          </a:xfrm>
          <a:prstGeom prst="rect">
            <a:avLst/>
          </a:prstGeom>
          <a:noFill/>
        </p:spPr>
        <p:txBody>
          <a:bodyPr wrap="square" lIns="0" rIns="0" tIns="0" bIns="0" anchor="t">
            <a:spAutoFit/>
          </a:bodyPr>
          <a:lstStyle/>
          <a:p>
            <a:pPr algn="l" marL="237744" indent="-237744">
              <a:spcBef>
                <a:spcPts val="0"/>
              </a:spcBef>
              <a:spcAft>
                <a:spcPts val="800"/>
              </a:spcAft>
              <a:buClr>
                <a:srgbClr val="00C2E4"/>
              </a:buClr>
              <a:buFont typeface="Arial"/>
              <a:buChar char="•"/>
            </a:pPr>
            <a:r>
              <a:rPr sz="1600" b="1">
                <a:solidFill>
                  <a:srgbClr val="FFFFFF"/>
                </a:solidFill>
                <a:latin typeface="Arial"/>
              </a:rPr>
              <a:t>Real pixels, not a photo: </a:t>
            </a:r>
            <a:r>
              <a:rPr sz="1600" b="0">
                <a:solidFill>
                  <a:srgbClr val="FFFFFF"/>
                </a:solidFill>
                <a:latin typeface="Arial"/>
              </a:rPr>
              <a:t>each square is 20 m. Hotspot HS-04, 9 km off Visakhapatnam (Sentinel-2, 12 Mar 2026): 6 pixels stand out from the water around them, a potential floating patch of about 2,400 m².</a:t>
            </a:r>
          </a:p>
        </p:txBody>
      </p:sp>
      <p:sp>
        <p:nvSpPr>
          <p:cNvPr id="312" name="Rectangle 77"/>
          <p:cNvSpPr/>
          <p:nvPr/>
        </p:nvSpPr>
        <p:spPr>
          <a:xfrm>
            <a:off x="6492240" y="3017520"/>
            <a:ext cx="5303520" cy="662940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3" name="Picture 312" descr="s_spectra.png"/>
          <p:cNvPicPr>
            <a:picLocks noChangeAspect="1"/>
          </p:cNvPicPr>
          <p:nvPr/>
        </p:nvPicPr>
        <p:blipFill>
          <a:blip r:embed="rId6"/>
          <a:stretch>
            <a:fillRect/>
          </a:stretch>
        </p:blipFill>
        <p:spPr>
          <a:xfrm>
            <a:off x="6675120" y="3749039"/>
            <a:ext cx="4937759" cy="3886016"/>
          </a:xfrm>
          <a:prstGeom prst="rect">
            <a:avLst/>
          </a:prstGeom>
        </p:spPr>
      </p:pic>
      <p:sp>
        <p:nvSpPr>
          <p:cNvPr id="313" name="TextBox 97"/>
          <p:cNvSpPr txBox="1"/>
          <p:nvPr/>
        </p:nvSpPr>
        <p:spPr>
          <a:xfrm>
            <a:off x="6675120" y="3154679"/>
            <a:ext cx="4937759" cy="54864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2 · THE LIGHT FINGERPRINT</a:t>
            </a:r>
          </a:p>
        </p:txBody>
      </p:sp>
      <p:sp>
        <p:nvSpPr>
          <p:cNvPr id="314" name="TextBox 97"/>
          <p:cNvSpPr txBox="1"/>
          <p:nvPr/>
        </p:nvSpPr>
        <p:spPr>
          <a:xfrm>
            <a:off x="6675120" y="7772217"/>
            <a:ext cx="4937759" cy="1783262"/>
          </a:xfrm>
          <a:prstGeom prst="rect">
            <a:avLst/>
          </a:prstGeom>
          <a:noFill/>
        </p:spPr>
        <p:txBody>
          <a:bodyPr wrap="square" lIns="0" rIns="0" tIns="0" bIns="0" anchor="t">
            <a:spAutoFit/>
          </a:bodyPr>
          <a:lstStyle/>
          <a:p>
            <a:pPr algn="l" marL="237744" indent="-237744">
              <a:spcBef>
                <a:spcPts val="0"/>
              </a:spcBef>
              <a:spcAft>
                <a:spcPts val="800"/>
              </a:spcAft>
              <a:buClr>
                <a:srgbClr val="00C2E4"/>
              </a:buClr>
              <a:buFont typeface="Arial"/>
              <a:buChar char="•"/>
            </a:pPr>
            <a:r>
              <a:rPr sz="1600" b="1">
                <a:solidFill>
                  <a:srgbClr val="FFFFFF"/>
                </a:solidFill>
                <a:latin typeface="Arial"/>
              </a:rPr>
              <a:t>Water absorbs infrared, floating things reflect it. </a:t>
            </a:r>
            <a:r>
              <a:rPr sz="1600" b="0">
                <a:solidFill>
                  <a:srgbClr val="FFFFFF"/>
                </a:solidFill>
                <a:latin typeface="Arial"/>
              </a:rPr>
              <a:t>Debris is flat and bright; algae jumps at the red edge. Our Visakhapatnam hotspot follows the debris curve, our Hooghly patch the vegetation curve.</a:t>
            </a:r>
          </a:p>
        </p:txBody>
      </p:sp>
      <p:sp>
        <p:nvSpPr>
          <p:cNvPr id="315" name="Rectangle 77"/>
          <p:cNvSpPr/>
          <p:nvPr/>
        </p:nvSpPr>
        <p:spPr>
          <a:xfrm>
            <a:off x="12070080" y="3017520"/>
            <a:ext cx="5303520" cy="662940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6" name="Picture 315" descr="s_marida.png"/>
          <p:cNvPicPr>
            <a:picLocks noChangeAspect="1"/>
          </p:cNvPicPr>
          <p:nvPr/>
        </p:nvPicPr>
        <p:blipFill>
          <a:blip r:embed="rId7"/>
          <a:stretch>
            <a:fillRect/>
          </a:stretch>
        </p:blipFill>
        <p:spPr>
          <a:xfrm>
            <a:off x="12252959" y="4087276"/>
            <a:ext cx="4937759" cy="3209543"/>
          </a:xfrm>
          <a:prstGeom prst="rect">
            <a:avLst/>
          </a:prstGeom>
        </p:spPr>
      </p:pic>
      <p:sp>
        <p:nvSpPr>
          <p:cNvPr id="316" name="TextBox 97"/>
          <p:cNvSpPr txBox="1"/>
          <p:nvPr/>
        </p:nvSpPr>
        <p:spPr>
          <a:xfrm>
            <a:off x="12252959" y="3154679"/>
            <a:ext cx="4937759" cy="54864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3 · CHECKED AGAINST EXPERTS</a:t>
            </a:r>
          </a:p>
        </p:txBody>
      </p:sp>
      <p:sp>
        <p:nvSpPr>
          <p:cNvPr id="317" name="TextBox 97"/>
          <p:cNvSpPr txBox="1"/>
          <p:nvPr/>
        </p:nvSpPr>
        <p:spPr>
          <a:xfrm>
            <a:off x="12252959" y="7772217"/>
            <a:ext cx="4937759" cy="1783262"/>
          </a:xfrm>
          <a:prstGeom prst="rect">
            <a:avLst/>
          </a:prstGeom>
          <a:noFill/>
        </p:spPr>
        <p:txBody>
          <a:bodyPr wrap="square" lIns="0" rIns="0" tIns="0" bIns="0" anchor="t">
            <a:spAutoFit/>
          </a:bodyPr>
          <a:lstStyle/>
          <a:p>
            <a:pPr algn="l" marL="237744" indent="-237744">
              <a:spcBef>
                <a:spcPts val="0"/>
              </a:spcBef>
              <a:spcAft>
                <a:spcPts val="800"/>
              </a:spcAft>
              <a:buClr>
                <a:srgbClr val="00C2E4"/>
              </a:buClr>
              <a:buFont typeface="Arial"/>
              <a:buChar char="•"/>
            </a:pPr>
            <a:r>
              <a:rPr sz="1600" b="1">
                <a:solidFill>
                  <a:srgbClr val="FFFFFF"/>
                </a:solidFill>
                <a:latin typeface="Arial"/>
              </a:rPr>
              <a:t>20 of 20 debris pixels found, 0 of 69 water pixels flagged </a:t>
            </a:r>
            <a:r>
              <a:rPr sz="1600" b="0">
                <a:solidFill>
                  <a:srgbClr val="FFFFFF"/>
                </a:solidFill>
                <a:latin typeface="Arial"/>
              </a:rPr>
              <a:t>in a Gulf of Honduras scene the AI never saw (MARIDA test set). Across all 194,863 test pixels it finds 89% of the labelled debris.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RESULTS: FORECAST vs REAL BUOYS</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87 FORECASTS ON A MONTH NOT USED FOR TUNING · 5 NOAA BUOYS · NASA OSCAR + MERRA-2</a:t>
            </a:r>
          </a:p>
        </p:txBody>
      </p:sp>
      <p:sp>
        <p:nvSpPr>
          <p:cNvPr id="78" name="Rectangle 77"/>
          <p:cNvSpPr/>
          <p:nvPr/>
        </p:nvSpPr>
        <p:spPr>
          <a:xfrm>
            <a:off x="91440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3444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16.6 km</a:t>
            </a:r>
          </a:p>
        </p:txBody>
      </p:sp>
      <p:sp>
        <p:nvSpPr>
          <p:cNvPr id="80" name="Rectangle 79"/>
          <p:cNvSpPr/>
          <p:nvPr/>
        </p:nvSpPr>
        <p:spPr>
          <a:xfrm>
            <a:off x="126187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3444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Median error at +24 h</a:t>
            </a:r>
          </a:p>
          <a:p>
            <a:pPr algn="l"/>
            <a:r>
              <a:rPr sz="1500" b="0">
                <a:solidFill>
                  <a:srgbClr val="DDE3EE"/>
                </a:solidFill>
                <a:latin typeface="Arial"/>
              </a:rPr>
              <a:t>Where we said the buoy would be vs where it went</a:t>
            </a:r>
          </a:p>
        </p:txBody>
      </p:sp>
      <p:sp>
        <p:nvSpPr>
          <p:cNvPr id="82" name="Rectangle 81"/>
          <p:cNvSpPr/>
          <p:nvPr/>
        </p:nvSpPr>
        <p:spPr>
          <a:xfrm>
            <a:off x="515081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47085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30.4 km</a:t>
            </a:r>
          </a:p>
        </p:txBody>
      </p:sp>
      <p:sp>
        <p:nvSpPr>
          <p:cNvPr id="84" name="Rectangle 83"/>
          <p:cNvSpPr/>
          <p:nvPr/>
        </p:nvSpPr>
        <p:spPr>
          <a:xfrm>
            <a:off x="549828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7085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Median error at +48 h</a:t>
            </a:r>
          </a:p>
          <a:p>
            <a:pPr algn="l"/>
            <a:r>
              <a:rPr sz="1500" b="0">
                <a:solidFill>
                  <a:srgbClr val="DDE3EE"/>
                </a:solidFill>
                <a:latin typeface="Arial"/>
              </a:rPr>
              <a:t>Two days ahead, with an uncertainty cone</a:t>
            </a:r>
          </a:p>
        </p:txBody>
      </p:sp>
      <p:sp>
        <p:nvSpPr>
          <p:cNvPr id="86" name="Rectangle 85"/>
          <p:cNvSpPr/>
          <p:nvPr/>
        </p:nvSpPr>
        <p:spPr>
          <a:xfrm>
            <a:off x="938723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70727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59%</a:t>
            </a:r>
          </a:p>
        </p:txBody>
      </p:sp>
      <p:sp>
        <p:nvSpPr>
          <p:cNvPr id="88" name="Rectangle 87"/>
          <p:cNvSpPr/>
          <p:nvPr/>
        </p:nvSpPr>
        <p:spPr>
          <a:xfrm>
            <a:off x="973470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70727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Better than a snapshot</a:t>
            </a:r>
          </a:p>
          <a:p>
            <a:pPr algn="l"/>
            <a:r>
              <a:rPr sz="1500" b="0">
                <a:solidFill>
                  <a:srgbClr val="DDE3EE"/>
                </a:solidFill>
                <a:latin typeface="Arial"/>
              </a:rPr>
              <a:t>“It stays where the satellite saw it” is off by 74 km</a:t>
            </a:r>
          </a:p>
        </p:txBody>
      </p:sp>
      <p:sp>
        <p:nvSpPr>
          <p:cNvPr id="90" name="Rectangle 89"/>
          <p:cNvSpPr/>
          <p:nvPr/>
        </p:nvSpPr>
        <p:spPr>
          <a:xfrm>
            <a:off x="1362364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394368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86%</a:t>
            </a:r>
          </a:p>
        </p:txBody>
      </p:sp>
      <p:sp>
        <p:nvSpPr>
          <p:cNvPr id="92" name="Rectangle 91"/>
          <p:cNvSpPr/>
          <p:nvPr/>
        </p:nvSpPr>
        <p:spPr>
          <a:xfrm>
            <a:off x="1397111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394368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Inside the 48 h cone</a:t>
            </a:r>
          </a:p>
          <a:p>
            <a:pPr algn="l"/>
            <a:r>
              <a:rPr sz="1500" b="0">
                <a:solidFill>
                  <a:srgbClr val="DDE3EE"/>
                </a:solidFill>
                <a:latin typeface="Arial"/>
              </a:rPr>
              <a:t>Real buoys inside our 90% uncertainty cone (5% before the fix)</a:t>
            </a:r>
          </a:p>
        </p:txBody>
      </p:sp>
      <p:sp>
        <p:nvSpPr>
          <p:cNvPr id="94" name="Rectangle 93"/>
          <p:cNvSpPr/>
          <p:nvPr/>
        </p:nvSpPr>
        <p:spPr>
          <a:xfrm>
            <a:off x="914400" y="6172200"/>
            <a:ext cx="932688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234440" y="6355080"/>
            <a:ext cx="8686800" cy="411480"/>
          </a:xfrm>
          <a:prstGeom prst="rect">
            <a:avLst/>
          </a:prstGeom>
          <a:noFill/>
        </p:spPr>
        <p:txBody>
          <a:bodyPr wrap="square" lIns="0" rIns="0" tIns="0" bIns="0" anchor="t">
            <a:spAutoFit/>
          </a:bodyPr>
          <a:lstStyle/>
          <a:p>
            <a:pPr algn="l"/>
            <a:r>
              <a:rPr sz="1900" b="1">
                <a:solidFill>
                  <a:srgbClr val="FFFFFF"/>
                </a:solidFill>
                <a:latin typeface="Montserrat Bold"/>
              </a:rPr>
              <a:t>Median forecast error (km): lower is better</a:t>
            </a:r>
          </a:p>
        </p:txBody>
      </p:sp>
      <p:graphicFrame>
        <p:nvGraphicFramePr>
          <p:cNvPr id="96" name="Chart 95"/>
          <p:cNvGraphicFramePr>
            <a:graphicFrameLocks noGrp="1"/>
          </p:cNvGraphicFramePr>
          <p:nvPr/>
        </p:nvGraphicFramePr>
        <p:xfrm>
          <a:off x="1143000" y="6812280"/>
          <a:ext cx="8869680" cy="2788920"/>
        </p:xfrm>
        <a:graphic>
          <a:graphicData uri="http://schemas.openxmlformats.org/drawingml/2006/chart">
            <c:chart xmlns:c="http://schemas.openxmlformats.org/drawingml/2006/chart" r:id="rId11"/>
          </a:graphicData>
        </a:graphic>
      </p:graphicFrame>
      <p:sp>
        <p:nvSpPr>
          <p:cNvPr id="97" name="Rectangle 96"/>
          <p:cNvSpPr/>
          <p:nvPr/>
        </p:nvSpPr>
        <p:spPr>
          <a:xfrm>
            <a:off x="10607040" y="6172200"/>
            <a:ext cx="676656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927080" y="6400800"/>
            <a:ext cx="6217920" cy="315468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WHY IT MATTERS</a:t>
            </a:r>
          </a:p>
          <a:p>
            <a:pPr algn="l" marL="237744" indent="-237744">
              <a:spcAft>
                <a:spcPts val="800"/>
              </a:spcAft>
              <a:buClr>
                <a:srgbClr val="00C2E4"/>
              </a:buClr>
              <a:buFont typeface="Arial"/>
              <a:buChar char="•"/>
            </a:pPr>
            <a:r>
              <a:rPr sz="1600" b="1">
                <a:solidFill>
                  <a:srgbClr val="FFFFFF"/>
                </a:solidFill>
                <a:latin typeface="Arial"/>
              </a:rPr>
              <a:t>Wind + current fusion </a:t>
            </a:r>
            <a:r>
              <a:rPr sz="1600" b="0">
                <a:solidFill>
                  <a:srgbClr val="FFFFFF"/>
                </a:solidFill>
                <a:latin typeface="Arial"/>
              </a:rPr>
              <a:t>cuts 48 h error from 37 to 30 km: our USP, now proven with data</a:t>
            </a:r>
          </a:p>
          <a:p>
            <a:pPr algn="l" marL="237744" indent="-237744">
              <a:spcAft>
                <a:spcPts val="800"/>
              </a:spcAft>
              <a:buClr>
                <a:srgbClr val="00C2E4"/>
              </a:buClr>
              <a:buFont typeface="Arial"/>
              <a:buChar char="•"/>
            </a:pPr>
            <a:r>
              <a:rPr sz="1600" b="1">
                <a:solidFill>
                  <a:srgbClr val="FFFFFF"/>
                </a:solidFill>
                <a:latin typeface="Arial"/>
              </a:rPr>
              <a:t>~6× smaller search area </a:t>
            </a:r>
            <a:r>
              <a:rPr sz="1600" b="0">
                <a:solidFill>
                  <a:srgbClr val="FFFFFF"/>
                </a:solidFill>
                <a:latin typeface="Arial"/>
              </a:rPr>
              <a:t>for a cleanup boat than searching around the last sighting</a:t>
            </a:r>
          </a:p>
          <a:p>
            <a:pPr algn="l" marL="237744" indent="-237744">
              <a:buClr>
                <a:srgbClr val="00C2E4"/>
              </a:buClr>
              <a:buFont typeface="Arial"/>
              <a:buChar char="•"/>
            </a:pPr>
            <a:r>
              <a:rPr sz="1600" b="1">
                <a:solidFill>
                  <a:srgbClr val="FFFFFF"/>
                </a:solidFill>
                <a:latin typeface="Arial"/>
              </a:rPr>
              <a:t>Honest by design: </a:t>
            </a:r>
            <a:r>
              <a:rPr sz="1600" b="0">
                <a:solidFill>
                  <a:srgbClr val="FFFFFF"/>
                </a:solidFill>
                <a:latin typeface="Arial"/>
              </a:rPr>
              <a:t>tuned on January buoys, scored on February buoys it never saw</a:t>
            </a:r>
          </a:p>
        </p:txBody>
      </p:sp>
      <p:sp>
        <p:nvSpPr>
          <p:cNvPr id="99" name="TextBox 98"/>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NOAA Global Drifter Program (6-hourly QC tracks) · NASA OSCAR v2.0 surface currents · NASA MERRA-2 10 m wind · Lagrangian ensemble, 300 particles per hotspot with wind drag and current error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LIVE PROTOTYPE: NEAR-REAL-TIME MAP</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NOT A LIVE VIDEO, A LIVE FORECAST: LAST PASS → NOW → NEXT 48 H</a:t>
            </a:r>
          </a:p>
        </p:txBody>
      </p:sp>
      <p:pic>
        <p:nvPicPr>
          <p:cNvPr id="78" name="Picture 77" descr="live.jpg"/>
          <p:cNvPicPr>
            <a:picLocks noChangeAspect="1"/>
          </p:cNvPicPr>
          <p:nvPr/>
        </p:nvPicPr>
        <p:blipFill>
          <a:blip r:embed="rId11"/>
          <a:stretch>
            <a:fillRect/>
          </a:stretch>
        </p:blipFill>
        <p:spPr>
          <a:xfrm>
            <a:off x="914400" y="3246120"/>
            <a:ext cx="10881360" cy="6120765"/>
          </a:xfrm>
          <a:prstGeom prst="rect">
            <a:avLst/>
          </a:prstGeom>
          <a:ln w="25400">
            <a:solidFill>
              <a:srgbClr val="00C2E4"/>
            </a:solidFill>
          </a:ln>
        </p:spPr>
      </p:pic>
      <p:sp>
        <p:nvSpPr>
          <p:cNvPr id="79" name="TextBox 78"/>
          <p:cNvSpPr txBox="1"/>
          <p:nvPr/>
        </p:nvSpPr>
        <p:spPr>
          <a:xfrm>
            <a:off x="914400" y="9476612"/>
            <a:ext cx="10881360" cy="365760"/>
          </a:xfrm>
          <a:prstGeom prst="rect">
            <a:avLst/>
          </a:prstGeom>
          <a:noFill/>
        </p:spPr>
        <p:txBody>
          <a:bodyPr wrap="square" lIns="0" rIns="0" tIns="0" bIns="0" anchor="t">
            <a:spAutoFit/>
          </a:bodyPr>
          <a:lstStyle/>
          <a:p>
            <a:pPr algn="ctr"/>
            <a:r>
              <a:rPr sz="1300" b="0">
                <a:solidFill>
                  <a:srgbClr val="1E1B4B"/>
                </a:solidFill>
                <a:latin typeface="Arial"/>
              </a:rPr>
              <a:t>Live run, 30 Sep 2026 19:00 UTC: 3 PACE passes (69–95% cloud) + Sentinel-2 → 25 candidate hotspots, each drifted to “now”</a:t>
            </a:r>
          </a:p>
        </p:txBody>
      </p:sp>
      <p:sp>
        <p:nvSpPr>
          <p:cNvPr id="80" name="Rectangle 79"/>
          <p:cNvSpPr/>
          <p:nvPr/>
        </p:nvSpPr>
        <p:spPr>
          <a:xfrm>
            <a:off x="12161520" y="3246120"/>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2390120" y="3429000"/>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01</a:t>
            </a:r>
          </a:p>
        </p:txBody>
      </p:sp>
      <p:sp>
        <p:nvSpPr>
          <p:cNvPr id="82" name="TextBox 81"/>
          <p:cNvSpPr txBox="1"/>
          <p:nvPr/>
        </p:nvSpPr>
        <p:spPr>
          <a:xfrm>
            <a:off x="13304520" y="3410712"/>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OBSERVE</a:t>
            </a:r>
          </a:p>
          <a:p>
            <a:pPr algn="l"/>
            <a:r>
              <a:rPr sz="1350" b="0">
                <a:solidFill>
                  <a:srgbClr val="DDE3EE"/>
                </a:solidFill>
                <a:latin typeface="Arial"/>
              </a:rPr>
              <a:t>NASA PACE near-real-time data is online ~3 h after each daily pass; Sentinel-2 adds 10–20 m coastal detail</a:t>
            </a:r>
          </a:p>
        </p:txBody>
      </p:sp>
      <p:sp>
        <p:nvSpPr>
          <p:cNvPr id="83" name="Rectangle 82"/>
          <p:cNvSpPr/>
          <p:nvPr/>
        </p:nvSpPr>
        <p:spPr>
          <a:xfrm>
            <a:off x="12161520" y="4818888"/>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2390120" y="5001768"/>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02</a:t>
            </a:r>
          </a:p>
        </p:txBody>
      </p:sp>
      <p:sp>
        <p:nvSpPr>
          <p:cNvPr id="85" name="TextBox 84"/>
          <p:cNvSpPr txBox="1"/>
          <p:nvPr/>
        </p:nvSpPr>
        <p:spPr>
          <a:xfrm>
            <a:off x="13304520" y="4983479"/>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NOWCAST</a:t>
            </a:r>
          </a:p>
          <a:p>
            <a:pPr algn="l"/>
            <a:r>
              <a:rPr sz="1350" b="0">
                <a:solidFill>
                  <a:srgbClr val="DDE3EE"/>
                </a:solidFill>
                <a:latin typeface="Arial"/>
              </a:rPr>
              <a:t>Each detection is drifted to “now”, so the map stays current between passes and under clouds</a:t>
            </a:r>
          </a:p>
        </p:txBody>
      </p:sp>
      <p:sp>
        <p:nvSpPr>
          <p:cNvPr id="86" name="Rectangle 85"/>
          <p:cNvSpPr/>
          <p:nvPr/>
        </p:nvSpPr>
        <p:spPr>
          <a:xfrm>
            <a:off x="12161520" y="6391656"/>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2390120" y="6574536"/>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03</a:t>
            </a:r>
          </a:p>
        </p:txBody>
      </p:sp>
      <p:sp>
        <p:nvSpPr>
          <p:cNvPr id="88" name="TextBox 87"/>
          <p:cNvSpPr txBox="1"/>
          <p:nvPr/>
        </p:nvSpPr>
        <p:spPr>
          <a:xfrm>
            <a:off x="13304520" y="6556248"/>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FORECAST</a:t>
            </a:r>
          </a:p>
          <a:p>
            <a:pPr algn="l"/>
            <a:r>
              <a:rPr sz="1350" b="0">
                <a:solidFill>
                  <a:srgbClr val="DDE3EE"/>
                </a:solidFill>
                <a:latin typeface="Arial"/>
              </a:rPr>
              <a:t>+24 h / +48 h tracks with uncertainty cones and predicted beaching points</a:t>
            </a:r>
          </a:p>
        </p:txBody>
      </p:sp>
      <p:sp>
        <p:nvSpPr>
          <p:cNvPr id="89" name="Rectangle 88"/>
          <p:cNvSpPr/>
          <p:nvPr/>
        </p:nvSpPr>
        <p:spPr>
          <a:xfrm>
            <a:off x="12161520" y="7964424"/>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2390120" y="8147304"/>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04</a:t>
            </a:r>
          </a:p>
        </p:txBody>
      </p:sp>
      <p:sp>
        <p:nvSpPr>
          <p:cNvPr id="91" name="TextBox 90"/>
          <p:cNvSpPr txBox="1"/>
          <p:nvPr/>
        </p:nvSpPr>
        <p:spPr>
          <a:xfrm>
            <a:off x="13304520" y="8129016"/>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ACT</a:t>
            </a:r>
          </a:p>
          <a:p>
            <a:pPr algn="l"/>
            <a:r>
              <a:rPr sz="1350" b="0">
                <a:solidFill>
                  <a:srgbClr val="DDE3EE"/>
                </a:solidFill>
                <a:latin typeface="Arial"/>
              </a:rPr>
              <a:t>Risk-ranked list with a recommended action: vessel, shoreline team or monitor</a:t>
            </a:r>
          </a:p>
        </p:txBody>
      </p:sp>
      <p:sp>
        <p:nvSpPr>
          <p:cNvPr id="92" name="TextBox 91"/>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Runs daily with one command after the satellite pass · FastAPI + React + Leaflet · free NASA / ESA / NOAA / Open-Meteo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NEW: FROM DETECTION TO ACTION</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TWO FEATURES THAT TURN A FORECAST INTO A DECISION</a:t>
            </a:r>
          </a:p>
        </p:txBody>
      </p:sp>
      <p:sp>
        <p:nvSpPr>
          <p:cNvPr id="78" name="TextBox 77"/>
          <p:cNvSpPr txBox="1"/>
          <p:nvPr/>
        </p:nvSpPr>
        <p:spPr>
          <a:xfrm>
            <a:off x="914400" y="3200400"/>
            <a:ext cx="8001000" cy="411480"/>
          </a:xfrm>
          <a:prstGeom prst="rect">
            <a:avLst/>
          </a:prstGeom>
          <a:noFill/>
        </p:spPr>
        <p:txBody>
          <a:bodyPr wrap="square" lIns="0" rIns="0" tIns="0" bIns="0" anchor="t">
            <a:spAutoFit/>
          </a:bodyPr>
          <a:lstStyle/>
          <a:p>
            <a:pPr algn="l"/>
            <a:r>
              <a:rPr sz="1900" b="1">
                <a:solidFill>
                  <a:srgbClr val="1E1B4B"/>
                </a:solidFill>
                <a:latin typeface="Montserrat Bold"/>
              </a:rPr>
              <a:t>SOURCE TRACKING: WHERE DID IT COME FROM?</a:t>
            </a:r>
          </a:p>
        </p:txBody>
      </p:sp>
      <p:pic>
        <p:nvPicPr>
          <p:cNvPr id="79" name="Picture 78" descr="source.jpg"/>
          <p:cNvPicPr>
            <a:picLocks noChangeAspect="1"/>
          </p:cNvPicPr>
          <p:nvPr/>
        </p:nvPicPr>
        <p:blipFill>
          <a:blip r:embed="rId11"/>
          <a:stretch>
            <a:fillRect/>
          </a:stretch>
        </p:blipFill>
        <p:spPr>
          <a:xfrm>
            <a:off x="914400" y="3703320"/>
            <a:ext cx="8001000" cy="4500562"/>
          </a:xfrm>
          <a:prstGeom prst="rect">
            <a:avLst/>
          </a:prstGeom>
          <a:ln w="25400">
            <a:solidFill>
              <a:srgbClr val="00C2E4"/>
            </a:solidFill>
          </a:ln>
        </p:spPr>
      </p:pic>
      <p:sp>
        <p:nvSpPr>
          <p:cNvPr id="80" name="TextBox 79"/>
          <p:cNvSpPr txBox="1"/>
          <p:nvPr/>
        </p:nvSpPr>
        <p:spPr>
          <a:xfrm>
            <a:off x="914400" y="8341042"/>
            <a:ext cx="8001000" cy="777240"/>
          </a:xfrm>
          <a:prstGeom prst="rect">
            <a:avLst/>
          </a:prstGeom>
          <a:noFill/>
        </p:spPr>
        <p:txBody>
          <a:bodyPr wrap="square" lIns="0" rIns="0" tIns="0" bIns="0" anchor="t">
            <a:spAutoFit/>
          </a:bodyPr>
          <a:lstStyle/>
          <a:p>
            <a:pPr algn="l"/>
            <a:r>
              <a:rPr sz="1450" b="0">
                <a:solidFill>
                  <a:srgbClr val="1E1B4B"/>
                </a:solidFill>
                <a:latin typeface="Arial"/>
              </a:rPr>
              <a:t>The drift model run backwards 72 h: 72% of this patch's particles reach the coast, mostly at the Hooghly (Ganga) mouth, so authorities can stop plastic at the source.</a:t>
            </a:r>
          </a:p>
        </p:txBody>
      </p:sp>
      <p:sp>
        <p:nvSpPr>
          <p:cNvPr id="81" name="TextBox 80"/>
          <p:cNvSpPr txBox="1"/>
          <p:nvPr/>
        </p:nvSpPr>
        <p:spPr>
          <a:xfrm>
            <a:off x="9372600" y="3200400"/>
            <a:ext cx="8001000" cy="411480"/>
          </a:xfrm>
          <a:prstGeom prst="rect">
            <a:avLst/>
          </a:prstGeom>
          <a:noFill/>
        </p:spPr>
        <p:txBody>
          <a:bodyPr wrap="square" lIns="0" rIns="0" tIns="0" bIns="0" anchor="t">
            <a:spAutoFit/>
          </a:bodyPr>
          <a:lstStyle/>
          <a:p>
            <a:pPr algn="l"/>
            <a:r>
              <a:rPr sz="1900" b="1">
                <a:solidFill>
                  <a:srgbClr val="1E1B4B"/>
                </a:solidFill>
                <a:latin typeface="Montserrat Bold"/>
              </a:rPr>
              <a:t>MOVING-TARGET CLEANUP ROUTE</a:t>
            </a:r>
          </a:p>
        </p:txBody>
      </p:sp>
      <p:pic>
        <p:nvPicPr>
          <p:cNvPr id="82" name="Picture 81" descr="route.jpg"/>
          <p:cNvPicPr>
            <a:picLocks noChangeAspect="1"/>
          </p:cNvPicPr>
          <p:nvPr/>
        </p:nvPicPr>
        <p:blipFill>
          <a:blip r:embed="rId12"/>
          <a:stretch>
            <a:fillRect/>
          </a:stretch>
        </p:blipFill>
        <p:spPr>
          <a:xfrm>
            <a:off x="9372600" y="3703320"/>
            <a:ext cx="8001000" cy="4500562"/>
          </a:xfrm>
          <a:prstGeom prst="rect">
            <a:avLst/>
          </a:prstGeom>
          <a:ln w="25400">
            <a:solidFill>
              <a:srgbClr val="00C2E4"/>
            </a:solidFill>
          </a:ln>
        </p:spPr>
      </p:pic>
      <p:sp>
        <p:nvSpPr>
          <p:cNvPr id="83" name="TextBox 82"/>
          <p:cNvSpPr txBox="1"/>
          <p:nvPr/>
        </p:nvSpPr>
        <p:spPr>
          <a:xfrm>
            <a:off x="9372600" y="8341042"/>
            <a:ext cx="8001000" cy="777240"/>
          </a:xfrm>
          <a:prstGeom prst="rect">
            <a:avLst/>
          </a:prstGeom>
          <a:noFill/>
        </p:spPr>
        <p:txBody>
          <a:bodyPr wrap="square" lIns="0" rIns="0" tIns="0" bIns="0" anchor="t">
            <a:spAutoFit/>
          </a:bodyPr>
          <a:lstStyle/>
          <a:p>
            <a:pPr algn="l"/>
            <a:r>
              <a:rPr sz="1450" b="0">
                <a:solidFill>
                  <a:srgbClr val="1E1B4B"/>
                </a:solidFill>
                <a:latin typeface="Arial"/>
              </a:rPr>
              <a:t>The boat is sent to where each patch will be when it arrives. These patches drift up to 18 km before the vessel gets there, so aiming at the last sighting would miss them.</a:t>
            </a:r>
          </a:p>
        </p:txBody>
      </p:sp>
      <p:sp>
        <p:nvSpPr>
          <p:cNvPr id="84" name="Rectangle 83"/>
          <p:cNvSpPr/>
          <p:nvPr/>
        </p:nvSpPr>
        <p:spPr>
          <a:xfrm>
            <a:off x="91440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00584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Nowcasting under clouds</a:t>
            </a:r>
          </a:p>
        </p:txBody>
      </p:sp>
      <p:sp>
        <p:nvSpPr>
          <p:cNvPr id="86" name="Rectangle 85"/>
          <p:cNvSpPr/>
          <p:nvPr/>
        </p:nvSpPr>
        <p:spPr>
          <a:xfrm>
            <a:off x="425196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434340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One AI model, two satellites</a:t>
            </a:r>
          </a:p>
        </p:txBody>
      </p:sp>
      <p:sp>
        <p:nvSpPr>
          <p:cNvPr id="88" name="Rectangle 87"/>
          <p:cNvSpPr/>
          <p:nvPr/>
        </p:nvSpPr>
        <p:spPr>
          <a:xfrm>
            <a:off x="758952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768096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Uncertainty cones</a:t>
            </a:r>
          </a:p>
        </p:txBody>
      </p:sp>
      <p:sp>
        <p:nvSpPr>
          <p:cNvPr id="90" name="Rectangle 89"/>
          <p:cNvSpPr/>
          <p:nvPr/>
        </p:nvSpPr>
        <p:spPr>
          <a:xfrm>
            <a:off x="1092708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1018519"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Validated on real buoys</a:t>
            </a:r>
          </a:p>
        </p:txBody>
      </p:sp>
      <p:sp>
        <p:nvSpPr>
          <p:cNvPr id="92" name="Rectangle 91"/>
          <p:cNvSpPr/>
          <p:nvPr/>
        </p:nvSpPr>
        <p:spPr>
          <a:xfrm>
            <a:off x="1426464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435608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Free, open NASA / ESA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3552063" y="1479280"/>
            <a:ext cx="11622024" cy="1040093"/>
          </a:xfrm>
          <a:prstGeom prst="rect">
            <a:avLst/>
          </a:prstGeom>
        </p:spPr>
        <p:txBody>
          <a:bodyPr wrap="square" lIns="0" tIns="0" rIns="0" bIns="0" rtlCol="0" anchor="t">
            <a:spAutoFit/>
          </a:bodyPr>
          <a:lstStyle/>
          <a:p>
            <a:pPr algn="ctr">
              <a:lnSpc>
                <a:spcPts val="7995"/>
              </a:lnSpc>
            </a:pPr>
            <a:r>
              <a:rPr lang="en-US" sz="7995" b="1" dirty="0">
                <a:latin typeface="Barlow Condensed Bold"/>
                <a:ea typeface="Barlow Condensed Bold"/>
                <a:cs typeface="Barlow Condensed Bold"/>
                <a:sym typeface="Barlow Condensed Bold"/>
              </a:rPr>
              <a:t>RESEARCH &amp; REFERENCES</a:t>
            </a:r>
          </a:p>
        </p:txBody>
      </p:sp>
      <p:sp>
        <p:nvSpPr>
          <p:cNvPr id="77" name="TextBox 5">
            <a:extLst>
              <a:ext uri="{FF2B5EF4-FFF2-40B4-BE49-F238E27FC236}">
                <a16:creationId xmlns:a16="http://schemas.microsoft.com/office/drawing/2014/main" id="{054A6A90-5D85-D801-AC50-E46B1EF9FD06}"/>
              </a:ext>
            </a:extLst>
          </p:cNvPr>
          <p:cNvSpPr txBox="1"/>
          <p:nvPr/>
        </p:nvSpPr>
        <p:spPr>
          <a:xfrm>
            <a:off x="1219200" y="2605488"/>
            <a:ext cx="17068800" cy="364523"/>
          </a:xfrm>
          <a:prstGeom prst="rect">
            <a:avLst/>
          </a:prstGeom>
        </p:spPr>
        <p:txBody>
          <a:bodyPr wrap="square" lIns="0" tIns="0" rIns="0" bIns="0" rtlCol="0" anchor="t">
            <a:spAutoFit/>
          </a:bodyPr>
          <a:lstStyle/>
          <a:p>
            <a:pPr algn="ctr">
              <a:lnSpc>
                <a:spcPts val="2814"/>
              </a:lnSpc>
            </a:pPr>
            <a:r>
              <a:rPr lang="en-US" sz="2814" b="1" dirty="0">
                <a:solidFill>
                  <a:schemeClr val="accent4"/>
                </a:solidFill>
                <a:latin typeface="Barlow Condensed Semi-Bold"/>
                <a:ea typeface="Barlow Condensed Semi-Bold"/>
                <a:cs typeface="Barlow Condensed Semi-Bold"/>
                <a:sym typeface="Barlow Condensed Semi-Bold"/>
              </a:rPr>
              <a:t>BUILT ON TRUSTED EARTH-OBSERVATION DATASETS, OCEAN SCIENCE AND </a:t>
            </a:r>
            <a:r>
              <a:rPr lang="en-US" sz="2814" dirty="0">
                <a:solidFill>
                  <a:schemeClr val="accent4"/>
                </a:solidFill>
                <a:latin typeface="Barlow Condensed Semi-Bold"/>
                <a:ea typeface="Barlow Condensed Semi-Bold"/>
                <a:cs typeface="Barlow Condensed Semi-Bold"/>
                <a:sym typeface="Barlow Condensed Semi-Bold"/>
              </a:rPr>
              <a:t>ENVIRONMENTAL</a:t>
            </a:r>
            <a:r>
              <a:rPr lang="en-US" sz="2814" b="1" dirty="0">
                <a:solidFill>
                  <a:schemeClr val="accent4"/>
                </a:solidFill>
                <a:latin typeface="Barlow Condensed Semi-Bold"/>
                <a:ea typeface="Barlow Condensed Semi-Bold"/>
                <a:cs typeface="Barlow Condensed Semi-Bold"/>
                <a:sym typeface="Barlow Condensed Semi-Bold"/>
              </a:rPr>
              <a:t> RESEARCH</a:t>
            </a:r>
          </a:p>
        </p:txBody>
      </p:sp>
      <p:sp>
        <p:nvSpPr>
          <p:cNvPr id="140" name="TextBox 139">
            <a:extLst>
              <a:ext uri="{FF2B5EF4-FFF2-40B4-BE49-F238E27FC236}">
                <a16:creationId xmlns:a16="http://schemas.microsoft.com/office/drawing/2014/main" id="{FEB155A8-C27F-867E-8604-85F37B0CDC48}"/>
              </a:ext>
            </a:extLst>
          </p:cNvPr>
          <p:cNvSpPr txBox="1"/>
          <p:nvPr/>
        </p:nvSpPr>
        <p:spPr>
          <a:xfrm>
            <a:off x="2133600" y="3101161"/>
            <a:ext cx="15240000" cy="7109639"/>
          </a:xfrm>
          <a:prstGeom prst="rect">
            <a:avLst/>
          </a:prstGeom>
          <a:noFill/>
        </p:spPr>
        <p:txBody>
          <a:bodyPr wrap="square">
            <a:spAutoFit/>
          </a:bodyPr>
          <a:lstStyle/>
          <a:p>
            <a:r>
              <a:rPr lang="en-IN" sz="2400" b="1" dirty="0"/>
              <a:t>01 — NASA PACE / OCI</a:t>
            </a:r>
            <a:br>
              <a:rPr lang="en-IN" sz="2400" dirty="0"/>
            </a:br>
            <a:r>
              <a:rPr lang="en-IN" sz="2400" dirty="0"/>
              <a:t>Advanced ocean-colour observations and hyperspectral measurements used as the Earth-observation foundation.</a:t>
            </a:r>
            <a:br>
              <a:rPr lang="en-IN" sz="2400" dirty="0"/>
            </a:br>
            <a:r>
              <a:rPr lang="en-IN" sz="2400" dirty="0"/>
              <a:t>🔗 </a:t>
            </a:r>
            <a:r>
              <a:rPr lang="en-IN" sz="2400" b="1" dirty="0">
                <a:hlinkClick r:id="rId5"/>
              </a:rPr>
              <a:t>NASA PACE Ocean </a:t>
            </a:r>
            <a:r>
              <a:rPr lang="en-IN" sz="2400" b="1" dirty="0" err="1">
                <a:hlinkClick r:id="rId5"/>
              </a:rPr>
              <a:t>Color</a:t>
            </a:r>
            <a:r>
              <a:rPr lang="en-IN" sz="2400" b="1" dirty="0">
                <a:hlinkClick r:id="rId5"/>
              </a:rPr>
              <a:t> Data</a:t>
            </a:r>
            <a:endParaRPr lang="en-IN" sz="2400" dirty="0"/>
          </a:p>
          <a:p>
            <a:r>
              <a:rPr lang="en-IN" sz="2400" b="1" dirty="0"/>
              <a:t>02 — PACE Surface Reflectance (SFREFL)</a:t>
            </a:r>
            <a:br>
              <a:rPr lang="en-IN" sz="2400" dirty="0"/>
            </a:br>
            <a:r>
              <a:rPr lang="en-IN" sz="2400" dirty="0"/>
              <a:t>Surface-reflectance product used for satellite-based ocean observation and feature extraction.</a:t>
            </a:r>
            <a:br>
              <a:rPr lang="en-IN" sz="2400" dirty="0"/>
            </a:br>
            <a:r>
              <a:rPr lang="en-IN" sz="2400" dirty="0"/>
              <a:t>🔗 </a:t>
            </a:r>
            <a:r>
              <a:rPr lang="en-IN" sz="2400" b="1" dirty="0">
                <a:hlinkClick r:id="rId6"/>
              </a:rPr>
              <a:t>NASA PACE Data Access</a:t>
            </a:r>
            <a:endParaRPr lang="en-IN" sz="2400" dirty="0"/>
          </a:p>
          <a:p>
            <a:r>
              <a:rPr lang="en-IN" sz="2400" b="1" dirty="0"/>
              <a:t>03 — NASA OSCAR v2.0</a:t>
            </a:r>
            <a:br>
              <a:rPr lang="en-IN" sz="2400" dirty="0"/>
            </a:br>
            <a:r>
              <a:rPr lang="en-IN" sz="2400" dirty="0"/>
              <a:t>Global surface-current data used to model the movement of floating material.</a:t>
            </a:r>
            <a:br>
              <a:rPr lang="en-IN" sz="2400" dirty="0"/>
            </a:br>
            <a:r>
              <a:rPr lang="en-IN" sz="2400" dirty="0"/>
              <a:t>🔗 </a:t>
            </a:r>
            <a:r>
              <a:rPr lang="en-IN" sz="2400" b="1" dirty="0">
                <a:hlinkClick r:id="rId7"/>
              </a:rPr>
              <a:t>NASA OSCAR Dataset</a:t>
            </a:r>
            <a:endParaRPr lang="en-IN" sz="2400" dirty="0"/>
          </a:p>
          <a:p>
            <a:r>
              <a:rPr lang="en-IN" sz="2400" b="1" dirty="0"/>
              <a:t>04 — NASA MERRA-2</a:t>
            </a:r>
            <a:br>
              <a:rPr lang="en-IN" sz="2400" dirty="0"/>
            </a:br>
            <a:r>
              <a:rPr lang="en-IN" sz="2400" dirty="0"/>
              <a:t>Atmospheric reanalysis data providing wind information for movement/drift modelling.</a:t>
            </a:r>
            <a:br>
              <a:rPr lang="en-IN" sz="2400" dirty="0"/>
            </a:br>
            <a:r>
              <a:rPr lang="en-IN" sz="2400" dirty="0"/>
              <a:t>🔗 </a:t>
            </a:r>
            <a:r>
              <a:rPr lang="en-IN" sz="2400" b="1" dirty="0">
                <a:hlinkClick r:id="rId8"/>
              </a:rPr>
              <a:t>NASA GMAO MERRA-2</a:t>
            </a:r>
            <a:endParaRPr lang="en-IN" sz="2400" dirty="0"/>
          </a:p>
          <a:p>
            <a:r>
              <a:rPr lang="en-IN" sz="2400" b="1" dirty="0"/>
              <a:t>05 — UNEP: From Pollution to Solution</a:t>
            </a:r>
            <a:br>
              <a:rPr lang="en-IN" sz="2400" dirty="0"/>
            </a:br>
            <a:r>
              <a:rPr lang="en-IN" sz="2400" dirty="0"/>
              <a:t>Global research on marine litter and plastic pollution, including environmental and socioeconomic impacts.</a:t>
            </a:r>
            <a:br>
              <a:rPr lang="en-IN" sz="2400" dirty="0"/>
            </a:br>
            <a:r>
              <a:rPr lang="en-IN" sz="2400" dirty="0"/>
              <a:t>🔗 </a:t>
            </a:r>
            <a:r>
              <a:rPr lang="en-IN" sz="2400" b="1" dirty="0">
                <a:hlinkClick r:id="rId9"/>
              </a:rPr>
              <a:t>UNEP Research Report</a:t>
            </a:r>
            <a:endParaRPr lang="en-IN" sz="2400" dirty="0"/>
          </a:p>
          <a:p>
            <a:r>
              <a:rPr lang="en-IN" sz="2400" b="1" dirty="0"/>
              <a:t>06 — NASA PACE Validation Research</a:t>
            </a:r>
            <a:br>
              <a:rPr lang="en-IN" sz="2400" dirty="0"/>
            </a:br>
            <a:r>
              <a:rPr lang="en-IN" sz="2400" dirty="0"/>
              <a:t>Research demonstrating validation of PACE/OCI observations using airborne and in-situ measurements.</a:t>
            </a:r>
            <a:br>
              <a:rPr lang="en-IN" sz="2400" dirty="0"/>
            </a:br>
            <a:r>
              <a:rPr lang="en-IN" sz="2400" dirty="0"/>
              <a:t>🔗 </a:t>
            </a:r>
            <a:r>
              <a:rPr lang="en-IN" sz="2400" b="1" dirty="0">
                <a:hlinkClick r:id="rId10"/>
              </a:rPr>
              <a:t>NASA PACE Validation Research</a:t>
            </a:r>
            <a:endParaRPr lang="en-IN" sz="2400" dirty="0"/>
          </a:p>
          <a:p>
            <a:pPr indent="0" algn="l">
              <a:buNone/>
            </a:pPr>
            <a:endParaRPr lang="en-IN" sz="2400" b="0" i="0" u="none" strike="noStrike" dirty="0">
              <a:solidFill>
                <a:srgbClr val="000000"/>
              </a:solidFill>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175"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p:cNvGrpSpPr/>
          <p:nvPr/>
        </p:nvGrpSpPr>
        <p:grpSpPr>
          <a:xfrm>
            <a:off x="5781894" y="-75248"/>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dirty="0"/>
            </a:p>
          </p:txBody>
        </p:sp>
      </p:grpSp>
      <p:grpSp>
        <p:nvGrpSpPr>
          <p:cNvPr id="6" name="Group 6"/>
          <p:cNvGrpSpPr/>
          <p:nvPr/>
        </p:nvGrpSpPr>
        <p:grpSpPr>
          <a:xfrm>
            <a:off x="7137825" y="44106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8" name="TextBox 8"/>
          <p:cNvSpPr txBox="1"/>
          <p:nvPr/>
        </p:nvSpPr>
        <p:spPr>
          <a:xfrm>
            <a:off x="2745019" y="3984346"/>
            <a:ext cx="12282316" cy="2197703"/>
          </a:xfrm>
          <a:prstGeom prst="rect">
            <a:avLst/>
          </a:prstGeom>
        </p:spPr>
        <p:txBody>
          <a:bodyPr lIns="0" tIns="0" rIns="0" bIns="0" rtlCol="0" anchor="t">
            <a:spAutoFit/>
          </a:bodyPr>
          <a:lstStyle/>
          <a:p>
            <a:pPr algn="ctr">
              <a:lnSpc>
                <a:spcPts val="12506"/>
              </a:lnSpc>
            </a:pPr>
            <a:r>
              <a:rPr lang="en-US" sz="7200" b="1" dirty="0">
                <a:solidFill>
                  <a:srgbClr val="000000"/>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1891</TotalTime>
  <Words>1166</Words>
  <Application>Microsoft Office PowerPoint</Application>
  <PresentationFormat>Custom</PresentationFormat>
  <Paragraphs>285</Paragraphs>
  <Slides>11</Slides>
  <Notes>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vt:i4>
      </vt:variant>
    </vt:vector>
  </HeadingPairs>
  <TitlesOfParts>
    <vt:vector size="27" baseType="lpstr">
      <vt:lpstr>Canva Sans Medium</vt:lpstr>
      <vt:lpstr>Calibri</vt:lpstr>
      <vt:lpstr>Roboto Condensed</vt:lpstr>
      <vt:lpstr>Roboto Bold</vt:lpstr>
      <vt:lpstr>Barlow Condensed Bold</vt:lpstr>
      <vt:lpstr>Aptos</vt:lpstr>
      <vt:lpstr>League Spartan</vt:lpstr>
      <vt:lpstr>Roboto</vt:lpstr>
      <vt:lpstr>Roboto Condensed Bold</vt:lpstr>
      <vt:lpstr>Montserrat Bold</vt:lpstr>
      <vt:lpstr>Montaser Arabic</vt:lpstr>
      <vt:lpstr>Montserrat Semi-Bold</vt:lpstr>
      <vt:lpstr>Arial</vt:lpstr>
      <vt:lpstr>Montaser Arabic Bold</vt:lpstr>
      <vt:lpstr>Barlow Condensed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PPT_Template.2ca69780631e842b392b.pptx</dc:title>
  <dc:creator>Anirudh</dc:creator>
  <cp:lastModifiedBy>FAIZ MOHAMMED</cp:lastModifiedBy>
  <cp:revision>15</cp:revision>
  <dcterms:created xsi:type="dcterms:W3CDTF">2006-08-16T00:00:00Z</dcterms:created>
  <dcterms:modified xsi:type="dcterms:W3CDTF">2026-09-20T13:34:47Z</dcterms:modified>
  <dc:identifier>DAHUgJMu_JI</dc:identifier>
</cp:coreProperties>
</file>